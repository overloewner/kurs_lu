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73" r:id="rId15"/>
    <p:sldId id="275" r:id="rId16"/>
    <p:sldId id="274" r:id="rId17"/>
    <p:sldId id="276" r:id="rId18"/>
    <p:sldId id="277" r:id="rId19"/>
    <p:sldId id="278" r:id="rId20"/>
    <p:sldId id="279" r:id="rId21"/>
  </p:sldIdLst>
  <p:sldSz cx="9906000" cy="6858000" type="A4"/>
  <p:notesSz cx="6858000" cy="9906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1"/>
    <p:restoredTop sz="82183"/>
  </p:normalViewPr>
  <p:slideViewPr>
    <p:cSldViewPr snapToGrid="0" snapToObjects="1">
      <p:cViewPr varScale="1">
        <p:scale>
          <a:sx n="94" d="100"/>
          <a:sy n="94" d="100"/>
        </p:scale>
        <p:origin x="-597" y="-69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2100" b="0" strike="noStrike" spc="-1">
                <a:solidFill>
                  <a:srgbClr val="000000"/>
                </a:solidFill>
                <a:latin typeface="Verdana"/>
              </a:rPr>
              <a:t>Click to move the slide</a:t>
            </a:r>
          </a:p>
        </p:txBody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E534E8EA-2B8A-429B-92DD-0E58B1FF2005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359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794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450160" y="3672720"/>
            <a:ext cx="6535440" cy="45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406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2450520" y="2571840"/>
            <a:ext cx="6535440" cy="335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5984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86988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245016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65984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86988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2100" b="0" strike="noStrike" spc="-1">
                <a:solidFill>
                  <a:srgbClr val="000000"/>
                </a:solidFill>
                <a:latin typeface="Verdana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050" b="0" strike="noStrike" spc="-1">
                <a:solidFill>
                  <a:srgbClr val="000000"/>
                </a:solidFill>
                <a:latin typeface="Verdan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50" b="0" strike="noStrike" spc="-1">
                <a:solidFill>
                  <a:srgbClr val="000000"/>
                </a:solidFill>
                <a:latin typeface="Verdan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Seventh Outline Level</a:t>
            </a:r>
          </a:p>
        </p:txBody>
      </p:sp>
      <p:cxnSp>
        <p:nvCxnSpPr>
          <p:cNvPr id="4" name="Google Shape;89;p1"/>
          <p:cNvCxnSpPr/>
          <p:nvPr userDrawn="1"/>
        </p:nvCxnSpPr>
        <p:spPr>
          <a:xfrm>
            <a:off x="320946" y="187274"/>
            <a:ext cx="9275727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90;p1"/>
          <p:cNvCxnSpPr/>
          <p:nvPr userDrawn="1"/>
        </p:nvCxnSpPr>
        <p:spPr>
          <a:xfrm rot="5400000">
            <a:off x="71707" y="438101"/>
            <a:ext cx="500066" cy="1588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91;p1"/>
          <p:cNvCxnSpPr/>
          <p:nvPr userDrawn="1"/>
        </p:nvCxnSpPr>
        <p:spPr>
          <a:xfrm>
            <a:off x="322535" y="6676802"/>
            <a:ext cx="9382780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991108" y="2233776"/>
            <a:ext cx="80648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</a:rPr>
              <a:t>БЕЗОПАСНОСТЬ  ДРАЙВЕРОВ</a:t>
            </a:r>
            <a:endParaRPr lang="ru-RU" sz="3200" b="1" dirty="0">
              <a:solidFill>
                <a:srgbClr val="0A379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Google Shape;94;p1"/>
          <p:cNvSpPr txBox="1"/>
          <p:nvPr/>
        </p:nvSpPr>
        <p:spPr>
          <a:xfrm>
            <a:off x="3737671" y="6154046"/>
            <a:ext cx="305823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u="none" strike="noStrike" cap="none" dirty="0" err="1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Нижний</a:t>
            </a:r>
            <a:r>
              <a:rPr lang="en-US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1" u="none" strike="noStrike" cap="none" dirty="0" err="1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Новгород</a:t>
            </a:r>
            <a:r>
              <a:rPr lang="en-US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ru-RU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5г</a:t>
            </a:r>
            <a:r>
              <a:rPr lang="en-US" sz="1600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000" b="1" i="0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dirty="0">
              <a:solidFill>
                <a:srgbClr val="0A37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ПРОБЛЕМУ  ИЗОЛЯЦИИ  И  ЗАЩИТЫ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840300" y="960042"/>
            <a:ext cx="861043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Как обеспечить одновременную работу множества программ, не позволяя им мешать друг другу и операционной системе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Ключевые концепции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98525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Привилегированный доступ</a:t>
            </a:r>
          </a:p>
          <a:p>
            <a:pPr marL="898525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Изоляция</a:t>
            </a:r>
          </a:p>
          <a:p>
            <a:pPr marL="898525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Безопасность</a:t>
            </a:r>
          </a:p>
          <a:p>
            <a:pPr>
              <a:lnSpc>
                <a:spcPct val="150000"/>
              </a:lnSpc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Основные темы: 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898525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ежимы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работы CPU (кольца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защиты)</a:t>
            </a:r>
          </a:p>
          <a:p>
            <a:pPr marL="898525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таблицы (GDT,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IDT)</a:t>
            </a:r>
          </a:p>
          <a:p>
            <a:pPr marL="898525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практическая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реализация изоляции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драйверов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ИЕРАРХИЯ  ПРИВИЛЕГИЙ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138896" y="1412110"/>
            <a:ext cx="5503763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Пользовательские приложения (наименьшие привилегии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Системные библиотеки (промежуточный уровень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Ядро ОС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(максимальные привилегии, полный доступ к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оборудованию)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Драйверы устройств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(работают в режиме ядра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Необходим механизм для строгого разграничения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прав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693" y="1305949"/>
            <a:ext cx="4268986" cy="414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7197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КОНЦЕПЦИЯ "КОЛЕЦ ЗАЩИТЫ"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572946" y="1145892"/>
            <a:ext cx="9213449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2000" dirty="0"/>
              <a:t>Аппаратный механизм для разделения уровней </a:t>
            </a:r>
            <a:r>
              <a:rPr lang="ru-RU" sz="2000" dirty="0" smtClean="0"/>
              <a:t>привилегий</a:t>
            </a:r>
            <a:endParaRPr lang="ru-RU" sz="2000" dirty="0"/>
          </a:p>
          <a:p>
            <a:pPr>
              <a:lnSpc>
                <a:spcPct val="150000"/>
              </a:lnSpc>
            </a:pPr>
            <a:r>
              <a:rPr lang="ru-RU" sz="2000" dirty="0"/>
              <a:t>Представлен в виде концентрических кругов (</a:t>
            </a:r>
            <a:r>
              <a:rPr lang="ru-RU" sz="2000" dirty="0" smtClean="0"/>
              <a:t>колец</a:t>
            </a:r>
          </a:p>
        </p:txBody>
      </p:sp>
      <p:pic>
        <p:nvPicPr>
          <p:cNvPr id="2050" name="Picture 2" descr="https://upload.wikimedia.org/wikipedia/commons/thumb/2/2f/Priv_rings.svg/330px-Priv_ring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040" y="2332299"/>
            <a:ext cx="5965440" cy="432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96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МОДЕЛЬ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КОЛЕЦ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572946" y="902880"/>
            <a:ext cx="9213449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b="1" dirty="0" err="1" smtClean="0"/>
              <a:t>Ring</a:t>
            </a:r>
            <a:r>
              <a:rPr lang="ru-RU" sz="2000" b="1" dirty="0" smtClean="0"/>
              <a:t> 0 (Кольцо 0) - Режим ядра (</a:t>
            </a:r>
            <a:r>
              <a:rPr lang="ru-RU" sz="2000" b="1" dirty="0" err="1" smtClean="0"/>
              <a:t>Kernel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Mode</a:t>
            </a:r>
            <a:r>
              <a:rPr lang="ru-RU" sz="2000" b="1" dirty="0" smtClean="0"/>
              <a:t>):</a:t>
            </a:r>
            <a:r>
              <a:rPr lang="ru-RU" sz="2000" dirty="0" smtClean="0"/>
              <a:t> Имеет прямой доступ к оборудованию (процессору, памяти, устройствам ввода-вывода). Здесь работает ядро ОС (</a:t>
            </a:r>
            <a:r>
              <a:rPr lang="ru-RU" sz="2000" dirty="0" err="1" smtClean="0"/>
              <a:t>Linux</a:t>
            </a:r>
            <a:r>
              <a:rPr lang="ru-RU" sz="2000" dirty="0" smtClean="0"/>
              <a:t>) и большинство драйверов</a:t>
            </a: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endParaRPr lang="ru-RU" sz="2000" dirty="0" smtClean="0"/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b="1" dirty="0" err="1" smtClean="0"/>
              <a:t>Ring</a:t>
            </a:r>
            <a:r>
              <a:rPr lang="ru-RU" sz="2000" b="1" dirty="0" smtClean="0"/>
              <a:t> 1 и </a:t>
            </a:r>
            <a:r>
              <a:rPr lang="ru-RU" sz="2000" b="1" dirty="0" err="1" smtClean="0"/>
              <a:t>Ring</a:t>
            </a:r>
            <a:r>
              <a:rPr lang="ru-RU" sz="2000" b="1" dirty="0" smtClean="0"/>
              <a:t> 2:</a:t>
            </a:r>
            <a:r>
              <a:rPr lang="ru-RU" sz="2000" dirty="0" smtClean="0"/>
              <a:t> Исторически предназначались для драйверов устройств или подсистем ОС. </a:t>
            </a:r>
            <a:r>
              <a:rPr lang="ru-RU" sz="2000" b="1" dirty="0" smtClean="0"/>
              <a:t>В современных ОС, включая </a:t>
            </a:r>
            <a:r>
              <a:rPr lang="ru-RU" sz="2000" b="1" dirty="0" err="1" smtClean="0"/>
              <a:t>Linux</a:t>
            </a:r>
            <a:r>
              <a:rPr lang="ru-RU" sz="2000" b="1" dirty="0" smtClean="0"/>
              <a:t> и </a:t>
            </a:r>
            <a:r>
              <a:rPr lang="ru-RU" sz="2000" b="1" dirty="0" err="1" smtClean="0"/>
              <a:t>Windows</a:t>
            </a:r>
            <a:r>
              <a:rPr lang="ru-RU" sz="2000" b="1" dirty="0" smtClean="0"/>
              <a:t>, эти кольца практически не используются</a:t>
            </a:r>
            <a:endParaRPr lang="en-US" sz="2000" b="1" dirty="0" smtClean="0"/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endParaRPr lang="ru-RU" sz="2000" dirty="0" smtClean="0"/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b="1" dirty="0" err="1" smtClean="0"/>
              <a:t>Ring</a:t>
            </a:r>
            <a:r>
              <a:rPr lang="ru-RU" sz="2000" b="1" dirty="0" smtClean="0"/>
              <a:t> 3 (Кольцо 3) - Пользовательский режим (</a:t>
            </a:r>
            <a:r>
              <a:rPr lang="ru-RU" sz="2000" b="1" dirty="0" err="1" smtClean="0"/>
              <a:t>User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Mode</a:t>
            </a:r>
            <a:r>
              <a:rPr lang="ru-RU" sz="2000" b="1" dirty="0" smtClean="0"/>
              <a:t>):</a:t>
            </a:r>
            <a:r>
              <a:rPr lang="ru-RU" sz="2000" dirty="0" smtClean="0"/>
              <a:t> Наименее привилегированный уровень. Здесь работают все пользовательские приложения (браузеры, текстовые редакторы и т.д.). Доступ к оборудованию и памяти ядра здесь запрещен.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7216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RING 0: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РЕЖИМ  ЯДРА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664340" y="1180672"/>
            <a:ext cx="8733100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Выполняется код операционной системы и драйверов.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b="1" dirty="0"/>
              <a:t>Полный доступ к памяти, портам ввода/вывода, управлению прерываниями.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Возможность выполнять привилегированные инструкции (например, </a:t>
            </a:r>
            <a:r>
              <a:rPr lang="ru-RU" sz="2000" dirty="0" err="1"/>
              <a:t>hlt</a:t>
            </a:r>
            <a:r>
              <a:rPr lang="ru-RU" sz="2000" dirty="0"/>
              <a:t>, </a:t>
            </a:r>
            <a:r>
              <a:rPr lang="ru-RU" sz="2000" dirty="0" err="1"/>
              <a:t>in</a:t>
            </a:r>
            <a:r>
              <a:rPr lang="ru-RU" sz="2000" dirty="0"/>
              <a:t>, </a:t>
            </a:r>
            <a:r>
              <a:rPr lang="ru-RU" sz="2000" dirty="0" err="1"/>
              <a:t>out</a:t>
            </a:r>
            <a:r>
              <a:rPr lang="ru-RU" sz="2000" dirty="0"/>
              <a:t>, </a:t>
            </a:r>
            <a:r>
              <a:rPr lang="ru-RU" sz="2000" dirty="0" err="1"/>
              <a:t>lgdt</a:t>
            </a:r>
            <a:r>
              <a:rPr lang="ru-RU" sz="2000" dirty="0"/>
              <a:t>).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Сбой в коде </a:t>
            </a:r>
            <a:r>
              <a:rPr lang="ru-RU" sz="2000" dirty="0" err="1"/>
              <a:t>Ring</a:t>
            </a:r>
            <a:r>
              <a:rPr lang="ru-RU" sz="2000" dirty="0"/>
              <a:t> 0 приводит к краху всей системы (</a:t>
            </a:r>
            <a:r>
              <a:rPr lang="ru-RU" sz="2000" dirty="0" err="1"/>
              <a:t>Kernel</a:t>
            </a:r>
            <a:r>
              <a:rPr lang="ru-RU" sz="2000" dirty="0"/>
              <a:t> </a:t>
            </a:r>
            <a:r>
              <a:rPr lang="ru-RU" sz="2000" dirty="0" err="1"/>
              <a:t>Panic</a:t>
            </a:r>
            <a:r>
              <a:rPr lang="ru-RU" sz="2000" dirty="0"/>
              <a:t> / BSOD).</a:t>
            </a:r>
          </a:p>
        </p:txBody>
      </p:sp>
    </p:spTree>
    <p:extLst>
      <p:ext uri="{BB962C8B-B14F-4D97-AF65-F5344CB8AC3E}">
        <p14:creationId xmlns:p14="http://schemas.microsoft.com/office/powerpoint/2010/main" val="408673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RING 3 - РЕЖИМ ПОЛЬЗОВАТЕЛЯ (USER MODE)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664340" y="1180672"/>
            <a:ext cx="8733100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Выполняются прикладные программы (браузеры, текстовые редакторы).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b="1" dirty="0"/>
              <a:t>Ограниченный доступ:</a:t>
            </a:r>
            <a:r>
              <a:rPr lang="ru-RU" sz="2000" dirty="0"/>
              <a:t> только к выделенной ей области памяти.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Запрет на выполнение привилегированных инструкций и прямой доступ к оборудованию.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Сбой в программе </a:t>
            </a:r>
            <a:r>
              <a:rPr lang="ru-RU" sz="2000" dirty="0" err="1"/>
              <a:t>Ring</a:t>
            </a:r>
            <a:r>
              <a:rPr lang="ru-RU" sz="2000" dirty="0"/>
              <a:t> 3 обычно приводит только к закрытию этой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20032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RING 1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И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RING 2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664340" y="1180672"/>
            <a:ext cx="8733100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Изначально предназначались для драйверов устройств и системных сервисов.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В современных ОС (</a:t>
            </a:r>
            <a:r>
              <a:rPr lang="ru-RU" sz="2000" dirty="0" err="1"/>
              <a:t>Windows</a:t>
            </a:r>
            <a:r>
              <a:rPr lang="ru-RU" sz="2000" dirty="0"/>
              <a:t>, </a:t>
            </a:r>
            <a:r>
              <a:rPr lang="ru-RU" sz="2000" dirty="0" err="1"/>
              <a:t>Linux</a:t>
            </a:r>
            <a:r>
              <a:rPr lang="ru-RU" sz="2000" dirty="0"/>
              <a:t>) практически не используются.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dirty="0"/>
              <a:t>Вся работа с оборудованием ведется из </a:t>
            </a:r>
            <a:r>
              <a:rPr lang="ru-RU" sz="2000" dirty="0" err="1"/>
              <a:t>Ring</a:t>
            </a:r>
            <a:r>
              <a:rPr lang="ru-RU" sz="2000" dirty="0"/>
              <a:t> 0.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000" b="1" dirty="0"/>
              <a:t>Исключение</a:t>
            </a:r>
            <a:r>
              <a:rPr lang="ru-RU" sz="2000" dirty="0"/>
              <a:t>: некоторые гипервизоры (например, </a:t>
            </a:r>
            <a:r>
              <a:rPr lang="ru-RU" sz="2000" dirty="0" err="1"/>
              <a:t>Xen</a:t>
            </a:r>
            <a:r>
              <a:rPr lang="ru-RU" sz="2000" dirty="0"/>
              <a:t>) используют </a:t>
            </a:r>
            <a:r>
              <a:rPr lang="ru-RU" sz="2000" dirty="0" err="1"/>
              <a:t>Ring</a:t>
            </a:r>
            <a:r>
              <a:rPr lang="ru-RU" sz="2000" dirty="0"/>
              <a:t> 1 для гостевых ОС.</a:t>
            </a:r>
          </a:p>
        </p:txBody>
      </p:sp>
    </p:spTree>
    <p:extLst>
      <p:ext uri="{BB962C8B-B14F-4D97-AF65-F5344CB8AC3E}">
        <p14:creationId xmlns:p14="http://schemas.microsoft.com/office/powerpoint/2010/main" val="1057828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ПЕРЕКЛЮЧЕНИЕ  МЕЖДУ  РЕЖИМАМИ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665240" y="1180671"/>
            <a:ext cx="8733100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Механизмы перехода: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Системные вызовы (</a:t>
            </a:r>
            <a:r>
              <a:rPr lang="ru-RU" b="1" dirty="0" err="1"/>
              <a:t>Syscalls</a:t>
            </a:r>
            <a:r>
              <a:rPr lang="ru-RU" b="1" dirty="0"/>
              <a:t>):</a:t>
            </a:r>
            <a:r>
              <a:rPr lang="ru-RU" dirty="0"/>
              <a:t> Программа запрашивает услугу у </a:t>
            </a:r>
            <a:r>
              <a:rPr lang="ru-RU" dirty="0" smtClean="0"/>
              <a:t>ядра</a:t>
            </a:r>
            <a:endParaRPr lang="ru-RU" dirty="0"/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Аппаратные прерывания (</a:t>
            </a:r>
            <a:r>
              <a:rPr lang="ru-RU" b="1" dirty="0" err="1"/>
              <a:t>Interrupts</a:t>
            </a:r>
            <a:r>
              <a:rPr lang="ru-RU" b="1" dirty="0"/>
              <a:t>):</a:t>
            </a:r>
            <a:r>
              <a:rPr lang="ru-RU" dirty="0"/>
              <a:t> Устройство требует </a:t>
            </a:r>
            <a:r>
              <a:rPr lang="ru-RU" dirty="0" smtClean="0"/>
              <a:t>внимания</a:t>
            </a:r>
            <a:endParaRPr lang="ru-RU" dirty="0"/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Исключения (</a:t>
            </a:r>
            <a:r>
              <a:rPr lang="ru-RU" b="1" dirty="0" err="1"/>
              <a:t>Exceptions</a:t>
            </a:r>
            <a:r>
              <a:rPr lang="ru-RU" b="1" dirty="0"/>
              <a:t>):</a:t>
            </a:r>
            <a:r>
              <a:rPr lang="ru-RU" dirty="0"/>
              <a:t> Произошла ошибка (деление на ноль,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 smtClean="0"/>
              <a:t>)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Переключение инициируется специальными инструкциями (</a:t>
            </a:r>
            <a:r>
              <a:rPr lang="ru-RU" dirty="0" err="1"/>
              <a:t>syscall</a:t>
            </a:r>
            <a:r>
              <a:rPr lang="ru-RU" dirty="0"/>
              <a:t>, </a:t>
            </a:r>
            <a:r>
              <a:rPr lang="ru-RU" dirty="0" err="1"/>
              <a:t>int</a:t>
            </a:r>
            <a:r>
              <a:rPr lang="ru-RU" dirty="0"/>
              <a:t> 0x80) или аппаратно.</a:t>
            </a:r>
          </a:p>
        </p:txBody>
      </p:sp>
    </p:spTree>
    <p:extLst>
      <p:ext uri="{BB962C8B-B14F-4D97-AF65-F5344CB8AC3E}">
        <p14:creationId xmlns:p14="http://schemas.microsoft.com/office/powerpoint/2010/main" val="168979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МЕХАНИЗМ СИСТЕМНОГО ВЫЗОВА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665240" y="1180671"/>
            <a:ext cx="8968360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Программа в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Mode</a:t>
            </a:r>
            <a:r>
              <a:rPr lang="ru-RU" dirty="0"/>
              <a:t> помещает аргументы в регистры/стек.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Выполняется инструкция системного вызова (например, </a:t>
            </a:r>
            <a:r>
              <a:rPr lang="ru-RU" dirty="0" err="1"/>
              <a:t>syscall</a:t>
            </a:r>
            <a:r>
              <a:rPr lang="ru-RU" dirty="0"/>
              <a:t>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Процессор </a:t>
            </a:r>
            <a:r>
              <a:rPr lang="ru-RU" b="1" dirty="0"/>
              <a:t>аппаратно</a:t>
            </a:r>
            <a:r>
              <a:rPr lang="ru-RU" dirty="0"/>
              <a:t> переключается в </a:t>
            </a:r>
            <a:r>
              <a:rPr lang="ru-RU" dirty="0" err="1"/>
              <a:t>Ring</a:t>
            </a:r>
            <a:r>
              <a:rPr lang="ru-RU" dirty="0"/>
              <a:t> 0, сохраняя контекст пользовательского процесса.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Управление передается на заранее заданный обработчик в ядре.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Ядро выполняет запрошенную операцию.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Ядро возвращает результат и управление, процессор возвращается в </a:t>
            </a:r>
            <a:r>
              <a:rPr lang="ru-RU" dirty="0" err="1"/>
              <a:t>Ring</a:t>
            </a:r>
            <a:r>
              <a:rPr lang="ru-RU" dirty="0"/>
              <a:t> 3.</a:t>
            </a:r>
          </a:p>
        </p:txBody>
      </p:sp>
    </p:spTree>
    <p:extLst>
      <p:ext uri="{BB962C8B-B14F-4D97-AF65-F5344CB8AC3E}">
        <p14:creationId xmlns:p14="http://schemas.microsoft.com/office/powerpoint/2010/main" val="237147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МЕХАНИЗМ СИСТЕМНОГО ВЫЗОВА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618941" y="1169737"/>
            <a:ext cx="8968360" cy="41912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.</a:t>
            </a:r>
            <a:r>
              <a:rPr lang="ru-RU" b="1" dirty="0" smtClean="0"/>
              <a:t>GDT </a:t>
            </a:r>
            <a:r>
              <a:rPr lang="ru-RU" b="1" dirty="0"/>
              <a:t>(</a:t>
            </a:r>
            <a:r>
              <a:rPr lang="ru-RU" b="1" dirty="0" err="1"/>
              <a:t>Global</a:t>
            </a:r>
            <a:r>
              <a:rPr lang="ru-RU" b="1" dirty="0"/>
              <a:t> </a:t>
            </a:r>
            <a:r>
              <a:rPr lang="ru-RU" b="1" dirty="0" err="1"/>
              <a:t>Descriptor</a:t>
            </a:r>
            <a:r>
              <a:rPr lang="ru-RU" b="1" dirty="0"/>
              <a:t> </a:t>
            </a:r>
            <a:r>
              <a:rPr lang="ru-RU" b="1" dirty="0" err="1"/>
              <a:t>Table</a:t>
            </a:r>
            <a:r>
              <a:rPr lang="ru-RU" b="1" dirty="0"/>
              <a:t>)</a:t>
            </a:r>
            <a:r>
              <a:rPr lang="ru-RU" dirty="0"/>
              <a:t> - управляет сегментацией памяти и уровнями привилегий.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IDT (</a:t>
            </a:r>
            <a:r>
              <a:rPr lang="ru-RU" b="1" dirty="0" err="1"/>
              <a:t>Interrupt</a:t>
            </a:r>
            <a:r>
              <a:rPr lang="ru-RU" b="1" dirty="0"/>
              <a:t> </a:t>
            </a:r>
            <a:r>
              <a:rPr lang="ru-RU" b="1" dirty="0" err="1"/>
              <a:t>Descriptor</a:t>
            </a:r>
            <a:r>
              <a:rPr lang="ru-RU" b="1" dirty="0"/>
              <a:t> </a:t>
            </a:r>
            <a:r>
              <a:rPr lang="ru-RU" b="1" dirty="0" err="1"/>
              <a:t>Table</a:t>
            </a:r>
            <a:r>
              <a:rPr lang="ru-RU" b="1" dirty="0"/>
              <a:t>)</a:t>
            </a:r>
            <a:r>
              <a:rPr lang="ru-RU" dirty="0"/>
              <a:t> - определяет, какой код выполнять при прерывании или исключении.</a:t>
            </a:r>
          </a:p>
        </p:txBody>
      </p:sp>
    </p:spTree>
    <p:extLst>
      <p:ext uri="{BB962C8B-B14F-4D97-AF65-F5344CB8AC3E}">
        <p14:creationId xmlns:p14="http://schemas.microsoft.com/office/powerpoint/2010/main" val="3095146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GDT -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ГЛОБАЛЬНАЯ  ТАБЛИЦА  ДЕСКРИПТОРОВ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611" y="3574186"/>
            <a:ext cx="6924164" cy="2809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46759" y="1120676"/>
            <a:ext cx="9356997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Содержит </a:t>
            </a:r>
            <a:r>
              <a:rPr lang="ru-RU" b="1" dirty="0"/>
              <a:t>дескрипторы сегментов</a:t>
            </a:r>
            <a:r>
              <a:rPr lang="ru-RU" dirty="0"/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Каждый дескриптор описывает блок памяти: его базовый адрес, лимит (размер) и </a:t>
            </a:r>
            <a:r>
              <a:rPr lang="ru-RU" b="1" dirty="0"/>
              <a:t>атрибуты доступа</a:t>
            </a:r>
            <a:r>
              <a:rPr lang="ru-RU" dirty="0"/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Ключевой атрибут:</a:t>
            </a:r>
            <a:r>
              <a:rPr lang="ru-RU" dirty="0"/>
              <a:t> Уровень привилегий (DPL - </a:t>
            </a:r>
            <a:r>
              <a:rPr lang="ru-RU" dirty="0" err="1"/>
              <a:t>Descriptor</a:t>
            </a:r>
            <a:r>
              <a:rPr lang="ru-RU" dirty="0"/>
              <a:t> </a:t>
            </a:r>
            <a:r>
              <a:rPr lang="ru-RU" dirty="0" err="1"/>
              <a:t>Privilege</a:t>
            </a:r>
            <a:r>
              <a:rPr lang="ru-RU" dirty="0"/>
              <a:t> </a:t>
            </a:r>
            <a:r>
              <a:rPr lang="ru-RU" dirty="0" err="1"/>
              <a:t>Level</a:t>
            </a:r>
            <a:r>
              <a:rPr lang="ru-RU" dirty="0"/>
              <a:t>). Именно здесь кодируется, к какому "кольцу" принадлежит сегмент кода или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845973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МЕХАНИЗМ СИСТЕМНОГО ВЫЗОВА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099561" y="1586129"/>
            <a:ext cx="7645078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Регистры сегментов (</a:t>
            </a:r>
            <a:r>
              <a:rPr lang="en-US" dirty="0"/>
              <a:t>CS, DS, SS </a:t>
            </a:r>
            <a:r>
              <a:rPr lang="ru-RU" dirty="0"/>
              <a:t>и т.д.) содержат не адрес, а </a:t>
            </a:r>
            <a:r>
              <a:rPr lang="ru-RU" b="1" dirty="0" smtClean="0"/>
              <a:t>селектор</a:t>
            </a:r>
            <a:endParaRPr lang="ru-RU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ru-RU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/>
              <a:t>CPL </a:t>
            </a:r>
            <a:r>
              <a:rPr lang="en-US" b="1" dirty="0"/>
              <a:t>(Current Privilege Level):</a:t>
            </a:r>
            <a:r>
              <a:rPr lang="en-US" dirty="0"/>
              <a:t> </a:t>
            </a:r>
            <a:r>
              <a:rPr lang="ru-RU" dirty="0"/>
              <a:t>Текущий уровень привилегий </a:t>
            </a:r>
            <a:r>
              <a:rPr lang="ru-RU" dirty="0" smtClean="0"/>
              <a:t>процессора</a:t>
            </a:r>
            <a:r>
              <a:rPr lang="en-US" dirty="0" smtClean="0"/>
              <a:t> </a:t>
            </a:r>
            <a:r>
              <a:rPr lang="ru-RU" dirty="0" smtClean="0"/>
              <a:t>хранится </a:t>
            </a:r>
            <a:r>
              <a:rPr lang="ru-RU" dirty="0"/>
              <a:t>в младших битах регистра </a:t>
            </a:r>
            <a:r>
              <a:rPr lang="en-US" dirty="0" smtClean="0"/>
              <a:t>CS</a:t>
            </a:r>
            <a:endParaRPr lang="ru-RU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При доступе к сегменту процессор сравнивает </a:t>
            </a:r>
            <a:r>
              <a:rPr lang="en-US" dirty="0"/>
              <a:t>CPL </a:t>
            </a:r>
            <a:r>
              <a:rPr lang="ru-RU" dirty="0"/>
              <a:t>с </a:t>
            </a:r>
            <a:r>
              <a:rPr lang="en-US" dirty="0"/>
              <a:t>DPL </a:t>
            </a:r>
            <a:r>
              <a:rPr lang="ru-RU" dirty="0"/>
              <a:t>дескриптора. Если </a:t>
            </a:r>
            <a:r>
              <a:rPr lang="en-US" dirty="0"/>
              <a:t>CPL &lt; DPL (</a:t>
            </a:r>
            <a:r>
              <a:rPr lang="ru-RU" dirty="0"/>
              <a:t>меньше привилегий), доступ </a:t>
            </a:r>
            <a:r>
              <a:rPr lang="ru-RU" dirty="0" smtClean="0"/>
              <a:t>запрещен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235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IDT: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INTERRUPT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DESCRIPTOR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TABLE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20187" y="972686"/>
            <a:ext cx="85594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ru-RU" dirty="0"/>
              <a:t>Содержит </a:t>
            </a:r>
            <a:r>
              <a:rPr lang="ru-RU" b="1" dirty="0"/>
              <a:t>дескрипторы шлюзов</a:t>
            </a:r>
            <a:r>
              <a:rPr lang="ru-RU" dirty="0"/>
              <a:t> (</a:t>
            </a:r>
            <a:r>
              <a:rPr lang="en-US" dirty="0"/>
              <a:t>Gate Descriptors</a:t>
            </a:r>
            <a:r>
              <a:rPr lang="en-US" dirty="0" smtClean="0"/>
              <a:t>)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ru-RU" dirty="0"/>
              <a:t>Каждый дескриптор указывает на обработчик </a:t>
            </a:r>
            <a:r>
              <a:rPr lang="ru-RU" dirty="0" smtClean="0"/>
              <a:t>прерывания/исключения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ru-RU" dirty="0"/>
              <a:t>Типы шлюзов: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Шлюз прерывания (</a:t>
            </a:r>
            <a:r>
              <a:rPr lang="en-US" b="1" dirty="0"/>
              <a:t>Interrupt Gate)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Шлюз ловушки (</a:t>
            </a:r>
            <a:r>
              <a:rPr lang="en-US" b="1" dirty="0"/>
              <a:t>Trap Gate)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Шлюз задачи (</a:t>
            </a:r>
            <a:r>
              <a:rPr lang="en-US" b="1" dirty="0"/>
              <a:t>Task Gate)</a:t>
            </a:r>
            <a:r>
              <a:rPr lang="en-US" dirty="0"/>
              <a:t> - </a:t>
            </a:r>
            <a:r>
              <a:rPr lang="ru-RU" dirty="0"/>
              <a:t>устарел.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495" y="3750800"/>
            <a:ext cx="7356275" cy="2724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592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IDT: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INTERRUPT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DESCRIPTOR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TABLE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20186" y="1435673"/>
            <a:ext cx="8559479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При возникновении прерывания/исключения: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Процессор автоматически переключается в </a:t>
            </a:r>
            <a:r>
              <a:rPr lang="ru-RU" dirty="0" err="1"/>
              <a:t>Ring</a:t>
            </a:r>
            <a:r>
              <a:rPr lang="ru-RU" dirty="0"/>
              <a:t> 0.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Сохраняет состояние регистров (SS, ESP, CS, EIP, EFLAGS).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Берет селектор и смещение из IDT.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Начинает выполнение кода обработчика в сегменте кода ядра (</a:t>
            </a:r>
            <a:r>
              <a:rPr lang="ru-RU" dirty="0" err="1"/>
              <a:t>Ring</a:t>
            </a:r>
            <a:r>
              <a:rPr lang="ru-RU" dirty="0"/>
              <a:t> 0).</a:t>
            </a:r>
          </a:p>
          <a:p>
            <a:pPr>
              <a:lnSpc>
                <a:spcPct val="150000"/>
              </a:lnSpc>
            </a:pPr>
            <a:r>
              <a:rPr lang="ru-RU" dirty="0"/>
              <a:t>Это </a:t>
            </a:r>
            <a:r>
              <a:rPr lang="ru-RU" b="1" dirty="0"/>
              <a:t>единственный</a:t>
            </a:r>
            <a:r>
              <a:rPr lang="ru-RU" dirty="0"/>
              <a:t> безопасный способ для пользовательской программы "войти" в ядро.</a:t>
            </a:r>
          </a:p>
        </p:txBody>
      </p:sp>
    </p:spTree>
    <p:extLst>
      <p:ext uri="{BB962C8B-B14F-4D97-AF65-F5344CB8AC3E}">
        <p14:creationId xmlns:p14="http://schemas.microsoft.com/office/powerpoint/2010/main" val="354954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МЕХАНИЗМ СИСТЕМНОГО ВЫЗОВА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6" name="Picture 4" descr="https://www.researchgate.net/profile/Irfan-Ahmed-45/publication/288402934/figure/fig2/AS:356592273903617@1462029631838/Code-extraction-of-task-gate-The-GDT-IDT-descriptor-format-is-adjusted-for-illustr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206" y="830513"/>
            <a:ext cx="6451787" cy="598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400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ПРОБЛЕМА ДРАЙВЕРОВ УСТРОЙСТВ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66182" y="1256663"/>
            <a:ext cx="8432158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Драйверы работают в </a:t>
            </a:r>
            <a:r>
              <a:rPr lang="ru-RU" b="1" dirty="0" err="1"/>
              <a:t>Ring</a:t>
            </a:r>
            <a:r>
              <a:rPr lang="ru-RU" b="1" dirty="0"/>
              <a:t> 0</a:t>
            </a:r>
            <a:r>
              <a:rPr lang="ru-RU" dirty="0"/>
              <a:t> (им нужен прямой доступ к "железу</a:t>
            </a:r>
            <a:r>
              <a:rPr lang="ru-RU" dirty="0" smtClean="0"/>
              <a:t>")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Пишутся сторонними производителями, часто с </a:t>
            </a:r>
            <a:r>
              <a:rPr lang="ru-RU" dirty="0" smtClean="0"/>
              <a:t>ошибками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Статистика: Значительный процент падений </a:t>
            </a:r>
            <a:r>
              <a:rPr lang="ru-RU" dirty="0" err="1"/>
              <a:t>Windows</a:t>
            </a:r>
            <a:r>
              <a:rPr lang="ru-RU" dirty="0"/>
              <a:t> (BSOD) вызван </a:t>
            </a:r>
            <a:r>
              <a:rPr lang="ru-RU" dirty="0" smtClean="0"/>
              <a:t>драйверами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Проблема: Как изолировать ненадежный код, которому нужны максимальные привилегии?</a:t>
            </a:r>
          </a:p>
        </p:txBody>
      </p:sp>
    </p:spTree>
    <p:extLst>
      <p:ext uri="{BB962C8B-B14F-4D97-AF65-F5344CB8AC3E}">
        <p14:creationId xmlns:p14="http://schemas.microsoft.com/office/powerpoint/2010/main" val="378327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МОНОЛИТНОЕ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ЯДРО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И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 ДРАЙВЕРЫ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66182" y="909477"/>
            <a:ext cx="84321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Все драйверы загружаются в адресное пространство </a:t>
            </a:r>
            <a:r>
              <a:rPr lang="ru-RU" dirty="0" smtClean="0"/>
              <a:t>ядра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Плюс:</a:t>
            </a:r>
            <a:r>
              <a:rPr lang="ru-RU" dirty="0"/>
              <a:t> Высокая производительность (минимальные накладные расходы).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Минус:</a:t>
            </a:r>
            <a:r>
              <a:rPr lang="ru-RU" dirty="0"/>
              <a:t> Нет изоляции. Ошибка в любом драйвере -&gt; крах всей системы</a:t>
            </a:r>
            <a:r>
              <a:rPr lang="ru-RU" dirty="0" smtClean="0"/>
              <a:t>.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ru-RU" b="1" dirty="0" smtClean="0"/>
              <a:t>Пример</a:t>
            </a:r>
            <a:r>
              <a:rPr lang="ru-RU" b="1" dirty="0"/>
              <a:t>:</a:t>
            </a:r>
            <a:r>
              <a:rPr lang="ru-RU" dirty="0"/>
              <a:t> Ядро </a:t>
            </a:r>
            <a:r>
              <a:rPr lang="ru-RU" dirty="0" err="1"/>
              <a:t>Linux</a:t>
            </a:r>
            <a:r>
              <a:rPr lang="ru-RU" dirty="0"/>
              <a:t> (хотя поддерживает загрузку модулей).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440" y="2663803"/>
            <a:ext cx="4381500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6499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ИЗОЛЯЦИЯ ДРАЙВЕРОВ В ПОЛЬЗОВАТЕЛЬСКОМ РЕЖИМЕ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90309" y="1071523"/>
            <a:ext cx="923659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Идея: Запускать драйверы в </a:t>
            </a:r>
            <a:r>
              <a:rPr lang="ru-RU" b="1" dirty="0" err="1"/>
              <a:t>Ring</a:t>
            </a:r>
            <a:r>
              <a:rPr lang="ru-RU" b="1" dirty="0"/>
              <a:t> 3</a:t>
            </a:r>
            <a:r>
              <a:rPr lang="ru-RU" dirty="0"/>
              <a:t> (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Mode</a:t>
            </a:r>
            <a:r>
              <a:rPr lang="ru-RU" dirty="0"/>
              <a:t>).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Плюс:</a:t>
            </a:r>
            <a:r>
              <a:rPr lang="ru-RU" dirty="0"/>
              <a:t> Сбой драйвера приводит только к падению процесса драйвера, а не ядра.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Минус:</a:t>
            </a:r>
            <a:r>
              <a:rPr lang="ru-RU" dirty="0"/>
              <a:t> Большие накладные расходы на взаимодействие </a:t>
            </a:r>
            <a:r>
              <a:rPr lang="ru-RU" dirty="0" smtClean="0"/>
              <a:t>и </a:t>
            </a:r>
            <a:r>
              <a:rPr lang="ru-RU" dirty="0"/>
              <a:t>копирование данных.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028" y="2535656"/>
            <a:ext cx="5313003" cy="402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813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ИЗОЛЯЦИЯ ДРАЙВЕРОВ В ПОЛЬЗОВАТЕЛЬСКОМ РЕЖИМЕ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AutoShape 2" descr="Code extraction of task gate. (The GDT/IDT descriptor format is adjusted for illustration pur- poses.) 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232704" y="1546085"/>
            <a:ext cx="7755038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Монолитное ядро (драйверы в </a:t>
            </a:r>
            <a:r>
              <a:rPr lang="ru-RU" b="1" dirty="0" err="1"/>
              <a:t>Ring</a:t>
            </a:r>
            <a:r>
              <a:rPr lang="ru-RU" b="1" dirty="0"/>
              <a:t> 0):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b="1" dirty="0"/>
              <a:t>+</a:t>
            </a:r>
            <a:r>
              <a:rPr lang="ru-RU" dirty="0"/>
              <a:t> Высокая производительность.</a:t>
            </a:r>
          </a:p>
          <a:p>
            <a:pPr lvl="1">
              <a:lnSpc>
                <a:spcPct val="150000"/>
              </a:lnSpc>
            </a:pPr>
            <a:r>
              <a:rPr lang="ru-RU" b="1" dirty="0"/>
              <a:t>-</a:t>
            </a:r>
            <a:r>
              <a:rPr lang="ru-RU" dirty="0"/>
              <a:t> Низкая надежность и безопасность.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Изолированные драйверы (в </a:t>
            </a:r>
            <a:r>
              <a:rPr lang="ru-RU" b="1" dirty="0" err="1"/>
              <a:t>Ring</a:t>
            </a:r>
            <a:r>
              <a:rPr lang="ru-RU" b="1" dirty="0"/>
              <a:t> 3):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b="1" dirty="0"/>
              <a:t>+</a:t>
            </a:r>
            <a:r>
              <a:rPr lang="ru-RU" dirty="0"/>
              <a:t> Высокая надежность и безопасность.</a:t>
            </a:r>
          </a:p>
          <a:p>
            <a:pPr lvl="1">
              <a:lnSpc>
                <a:spcPct val="150000"/>
              </a:lnSpc>
            </a:pPr>
            <a:r>
              <a:rPr lang="ru-RU" b="1" dirty="0"/>
              <a:t>-</a:t>
            </a:r>
            <a:r>
              <a:rPr lang="ru-RU" dirty="0"/>
              <a:t> Низкая производительность (из-за постоянных переключений контекста).</a:t>
            </a:r>
          </a:p>
        </p:txBody>
      </p:sp>
    </p:spTree>
    <p:extLst>
      <p:ext uri="{BB962C8B-B14F-4D97-AF65-F5344CB8AC3E}">
        <p14:creationId xmlns:p14="http://schemas.microsoft.com/office/powerpoint/2010/main" val="2491188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2177</TotalTime>
  <Words>396</Words>
  <Application>Microsoft Office PowerPoint</Application>
  <PresentationFormat>Лист A4 (210x297 мм)</PresentationFormat>
  <Paragraphs>127</Paragraphs>
  <Slides>20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Николишин Николай Дмитриевич</dc:creator>
  <cp:lastModifiedBy>User</cp:lastModifiedBy>
  <cp:revision>830</cp:revision>
  <dcterms:created xsi:type="dcterms:W3CDTF">2017-01-09T10:54:16Z</dcterms:created>
  <dcterms:modified xsi:type="dcterms:W3CDTF">2025-11-23T21:36:12Z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16.0016</vt:lpwstr>
  </property>
  <property fmtid="{D5CDD505-2E9C-101B-9397-08002B2CF9AE}" pid="3" name="DocSecurity">
    <vt:i4>0</vt:i4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14</vt:i4>
  </property>
  <property fmtid="{D5CDD505-2E9C-101B-9397-08002B2CF9AE}" pid="9" name="PresentationFormat">
    <vt:lpwstr>Лист A4 (210x297 мм)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