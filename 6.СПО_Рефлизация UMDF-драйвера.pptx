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7" r:id="rId4"/>
    <p:sldId id="272" r:id="rId5"/>
    <p:sldId id="273" r:id="rId6"/>
    <p:sldId id="274" r:id="rId7"/>
    <p:sldId id="275" r:id="rId8"/>
    <p:sldId id="270" r:id="rId9"/>
  </p:sldIdLst>
  <p:sldSz cx="9144000" cy="6858000" type="screen4x3"/>
  <p:notesSz cx="6858000" cy="9144000"/>
  <p:defaultTextStyle>
    <a:defPPr lvl="0">
      <a:defRPr lang="ru-RU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-165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3FE2C1-465A-416B-8CC2-AF50E799C5B8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10BFA2-AC21-45A4-8018-BB6FBBF60B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2898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50BA1-A064-41EB-B991-5FE21431D026}" type="datetime1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665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5509-D43E-4643-A248-0FC54652A0E0}" type="datetime1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915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35BD8-7739-4C0B-AC6B-E0CF439E8740}" type="datetime1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0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7154-E28B-4569-9E2B-F91E10DDC509}" type="datetime1">
              <a:rPr lang="ru-RU" smtClean="0"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271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63325-19D7-416A-AF25-11C92DC219D6}" type="datetime1">
              <a:rPr lang="ru-RU" smtClean="0"/>
              <a:t>06.10.2025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69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B3AC-7A2A-4B07-B2E1-E98C8DC7156E}" type="datetime1">
              <a:rPr lang="ru-RU" smtClean="0"/>
              <a:t>06.10.2025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778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DB50E-FF90-4C7B-9B8C-91F0482F9C6F}" type="datetime1">
              <a:rPr lang="ru-RU" smtClean="0"/>
              <a:t>06.10.2025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3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8D0-DB75-4F39-968F-0CD028DC7DA5}" type="datetime1">
              <a:rPr lang="ru-RU" smtClean="0"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272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AFEF-D3FE-4F78-A1FC-05DAF3E83608}" type="datetime1">
              <a:rPr lang="ru-RU" smtClean="0"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650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2876-6591-4546-AA49-CB0D209598F7}" type="datetime1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4200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7E190-0086-41D1-A6CD-924A36A952BC}" type="datetime1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8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F4423-2A8F-4B25-B323-2A8B5B4E9CB0}" type="datetime1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28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1172435" y="2132856"/>
            <a:ext cx="735806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СИСТЕМНОЕ  ПРОГРАММНОЕ  ОБЕСПЕЧЕНИЕ</a:t>
            </a:r>
          </a:p>
          <a:p>
            <a:pPr algn="ctr"/>
            <a:endParaRPr lang="ru-RU" sz="2000" b="1" dirty="0" smtClean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БЛОК 2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227503" y="4437112"/>
            <a:ext cx="2671770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ru-RU" sz="2000" b="1" dirty="0" err="1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Ляхманов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Д.А.</a:t>
            </a:r>
          </a:p>
          <a:p>
            <a:r>
              <a:rPr lang="ru-RU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к.т.н., </a:t>
            </a:r>
            <a:r>
              <a:rPr lang="ru-RU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доцент</a:t>
            </a:r>
            <a:endParaRPr lang="ru-RU" dirty="0" smtClean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707904" y="6309320"/>
            <a:ext cx="26717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i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20</a:t>
            </a:r>
            <a:r>
              <a:rPr lang="en-US" sz="2000" i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25</a:t>
            </a:r>
            <a:r>
              <a:rPr lang="ru-RU" sz="2000" i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г</a:t>
            </a:r>
            <a:r>
              <a:rPr lang="ru-RU" sz="2000" i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 smtClean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7107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1172435" y="2701369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СТРУКТУРА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UMDF-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ДРАЙВЕРА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584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62334" y="16296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ОБЯЗАТЕЛЬНЫЕ  ФУНКЦИИ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247972" y="116632"/>
            <a:ext cx="878852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5400000">
            <a:off x="-1265" y="36587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1246384" y="1732892"/>
            <a:ext cx="685400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BOOL WINAPI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DllMain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 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smtClean="0">
                <a:latin typeface="Courier New" pitchFamily="49" charset="0"/>
                <a:cs typeface="Courier New" pitchFamily="49" charset="0"/>
              </a:rPr>
              <a:t>_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In_ HINSTANCE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hinstDLL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smtClean="0">
                <a:latin typeface="Courier New" pitchFamily="49" charset="0"/>
                <a:cs typeface="Courier New" pitchFamily="49" charset="0"/>
              </a:rPr>
              <a:t>_In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_ DWORD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fdwReason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smtClean="0">
                <a:latin typeface="Courier New" pitchFamily="49" charset="0"/>
                <a:cs typeface="Courier New" pitchFamily="49" charset="0"/>
              </a:rPr>
              <a:t>_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In_ LPVOID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lpvReserved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{ 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... }</a:t>
            </a:r>
            <a:endParaRPr lang="ru-RU" i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115566" y="1660883"/>
            <a:ext cx="7128842" cy="16758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719548" y="836712"/>
            <a:ext cx="792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Функция завершения драйвера вызывается, когда драйвер выгружается из оперативной памяти (напр. при отключении устройства):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862334" y="3966950"/>
            <a:ext cx="781284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6100" indent="-546100" algn="just">
              <a:spcBef>
                <a:spcPts val="1200"/>
              </a:spcBef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hinstDLL</a:t>
            </a:r>
            <a:r>
              <a:rPr lang="ru-RU" i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i="1" dirty="0" smtClean="0">
                <a:cs typeface="Courier New" pitchFamily="49" charset="0"/>
              </a:rPr>
              <a:t>– </a:t>
            </a:r>
            <a:r>
              <a:rPr lang="en-US" dirty="0" smtClean="0">
                <a:cs typeface="Courier New" pitchFamily="49" charset="0"/>
              </a:rPr>
              <a:t> </a:t>
            </a:r>
            <a:r>
              <a:rPr lang="ru-RU" dirty="0" smtClean="0">
                <a:cs typeface="Courier New" pitchFamily="49" charset="0"/>
              </a:rPr>
              <a:t>описатель </a:t>
            </a:r>
            <a:r>
              <a:rPr lang="en-US" dirty="0" err="1" smtClean="0">
                <a:cs typeface="Courier New" pitchFamily="49" charset="0"/>
              </a:rPr>
              <a:t>dll</a:t>
            </a:r>
            <a:endParaRPr lang="ru-RU" dirty="0" smtClean="0">
              <a:cs typeface="Courier New" pitchFamily="49" charset="0"/>
            </a:endParaRPr>
          </a:p>
          <a:p>
            <a:pPr marL="546100" indent="-546100" algn="just">
              <a:spcBef>
                <a:spcPts val="1200"/>
              </a:spcBef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fdwReason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i="1" dirty="0" smtClean="0">
                <a:cs typeface="Courier New" pitchFamily="49" charset="0"/>
              </a:rPr>
              <a:t>– </a:t>
            </a:r>
            <a:r>
              <a:rPr lang="en-US" dirty="0" smtClean="0">
                <a:cs typeface="Courier New" pitchFamily="49" charset="0"/>
              </a:rPr>
              <a:t> </a:t>
            </a:r>
            <a:r>
              <a:rPr lang="ru-RU" dirty="0" smtClean="0">
                <a:cs typeface="Courier New" pitchFamily="49" charset="0"/>
              </a:rPr>
              <a:t>флаг вызова функции (</a:t>
            </a:r>
            <a:r>
              <a:rPr lang="en-US" dirty="0" smtClean="0"/>
              <a:t>DLL_PROCESS_ATTACH</a:t>
            </a:r>
            <a:r>
              <a:rPr lang="ru-RU" dirty="0" smtClean="0"/>
              <a:t>, </a:t>
            </a:r>
            <a:r>
              <a:rPr lang="en-US" dirty="0" smtClean="0"/>
              <a:t>DLL_PROCESS_DETACH</a:t>
            </a:r>
            <a:r>
              <a:rPr lang="ru-RU" dirty="0" smtClean="0"/>
              <a:t>, </a:t>
            </a:r>
            <a:r>
              <a:rPr lang="en-US" dirty="0" smtClean="0"/>
              <a:t>DLL_THREAD_ATTACH</a:t>
            </a:r>
            <a:r>
              <a:rPr lang="ru-RU" dirty="0" smtClean="0"/>
              <a:t>, </a:t>
            </a:r>
            <a:r>
              <a:rPr lang="en-US" dirty="0"/>
              <a:t>DLL_THREAD_DETACH</a:t>
            </a:r>
            <a:r>
              <a:rPr lang="ru-RU" dirty="0" smtClean="0">
                <a:cs typeface="Courier New" pitchFamily="49" charset="0"/>
              </a:rPr>
              <a:t>)</a:t>
            </a:r>
            <a:endParaRPr lang="ru-RU" dirty="0">
              <a:cs typeface="Courier New" pitchFamily="49" charset="0"/>
            </a:endParaRPr>
          </a:p>
          <a:p>
            <a:pPr marL="546100" indent="-546100" algn="just">
              <a:spcBef>
                <a:spcPts val="1200"/>
              </a:spcBef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lpvReserved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i="1" dirty="0" smtClean="0">
                <a:cs typeface="Courier New" pitchFamily="49" charset="0"/>
              </a:rPr>
              <a:t>– </a:t>
            </a:r>
            <a:r>
              <a:rPr lang="ru-RU" dirty="0">
                <a:cs typeface="Courier New" pitchFamily="49" charset="0"/>
              </a:rPr>
              <a:t>зарегистрированный</a:t>
            </a:r>
            <a:r>
              <a:rPr lang="ru-RU" i="1" dirty="0">
                <a:cs typeface="Courier New" pitchFamily="49" charset="0"/>
              </a:rPr>
              <a:t> </a:t>
            </a:r>
            <a:r>
              <a:rPr lang="ru-RU" dirty="0" smtClean="0">
                <a:cs typeface="Courier New" pitchFamily="49" charset="0"/>
              </a:rPr>
              <a:t>параметр</a:t>
            </a:r>
          </a:p>
        </p:txBody>
      </p:sp>
    </p:spTree>
    <p:extLst>
      <p:ext uri="{BB962C8B-B14F-4D97-AF65-F5344CB8AC3E}">
        <p14:creationId xmlns:p14="http://schemas.microsoft.com/office/powerpoint/2010/main" val="2332188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62334" y="16296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ОБЯЗАТЕЛЬНЫЕ  ФУНКЦИИ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247972" y="116632"/>
            <a:ext cx="878852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5400000">
            <a:off x="-1265" y="36587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1246384" y="1588514"/>
            <a:ext cx="685400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HRESULT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DllGetClassObject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pPr marL="449263"/>
            <a:r>
              <a:rPr lang="en-US" dirty="0" smtClean="0">
                <a:latin typeface="Courier New" pitchFamily="49" charset="0"/>
                <a:cs typeface="Courier New" pitchFamily="49" charset="0"/>
              </a:rPr>
              <a:t>REFCLSID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rclsid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pPr marL="449263"/>
            <a:r>
              <a:rPr lang="en-US" dirty="0" smtClean="0">
                <a:latin typeface="Courier New" pitchFamily="49" charset="0"/>
                <a:cs typeface="Courier New" pitchFamily="49" charset="0"/>
              </a:rPr>
              <a:t>REFIID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riid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pPr marL="449263"/>
            <a:r>
              <a:rPr lang="en-US" dirty="0" smtClean="0">
                <a:latin typeface="Courier New" pitchFamily="49" charset="0"/>
                <a:cs typeface="Courier New" pitchFamily="49" charset="0"/>
              </a:rPr>
              <a:t>LPVOID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ppv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pPr marL="449263"/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{...}</a:t>
            </a:r>
            <a:endParaRPr lang="ru-RU" i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115566" y="1532547"/>
            <a:ext cx="7128842" cy="16758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719548" y="836712"/>
            <a:ext cx="792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Функция, возвращающая указатель реализацию интерфейса </a:t>
            </a:r>
            <a:r>
              <a:rPr lang="en-US" dirty="0" err="1" smtClean="0"/>
              <a:t>IClassFactory</a:t>
            </a:r>
            <a:r>
              <a:rPr lang="ru-RU" dirty="0" smtClean="0"/>
              <a:t>: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862334" y="3774446"/>
            <a:ext cx="781284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6100" indent="-546100" algn="just">
              <a:spcBef>
                <a:spcPts val="1200"/>
              </a:spcBef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rclsid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i="1" dirty="0" smtClean="0">
                <a:cs typeface="Courier New" pitchFamily="49" charset="0"/>
              </a:rPr>
              <a:t>– </a:t>
            </a:r>
            <a:r>
              <a:rPr lang="en-US" dirty="0" smtClean="0">
                <a:cs typeface="Courier New" pitchFamily="49" charset="0"/>
              </a:rPr>
              <a:t> CLSID </a:t>
            </a:r>
            <a:r>
              <a:rPr lang="ru-RU" dirty="0" smtClean="0">
                <a:cs typeface="Courier New" pitchFamily="49" charset="0"/>
              </a:rPr>
              <a:t>реализующего класса</a:t>
            </a:r>
          </a:p>
          <a:p>
            <a:pPr marL="546100" indent="-546100" algn="just">
              <a:spcBef>
                <a:spcPts val="1200"/>
              </a:spcBef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riid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i="1" dirty="0" smtClean="0">
                <a:cs typeface="Courier New" pitchFamily="49" charset="0"/>
              </a:rPr>
              <a:t>– </a:t>
            </a:r>
            <a:r>
              <a:rPr lang="en-US" dirty="0" smtClean="0">
                <a:cs typeface="Courier New" pitchFamily="49" charset="0"/>
              </a:rPr>
              <a:t> IID </a:t>
            </a:r>
            <a:r>
              <a:rPr lang="ru-RU" dirty="0" smtClean="0">
                <a:cs typeface="Courier New" pitchFamily="49" charset="0"/>
              </a:rPr>
              <a:t>запрашиваемого интерфейса (</a:t>
            </a:r>
            <a:r>
              <a:rPr lang="en-US" dirty="0" smtClean="0">
                <a:cs typeface="Courier New" pitchFamily="49" charset="0"/>
              </a:rPr>
              <a:t>IID </a:t>
            </a:r>
            <a:r>
              <a:rPr lang="ru-RU" dirty="0" smtClean="0">
                <a:cs typeface="Courier New" pitchFamily="49" charset="0"/>
              </a:rPr>
              <a:t>интерфейса </a:t>
            </a:r>
            <a:r>
              <a:rPr lang="en-US" dirty="0" err="1"/>
              <a:t>IClassFactory</a:t>
            </a:r>
            <a:r>
              <a:rPr lang="ru-RU" dirty="0" smtClean="0">
                <a:cs typeface="Courier New" pitchFamily="49" charset="0"/>
              </a:rPr>
              <a:t>)</a:t>
            </a:r>
            <a:endParaRPr lang="ru-RU" dirty="0">
              <a:cs typeface="Courier New" pitchFamily="49" charset="0"/>
            </a:endParaRPr>
          </a:p>
          <a:p>
            <a:pPr marL="546100" indent="-546100" algn="just">
              <a:spcBef>
                <a:spcPts val="1200"/>
              </a:spcBef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ppv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i="1" dirty="0" smtClean="0">
                <a:cs typeface="Courier New" pitchFamily="49" charset="0"/>
              </a:rPr>
              <a:t>– </a:t>
            </a:r>
            <a:r>
              <a:rPr lang="ru-RU" dirty="0" smtClean="0">
                <a:cs typeface="Courier New" pitchFamily="49" charset="0"/>
              </a:rPr>
              <a:t>указатель на объект, реализующий интерфейс </a:t>
            </a:r>
            <a:r>
              <a:rPr lang="en-US" dirty="0" err="1"/>
              <a:t>IClassFactory</a:t>
            </a:r>
            <a:endParaRPr lang="ru-RU" dirty="0" smtClean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21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62334" y="16296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БАЗОВЫЙ  ИНТЕРФЕЙС  ДРАЙВЕРА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247972" y="116632"/>
            <a:ext cx="878852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5400000">
            <a:off x="-1265" y="36587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1246384" y="2021648"/>
            <a:ext cx="685400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interface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IDriverEntry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HRESULT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OnInitialize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IWDFDriver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pWdfDriver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OnDeinitialize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IWDFDriver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pWdfDriver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HRESULT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OnDeviceAdd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IWDFDriver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pWdfDriver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IWDFDeviceInitialize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pWdfDeviceInit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};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115566" y="1933597"/>
            <a:ext cx="7128842" cy="334425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719548" y="836712"/>
            <a:ext cx="7920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Интерфейс, реализующий базовый функционал </a:t>
            </a:r>
            <a:r>
              <a:rPr lang="en-US" dirty="0" smtClean="0"/>
              <a:t>UMDF</a:t>
            </a:r>
            <a:r>
              <a:rPr lang="ru-RU" dirty="0" smtClean="0"/>
              <a:t>-драйвера (инициализацию, обработку добавления устройства, удаление драйвера из стека):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20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62334" y="16296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ИНТЕРФЕЙС  ОБЪЕКТА  ДРАЙВЕРА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247972" y="116632"/>
            <a:ext cx="878852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5400000">
            <a:off x="-1265" y="36587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1246384" y="2021648"/>
            <a:ext cx="685400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interface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IWDFDriver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HRESULT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CreateDevice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447675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IWDFDeviceInitialize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pDeviceInit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447675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IUnknown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pCallbackInterface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447675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IWDFDevice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**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ppDevice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HRESULT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CreatePreallocatedWdfMemory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</a:t>
            </a:r>
          </a:p>
          <a:p>
            <a:pPr marL="546100"/>
            <a:r>
              <a:rPr lang="en-US" dirty="0" smtClean="0">
                <a:latin typeface="Courier New" pitchFamily="49" charset="0"/>
                <a:cs typeface="Courier New" pitchFamily="49" charset="0"/>
              </a:rPr>
              <a:t>BYTE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pBuff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546100"/>
            <a:r>
              <a:rPr lang="en-US" dirty="0" smtClean="0">
                <a:latin typeface="Courier New" pitchFamily="49" charset="0"/>
                <a:cs typeface="Courier New" pitchFamily="49" charset="0"/>
              </a:rPr>
              <a:t>SIZE_T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BufferSize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546100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IUnknown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pCallbackInterface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546100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IWDFObject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pParentObject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546100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IWDFMemory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**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ppWdfMemory</a:t>
            </a:r>
            <a:r>
              <a:rPr lang="en-US" dirty="0" smtClean="0"/>
              <a:t>);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115566" y="1933597"/>
            <a:ext cx="7128842" cy="43869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719548" y="836712"/>
            <a:ext cx="7920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Интерфейс, реализующий базовый функционал </a:t>
            </a:r>
            <a:r>
              <a:rPr lang="en-US" dirty="0" smtClean="0"/>
              <a:t>UMDF</a:t>
            </a:r>
            <a:r>
              <a:rPr lang="ru-RU" dirty="0" smtClean="0"/>
              <a:t>-драйвера (инициализацию, обработку добавления устройства, удаление драйвера из стека):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2903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62334" y="16296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ИНТЕРФЕЙС  ОБЪЕКТА  ДРАЙВЕРА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247972" y="116632"/>
            <a:ext cx="878852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5400000">
            <a:off x="-1265" y="36587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1222373" y="914742"/>
            <a:ext cx="685400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HRESULT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CreateWdfMemory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smtClean="0">
                <a:latin typeface="Courier New" pitchFamily="49" charset="0"/>
                <a:cs typeface="Courier New" pitchFamily="49" charset="0"/>
              </a:rPr>
              <a:t>SIZE_T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BufferSize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IUnknown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pCallbackInterface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IWDFObject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pParentObject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IWDFMemory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**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ppWdfMemory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HRESULT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CreateWdfObject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IUnknown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pCallbackInterface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IWDFObject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pParentObject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 marL="352425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IWDFObject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**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ppWdfObject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52425"/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BOOL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IsVersionAvailable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</a:t>
            </a:r>
          </a:p>
          <a:p>
            <a:pPr marL="352425"/>
            <a:r>
              <a:rPr lang="en-US" dirty="0" smtClean="0">
                <a:latin typeface="Courier New" pitchFamily="49" charset="0"/>
                <a:cs typeface="Courier New" pitchFamily="49" charset="0"/>
              </a:rPr>
              <a:t>UMDF_VERSION_DATA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pMinimumVersion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HRESULT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RetrieveVersionString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smtClean="0">
                <a:latin typeface="Courier New" pitchFamily="49" charset="0"/>
                <a:cs typeface="Courier New" pitchFamily="49" charset="0"/>
              </a:rPr>
              <a:t>PWSTR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pVersion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smtClean="0">
                <a:latin typeface="Courier New" pitchFamily="49" charset="0"/>
                <a:cs typeface="Courier New" pitchFamily="49" charset="0"/>
              </a:rPr>
              <a:t>DWORD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pdwVersionLength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);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};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091555" y="826690"/>
            <a:ext cx="7128842" cy="530139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1102369" y="2996952"/>
            <a:ext cx="73580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4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СПАСИБО  ЗА  ВНИМАНИЕ</a:t>
            </a:r>
            <a:endParaRPr lang="ru-RU" sz="24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48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311</Words>
  <Application>Microsoft Office PowerPoint</Application>
  <PresentationFormat>Экран (4:3)</PresentationFormat>
  <Paragraphs>83</Paragraphs>
  <Slides>8</Slides>
  <Notes>5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Virger</dc:creator>
  <cp:lastModifiedBy>Virger</cp:lastModifiedBy>
  <cp:revision>19</cp:revision>
  <dcterms:modified xsi:type="dcterms:W3CDTF">2025-10-06T05:10:25Z</dcterms:modified>
</cp:coreProperties>
</file>