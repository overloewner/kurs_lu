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0" r:id="rId2"/>
    <p:sldMasterId id="2147483713" r:id="rId3"/>
    <p:sldMasterId id="2147483739" r:id="rId4"/>
    <p:sldMasterId id="2147483752" r:id="rId5"/>
    <p:sldMasterId id="2147483778" r:id="rId6"/>
  </p:sldMasterIdLst>
  <p:notesMasterIdLst>
    <p:notesMasterId r:id="rId49"/>
  </p:notesMasterIdLst>
  <p:sldIdLst>
    <p:sldId id="256" r:id="rId7"/>
    <p:sldId id="260" r:id="rId8"/>
    <p:sldId id="309" r:id="rId9"/>
    <p:sldId id="301" r:id="rId10"/>
    <p:sldId id="300" r:id="rId11"/>
    <p:sldId id="262" r:id="rId12"/>
    <p:sldId id="261" r:id="rId13"/>
    <p:sldId id="305" r:id="rId14"/>
    <p:sldId id="306" r:id="rId15"/>
    <p:sldId id="307" r:id="rId16"/>
    <p:sldId id="311" r:id="rId17"/>
    <p:sldId id="304" r:id="rId18"/>
    <p:sldId id="310" r:id="rId19"/>
    <p:sldId id="308" r:id="rId20"/>
    <p:sldId id="263" r:id="rId21"/>
    <p:sldId id="264" r:id="rId22"/>
    <p:sldId id="273" r:id="rId23"/>
    <p:sldId id="299" r:id="rId24"/>
    <p:sldId id="302" r:id="rId25"/>
    <p:sldId id="266" r:id="rId26"/>
    <p:sldId id="270" r:id="rId27"/>
    <p:sldId id="269" r:id="rId28"/>
    <p:sldId id="268" r:id="rId29"/>
    <p:sldId id="267" r:id="rId30"/>
    <p:sldId id="274" r:id="rId31"/>
    <p:sldId id="275" r:id="rId32"/>
    <p:sldId id="277" r:id="rId33"/>
    <p:sldId id="278" r:id="rId34"/>
    <p:sldId id="279" r:id="rId35"/>
    <p:sldId id="280" r:id="rId36"/>
    <p:sldId id="303" r:id="rId37"/>
    <p:sldId id="282" r:id="rId38"/>
    <p:sldId id="283" r:id="rId39"/>
    <p:sldId id="284" r:id="rId40"/>
    <p:sldId id="285" r:id="rId41"/>
    <p:sldId id="288" r:id="rId42"/>
    <p:sldId id="293" r:id="rId43"/>
    <p:sldId id="289" r:id="rId44"/>
    <p:sldId id="290" r:id="rId45"/>
    <p:sldId id="291" r:id="rId46"/>
    <p:sldId id="292" r:id="rId47"/>
    <p:sldId id="297" r:id="rId48"/>
  </p:sldIdLst>
  <p:sldSz cx="9906000" cy="6858000" type="A4"/>
  <p:notesSz cx="6858000" cy="990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1"/>
    <p:restoredTop sz="82183"/>
  </p:normalViewPr>
  <p:slideViewPr>
    <p:cSldViewPr snapToGrid="0" snapToObjects="1">
      <p:cViewPr varScale="1">
        <p:scale>
          <a:sx n="84" d="100"/>
          <a:sy n="84" d="100"/>
        </p:scale>
        <p:origin x="-1788" y="-7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8" Type="http://schemas.openxmlformats.org/officeDocument/2006/relationships/slide" Target="slides/slide2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move the slide</a:t>
            </a:r>
          </a:p>
        </p:txBody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E534E8EA-2B8A-429B-92DD-0E58B1FF200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35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794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742950"/>
            <a:ext cx="5365750" cy="37147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685800" y="4705350"/>
            <a:ext cx="5486400" cy="445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7276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 использование слоев уменьшает количество использованного дискового пространства и ускоряет запуск и работу контейнеров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50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0088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 использование слоев уменьшает количество использованного дискового пространства и ускоряет запуск и работу контейнеров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502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 использование слоев уменьшает количество использованного дискового пространства и ускоряет запуск и работу контейнеров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502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 использование слоев уменьшает количество использованного дискового пространства и ускоряет запуск и работу контейнеров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502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 использование слоев уменьшает количество использованного дискового пространства и ускоряет запуск и работу контейнеров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7502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0D0D0D"/>
                </a:solidFill>
                <a:latin typeface="Verdana"/>
                <a:ea typeface="Verdana"/>
              </a:rPr>
              <a:t>$ docker run --rm -p 8888:80 </a:t>
            </a:r>
            <a:r>
              <a:rPr lang="en-US" sz="1200" b="0" strike="noStrike" spc="-1" dirty="0" err="1">
                <a:solidFill>
                  <a:srgbClr val="0D0D0D"/>
                </a:solidFill>
                <a:latin typeface="Verdana"/>
                <a:ea typeface="Verdana"/>
              </a:rPr>
              <a:t>nginx</a:t>
            </a:r>
            <a:endParaRPr lang="ru-RU" sz="12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скачивает образ</a:t>
            </a:r>
            <a:r>
              <a:rPr lang="en-US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проверяет наличие образа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на локальной машине, и если его нет — то скачивает его с </a:t>
            </a:r>
            <a:r>
              <a:rPr lang="en-US" sz="1400" b="0" u="sng" strike="noStrike" spc="-1" dirty="0">
                <a:solidFill>
                  <a:srgbClr val="2888F1"/>
                </a:solidFill>
                <a:uFillTx/>
                <a:latin typeface="Verdana"/>
                <a:ea typeface="Verdana"/>
                <a:hlinkClick r:id="rId3"/>
              </a:rPr>
              <a:t>Docker Hub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.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Если образ есть, то использует его;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создает контейнер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когда образ получен,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использует его для создания контейнера;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файловую систему и монтирует 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read-only </a:t>
            </a: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образ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сеть/мост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создает сетевой интерфейс, который позволяет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docker-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 общаться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c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хост машиной, устанавливает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IP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адрес;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запускает указанный процесс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обрабатывает и выдает вывод приложения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подключается и </a:t>
            </a:r>
            <a:r>
              <a:rPr lang="ru-RU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логирует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стандартный вход, вывод и поток ошибок вашего приложения, что бы вы могли отслеживать как работает приложение.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65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AF1C874-0030-4D29-9E6F-BA6C746DA94C}" type="slidenum">
              <a:rPr lang="ru-RU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0D0D0D"/>
                </a:solidFill>
                <a:latin typeface="Verdana"/>
                <a:ea typeface="Verdana"/>
              </a:rPr>
              <a:t>$ docker run --rm -p 8888:80 </a:t>
            </a:r>
            <a:r>
              <a:rPr lang="en-US" sz="1200" b="0" strike="noStrike" spc="-1" dirty="0" err="1">
                <a:solidFill>
                  <a:srgbClr val="0D0D0D"/>
                </a:solidFill>
                <a:latin typeface="Verdana"/>
                <a:ea typeface="Verdana"/>
              </a:rPr>
              <a:t>nginx</a:t>
            </a:r>
            <a:endParaRPr lang="ru-RU" sz="12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скачивает образ</a:t>
            </a:r>
            <a:r>
              <a:rPr lang="en-US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проверяет наличие образа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на локальной машине, и если его нет — то скачивает его с </a:t>
            </a:r>
            <a:r>
              <a:rPr lang="en-US" sz="1400" b="0" u="sng" strike="noStrike" spc="-1" dirty="0">
                <a:solidFill>
                  <a:srgbClr val="2888F1"/>
                </a:solidFill>
                <a:uFillTx/>
                <a:latin typeface="Verdana"/>
                <a:ea typeface="Verdana"/>
                <a:hlinkClick r:id="rId3"/>
              </a:rPr>
              <a:t>Docker Hub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.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Если образ есть, то использует его;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создает контейнер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когда образ получен,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использует его для создания контейнера;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файловую систему и монтирует 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read-only </a:t>
            </a: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образ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сеть/мост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создает сетевой интерфейс, который позволяет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docker-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 общаться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c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хост машиной, устанавливает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IP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адрес;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запускает указанный процесс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обрабатывает и выдает вывод приложения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подключается и </a:t>
            </a:r>
            <a:r>
              <a:rPr lang="ru-RU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логирует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стандартный вход, вывод и поток ошибок вашего приложения, что бы вы могли отслеживать как работает приложение.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65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AF1C874-0030-4D29-9E6F-BA6C746DA94C}" type="slidenum">
              <a:rPr lang="ru-RU" sz="1200" b="0" strike="noStrike" spc="-1">
                <a:latin typeface="Times New Roman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0D0D0D"/>
                </a:solidFill>
                <a:latin typeface="Verdana"/>
                <a:ea typeface="Verdana"/>
              </a:rPr>
              <a:t>$ docker run --rm -p 8888:80 </a:t>
            </a:r>
            <a:r>
              <a:rPr lang="en-US" sz="1200" b="0" strike="noStrike" spc="-1" dirty="0" err="1">
                <a:solidFill>
                  <a:srgbClr val="0D0D0D"/>
                </a:solidFill>
                <a:latin typeface="Verdana"/>
                <a:ea typeface="Verdana"/>
              </a:rPr>
              <a:t>nginx</a:t>
            </a:r>
            <a:endParaRPr lang="ru-RU" sz="12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скачивает образ</a:t>
            </a:r>
            <a:r>
              <a:rPr lang="en-US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проверяет наличие образа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на локальной машине, и если его нет — то скачивает его с </a:t>
            </a:r>
            <a:r>
              <a:rPr lang="en-US" sz="1400" b="0" u="sng" strike="noStrike" spc="-1" dirty="0">
                <a:solidFill>
                  <a:srgbClr val="2888F1"/>
                </a:solidFill>
                <a:uFillTx/>
                <a:latin typeface="Verdana"/>
                <a:ea typeface="Verdana"/>
                <a:hlinkClick r:id="rId3"/>
              </a:rPr>
              <a:t>Docker Hub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.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Если образ есть, то использует его;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создает контейнер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когда образ получен,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использует его для создания контейнера;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файловую систему и монтирует 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read-only </a:t>
            </a: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образ</a:t>
            </a:r>
            <a:r>
              <a:rPr lang="en-US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инициализирует сеть/мост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создает сетевой интерфейс, который позволяет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docker-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 общаться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c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хост машиной, устанавливает </a:t>
            </a:r>
            <a:r>
              <a:rPr lang="en-US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IP 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адрес;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запускает указанный процесс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;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4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обрабатывает и выдает вывод приложения</a:t>
            </a:r>
            <a:r>
              <a:rPr lang="ru-RU" sz="1400" b="1" strike="noStrike" spc="-1" dirty="0">
                <a:solidFill>
                  <a:srgbClr val="292835"/>
                </a:solidFill>
                <a:latin typeface="Verdana"/>
                <a:ea typeface="Verdana"/>
              </a:rPr>
              <a:t>: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 подключается и </a:t>
            </a:r>
            <a:r>
              <a:rPr lang="ru-RU" sz="14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логирует</a:t>
            </a:r>
            <a:r>
              <a:rPr lang="ru-RU" sz="14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стандартный вход, вывод и поток ошибок вашего приложения, что бы вы могли отслеживать как работает приложение.</a:t>
            </a:r>
            <a:endParaRPr lang="ru-RU" sz="14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65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AF1C874-0030-4D29-9E6F-BA6C746DA94C}" type="slidenum">
              <a:rPr lang="ru-RU" sz="1200" b="0" strike="noStrike" spc="-1">
                <a:latin typeface="Times New Roman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2059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61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8601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0216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681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-t - </a:t>
            </a:r>
            <a:r>
              <a:rPr lang="ru-RU" sz="2000" b="0" strike="noStrike" spc="-1" dirty="0">
                <a:latin typeface="Arial"/>
              </a:rPr>
              <a:t>эмулятор терминала</a:t>
            </a:r>
            <a:endParaRPr lang="en-US" sz="2000" dirty="0"/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-I</a:t>
            </a:r>
            <a:r>
              <a:rPr lang="ru-RU" sz="2000" b="0" strike="noStrike" spc="-1" dirty="0">
                <a:latin typeface="Arial"/>
              </a:rPr>
              <a:t> - пробрасывает </a:t>
            </a:r>
            <a:r>
              <a:rPr lang="en-US" sz="2000" b="0" strike="noStrike" spc="-1" dirty="0">
                <a:latin typeface="Arial"/>
              </a:rPr>
              <a:t>STDIN</a:t>
            </a:r>
          </a:p>
        </p:txBody>
      </p:sp>
      <p:sp>
        <p:nvSpPr>
          <p:cNvPr id="65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FF2EF37-3CE8-41BA-B1D6-3286BB790616}" type="slidenum">
              <a:rPr lang="ru-RU" sz="1200" b="0" strike="noStrike" spc="-1">
                <a:latin typeface="Times New Roman"/>
              </a:rPr>
              <a:t>21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Файлы из текущей директории становятся доступны внутри контейнера в папке </a:t>
            </a:r>
            <a:r>
              <a:rPr lang="en-US" sz="2000" b="0" strike="noStrike" spc="-1">
                <a:latin typeface="Arial"/>
              </a:rPr>
              <a:t>/app . </a:t>
            </a:r>
            <a:r>
              <a:rPr lang="ru-RU" sz="2000" b="0" strike="noStrike" spc="-1">
                <a:latin typeface="Arial"/>
              </a:rPr>
              <a:t>При этом при изменении файлом как изнутри контейнера так и локально они меняются в обоих местах.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4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BB912110-188E-4C1E-A8FA-03302ADC9554}" type="slidenum">
              <a:rPr lang="ru-RU" sz="1200" b="0" strike="noStrike" spc="-1">
                <a:latin typeface="Times New Roman"/>
              </a:rPr>
              <a:t>22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 dirty="0">
                <a:latin typeface="Arial"/>
              </a:rPr>
              <a:t>Иногда приходится внутри </a:t>
            </a:r>
            <a:r>
              <a:rPr lang="en-US" sz="2000" b="0" strike="noStrike" spc="-1" dirty="0">
                <a:latin typeface="Arial"/>
              </a:rPr>
              <a:t>docker </a:t>
            </a:r>
            <a:r>
              <a:rPr lang="ru-RU" sz="2000" b="0" strike="noStrike" spc="-1" dirty="0">
                <a:latin typeface="Arial"/>
              </a:rPr>
              <a:t>контейнера создавать файлы. К примеру генераторами рельсового приложения. Можно столкнуться со следующей проблемой… Давайте попробуем такую последовательность действий. Чем вызвана ошибка?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65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CDE8C05-45E6-46E7-9511-E67CB614B68C}" type="slidenum">
              <a:rPr lang="ru-RU" sz="1200" b="0" strike="noStrike" spc="-1">
                <a:latin typeface="Times New Roman"/>
              </a:rPr>
              <a:t>27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Если посмотрим на права файла, то они принадлежат тому, кто файл создал: </a:t>
            </a:r>
            <a:r>
              <a:rPr lang="en-US" sz="2000" b="0" strike="noStrike" spc="-1">
                <a:latin typeface="Arial"/>
              </a:rPr>
              <a:t>root </a:t>
            </a:r>
            <a:r>
              <a:rPr lang="ru-RU" sz="2000" b="0" strike="noStrike" spc="-1">
                <a:latin typeface="Arial"/>
              </a:rPr>
              <a:t>пользователю внутри контейнера докера. Все верно)</a:t>
            </a: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Таким образом можно исправить проблему.</a:t>
            </a: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Домашнее задание: найти другой способ,</a:t>
            </a:r>
            <a:r>
              <a:rPr lang="en-US" sz="2000" b="0" strike="noStrike" spc="-1">
                <a:latin typeface="Arial"/>
              </a:rPr>
              <a:t> </a:t>
            </a:r>
            <a:r>
              <a:rPr lang="ru-RU" sz="2000" b="0" strike="noStrike" spc="-1">
                <a:latin typeface="Arial"/>
              </a:rPr>
              <a:t>который можно использовать, чтобы избежать такой проблемы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4B1FC7C8-475E-4E85-BDFE-5360D06747B9}" type="slidenum">
              <a:rPr lang="ru-RU" sz="1200" b="0" strike="noStrike" spc="-1">
                <a:latin typeface="Times New Roman"/>
              </a:rPr>
              <a:t>28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Dockerfile — </a:t>
            </a:r>
            <a:r>
              <a:rPr lang="ru-RU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это простой текстовый файл, в котором содержится список команд Докер-клиента. Это простой способ автоматизировать процесс создания образа.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66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4ED3D092-450C-453C-B543-68C173899683}" type="slidenum">
              <a:rPr lang="ru-RU" sz="1200" b="0" strike="noStrike" spc="-1">
                <a:latin typeface="Times New Roman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Каждая директива создает слой, который содержит изменения относительно родительского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059B4B77-02C9-4263-B5BC-23D0BEDF909E}" type="slidenum">
              <a:rPr lang="ru-RU" sz="1200" b="0" strike="noStrike" spc="-1">
                <a:latin typeface="Times New Roman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>
                <a:latin typeface="Arial"/>
              </a:rPr>
              <a:t>Каждая директива создает слой, который содержит изменения относительно родительского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6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059B4B77-02C9-4263-B5BC-23D0BEDF909E}" type="slidenum">
              <a:rPr lang="ru-RU" sz="1200" b="0" strike="noStrike" spc="-1">
                <a:latin typeface="Times New Roman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9524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67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380A6FCC-C4F1-4EDC-9B3A-D22B405F2EF1}" type="slidenum">
              <a:rPr lang="ru-RU" sz="1200" b="0" strike="noStrike" spc="-1">
                <a:latin typeface="Times New Roman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Реальные проекты обычно включают в себя целый набор совместно работающих приложений.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ru-RU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Технология </a:t>
            </a:r>
            <a:r>
              <a:rPr lang="en-US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Docker Compose, </a:t>
            </a:r>
            <a:r>
              <a:rPr lang="ru-RU" sz="1400" b="0" strike="noStrike" spc="-1">
                <a:solidFill>
                  <a:srgbClr val="000000"/>
                </a:solidFill>
                <a:latin typeface="+mn-lt"/>
                <a:ea typeface="+mn-ea"/>
              </a:rPr>
              <a:t>позволяет, с помощью одной команды, запускать множество сервисов</a:t>
            </a:r>
            <a:r>
              <a:t/>
            </a:r>
            <a:br/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67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9E87B0BC-D94C-4BB9-A5E8-25399009CFC0}" type="slidenum">
              <a:rPr lang="ru-RU" sz="1200" b="0" strike="noStrike" spc="-1">
                <a:latin typeface="Times New Roman"/>
              </a:rPr>
              <a:t>33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5109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67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A11B6F8-FCC3-4417-90EE-882DD9CDEC4D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0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9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40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0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1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2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41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42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  <p:cxnSp>
        <p:nvCxnSpPr>
          <p:cNvPr id="4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Рисунок 2"/>
          <p:cNvPicPr/>
          <p:nvPr/>
        </p:nvPicPr>
        <p:blipFill>
          <a:blip r:embed="rId14"/>
          <a:stretch/>
        </p:blipFill>
        <p:spPr>
          <a:xfrm rot="10800000" flipH="1">
            <a:off x="195480" y="0"/>
            <a:ext cx="9709920" cy="6857640"/>
          </a:xfrm>
          <a:prstGeom prst="rect">
            <a:avLst/>
          </a:prstGeom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sldNum"/>
          </p:nvPr>
        </p:nvSpPr>
        <p:spPr>
          <a:xfrm>
            <a:off x="9163080" y="6109920"/>
            <a:ext cx="470520" cy="3657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6F6C24FC-1D01-45C8-8154-7BE5C796E113}" type="slidenum">
              <a:rPr lang="ru-RU" sz="1200" b="0" strike="noStrike" spc="-1">
                <a:solidFill>
                  <a:srgbClr val="FFFFFF">
                    <a:alpha val="40000"/>
                  </a:srgbClr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title"/>
          </p:nvPr>
        </p:nvSpPr>
        <p:spPr>
          <a:xfrm>
            <a:off x="712440" y="2469600"/>
            <a:ext cx="6206040" cy="6184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sz="4800" b="1" strike="noStrike" spc="-1">
                <a:solidFill>
                  <a:srgbClr val="EB603A"/>
                </a:solidFill>
                <a:latin typeface="Verdana"/>
                <a:ea typeface="Verdana"/>
              </a:rPr>
              <a:t>Текст</a:t>
            </a:r>
            <a:endParaRPr lang="ru-RU" sz="48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  <p:cxnSp>
        <p:nvCxnSpPr>
          <p:cNvPr id="7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46760" y="441720"/>
            <a:ext cx="8950680" cy="461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Заголовок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ldNum"/>
          </p:nvPr>
        </p:nvSpPr>
        <p:spPr>
          <a:xfrm>
            <a:off x="9163080" y="6109920"/>
            <a:ext cx="470520" cy="3657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65256162-997D-4694-94AC-4DFD0A897109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55040" y="1090440"/>
            <a:ext cx="8942760" cy="464328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1500" b="0" strike="noStrike" spc="-1">
                <a:solidFill>
                  <a:srgbClr val="292835"/>
                </a:solidFill>
                <a:latin typeface="Verdana"/>
                <a:ea typeface="Verdana"/>
              </a:rPr>
              <a:t>Образец текста</a:t>
            </a:r>
            <a:endParaRPr lang="ru-RU" sz="1500" b="0" strike="noStrike" spc="-1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Рисунок 2"/>
          <p:cNvPicPr/>
          <p:nvPr/>
        </p:nvPicPr>
        <p:blipFill>
          <a:blip r:embed="rId14"/>
          <a:stretch/>
        </p:blipFill>
        <p:spPr>
          <a:xfrm>
            <a:off x="195480" y="0"/>
            <a:ext cx="9709920" cy="6857640"/>
          </a:xfrm>
          <a:prstGeom prst="rect">
            <a:avLst/>
          </a:prstGeom>
          <a:ln w="0">
            <a:noFill/>
          </a:ln>
        </p:spPr>
      </p:pic>
      <p:sp>
        <p:nvSpPr>
          <p:cNvPr id="283" name="PlaceHolder 1"/>
          <p:cNvSpPr>
            <a:spLocks noGrp="1"/>
          </p:cNvSpPr>
          <p:nvPr>
            <p:ph type="sldNum"/>
          </p:nvPr>
        </p:nvSpPr>
        <p:spPr>
          <a:xfrm>
            <a:off x="9163080" y="6109920"/>
            <a:ext cx="470520" cy="3657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C164DB89-193F-4C32-A001-2029C5937B27}" type="slidenum">
              <a:rPr lang="ru-RU" sz="1200" b="0" strike="noStrike" spc="-1">
                <a:solidFill>
                  <a:srgbClr val="FFFFFF">
                    <a:alpha val="40000"/>
                  </a:srgbClr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title"/>
          </p:nvPr>
        </p:nvSpPr>
        <p:spPr>
          <a:xfrm>
            <a:off x="712440" y="2469600"/>
            <a:ext cx="6206040" cy="6184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sz="4800" b="1" strike="noStrike" spc="-1">
                <a:solidFill>
                  <a:srgbClr val="00945F"/>
                </a:solidFill>
                <a:latin typeface="Verdana"/>
                <a:ea typeface="Verdana"/>
              </a:rPr>
              <a:t>Текст</a:t>
            </a:r>
            <a:endParaRPr lang="ru-RU" sz="48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  <p:cxnSp>
        <p:nvCxnSpPr>
          <p:cNvPr id="7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46760" y="441720"/>
            <a:ext cx="8950680" cy="461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945F"/>
                </a:solidFill>
                <a:latin typeface="Verdana"/>
                <a:ea typeface="Verdana"/>
              </a:rPr>
              <a:t>Заголовок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ldNum"/>
          </p:nvPr>
        </p:nvSpPr>
        <p:spPr>
          <a:xfrm>
            <a:off x="9163080" y="6109920"/>
            <a:ext cx="470520" cy="3657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536C957D-07DA-4A20-B5BD-2F1E6126D649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455040" y="1090440"/>
            <a:ext cx="8942760" cy="464328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1500" b="0" strike="noStrike" spc="-1">
                <a:solidFill>
                  <a:srgbClr val="292835"/>
                </a:solidFill>
                <a:latin typeface="Verdana"/>
                <a:ea typeface="Verdana"/>
              </a:rPr>
              <a:t>Образец текста</a:t>
            </a:r>
            <a:endParaRPr lang="ru-RU" sz="1500" b="0" strike="noStrike" spc="-1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Рисунок 3"/>
          <p:cNvPicPr/>
          <p:nvPr/>
        </p:nvPicPr>
        <p:blipFill>
          <a:blip r:embed="rId14"/>
          <a:stretch/>
        </p:blipFill>
        <p:spPr>
          <a:xfrm>
            <a:off x="253440" y="812160"/>
            <a:ext cx="9005040" cy="6045840"/>
          </a:xfrm>
          <a:prstGeom prst="rect">
            <a:avLst/>
          </a:prstGeom>
          <a:ln w="0">
            <a:noFill/>
          </a:ln>
        </p:spPr>
      </p:pic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edit the title text format</a:t>
            </a: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compose/install/" TargetMode="External"/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991108" y="2233776"/>
            <a:ext cx="80648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</a:rPr>
              <a:t>Контейнеризация</a:t>
            </a:r>
            <a:endParaRPr lang="ru-RU" sz="32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Google Shape;94;p1"/>
          <p:cNvSpPr txBox="1"/>
          <p:nvPr/>
        </p:nvSpPr>
        <p:spPr>
          <a:xfrm>
            <a:off x="3737671" y="6154046"/>
            <a:ext cx="305823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Нижний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Новгород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ru-RU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5г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 b="1" i="0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4"/>
          <p:cNvPicPr/>
          <p:nvPr/>
        </p:nvPicPr>
        <p:blipFill>
          <a:blip r:embed="rId3"/>
          <a:stretch/>
        </p:blipFill>
        <p:spPr>
          <a:xfrm>
            <a:off x="5495173" y="1668241"/>
            <a:ext cx="4275360" cy="4275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200" b="1" strike="noStrike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Для чего нужен (или плюсы):</a:t>
            </a:r>
            <a:endParaRPr lang="ru-RU" sz="2200" b="0" strike="noStrike" spc="-1" dirty="0">
              <a:solidFill>
                <a:schemeClr val="accent1">
                  <a:lumMod val="50000"/>
                </a:schemeClr>
              </a:solidFill>
              <a:latin typeface="Verdana"/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455040" y="10526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Изолированный запуск приложений в контейнерах.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Упрощение разработки, тестирования и </a:t>
            </a:r>
            <a:r>
              <a:rPr lang="ru-RU" sz="22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деплоя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приложений.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Отсутствие необходимости конфигурировать среду для запуска — она поставляется вместе с приложением — в контейнере.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Упрощает масштабируемость приложений и управление их работой с помощью систем </a:t>
            </a:r>
            <a:r>
              <a:rPr lang="ru-RU" sz="22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оркестрации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контейнеров.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 idx="4294967295"/>
          </p:nvPr>
        </p:nvSpPr>
        <p:spPr>
          <a:xfrm>
            <a:off x="0" y="274638"/>
            <a:ext cx="8915400" cy="606425"/>
          </a:xfrm>
          <a:prstGeom prst="rect">
            <a:avLst/>
          </a:prstGeom>
        </p:spPr>
        <p:txBody>
          <a:bodyPr wrap="square" lIns="107269" tIns="107269" rIns="107269" bIns="107269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ru-RU" sz="2200" b="1" spc="-1" dirty="0" smtClean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  <a:cs typeface="+mn-cs"/>
              </a:rPr>
              <a:t>Пре</a:t>
            </a:r>
            <a:r>
              <a:rPr lang="ru-RU" sz="2200" b="1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  <a:cs typeface="+mn-cs"/>
              </a:rPr>
              <a:t>и</a:t>
            </a:r>
            <a:r>
              <a:rPr lang="ru-RU" sz="2200" b="1" spc="-1" dirty="0" smtClean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  <a:cs typeface="+mn-cs"/>
              </a:rPr>
              <a:t>мущества </a:t>
            </a:r>
            <a:r>
              <a:rPr lang="en-US" sz="2200" b="1" spc="-1" dirty="0" err="1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  <a:cs typeface="+mn-cs"/>
              </a:rPr>
              <a:t>docker</a:t>
            </a:r>
            <a:endParaRPr lang="en" sz="2200" b="1" spc="-1" dirty="0">
              <a:solidFill>
                <a:schemeClr val="accent1">
                  <a:lumMod val="50000"/>
                </a:schemeClr>
              </a:solidFill>
              <a:latin typeface="Verdana"/>
              <a:ea typeface="Verdana"/>
              <a:cs typeface="+mn-cs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1712045" y="3709366"/>
            <a:ext cx="2035865" cy="1167433"/>
          </a:xfrm>
          <a:prstGeom prst="rect">
            <a:avLst/>
          </a:prstGeom>
          <a:solidFill>
            <a:srgbClr val="999999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Change Management</a:t>
            </a:r>
          </a:p>
        </p:txBody>
      </p:sp>
      <p:sp>
        <p:nvSpPr>
          <p:cNvPr id="50" name="Shape 50"/>
          <p:cNvSpPr/>
          <p:nvPr/>
        </p:nvSpPr>
        <p:spPr>
          <a:xfrm>
            <a:off x="2867746" y="2128926"/>
            <a:ext cx="2031632" cy="1133566"/>
          </a:xfrm>
          <a:prstGeom prst="rect">
            <a:avLst/>
          </a:prstGeom>
          <a:solidFill>
            <a:srgbClr val="4A86E8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Resource Isolation</a:t>
            </a:r>
          </a:p>
        </p:txBody>
      </p:sp>
      <p:sp>
        <p:nvSpPr>
          <p:cNvPr id="51" name="Shape 51"/>
          <p:cNvSpPr/>
          <p:nvPr/>
        </p:nvSpPr>
        <p:spPr>
          <a:xfrm>
            <a:off x="5261696" y="2128926"/>
            <a:ext cx="1974482" cy="1133566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File system Isolation</a:t>
            </a:r>
          </a:p>
        </p:txBody>
      </p:sp>
      <p:sp>
        <p:nvSpPr>
          <p:cNvPr id="52" name="Shape 52"/>
          <p:cNvSpPr/>
          <p:nvPr/>
        </p:nvSpPr>
        <p:spPr>
          <a:xfrm>
            <a:off x="7655645" y="2128926"/>
            <a:ext cx="1985065" cy="1133566"/>
          </a:xfrm>
          <a:prstGeom prst="rect">
            <a:avLst/>
          </a:prstGeom>
          <a:solidFill>
            <a:srgbClr val="F1C232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Network Isolation</a:t>
            </a:r>
          </a:p>
        </p:txBody>
      </p:sp>
      <p:sp>
        <p:nvSpPr>
          <p:cNvPr id="53" name="Shape 53"/>
          <p:cNvSpPr/>
          <p:nvPr/>
        </p:nvSpPr>
        <p:spPr>
          <a:xfrm>
            <a:off x="556346" y="2128926"/>
            <a:ext cx="2164276" cy="1133566"/>
          </a:xfrm>
          <a:prstGeom prst="rect">
            <a:avLst/>
          </a:prstGeom>
          <a:solidFill>
            <a:srgbClr val="E06666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Image Management</a:t>
            </a:r>
          </a:p>
        </p:txBody>
      </p:sp>
      <p:sp>
        <p:nvSpPr>
          <p:cNvPr id="54" name="Shape 54"/>
          <p:cNvSpPr/>
          <p:nvPr/>
        </p:nvSpPr>
        <p:spPr>
          <a:xfrm>
            <a:off x="4188546" y="3709367"/>
            <a:ext cx="1862298" cy="1167432"/>
          </a:xfrm>
          <a:prstGeom prst="rect">
            <a:avLst/>
          </a:prstGeom>
          <a:solidFill>
            <a:srgbClr val="674EA7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Sharing</a:t>
            </a:r>
          </a:p>
        </p:txBody>
      </p:sp>
      <p:sp>
        <p:nvSpPr>
          <p:cNvPr id="55" name="Shape 55"/>
          <p:cNvSpPr/>
          <p:nvPr/>
        </p:nvSpPr>
        <p:spPr>
          <a:xfrm>
            <a:off x="6499945" y="3709367"/>
            <a:ext cx="1944143" cy="1167432"/>
          </a:xfrm>
          <a:prstGeom prst="rect">
            <a:avLst/>
          </a:prstGeom>
          <a:solidFill>
            <a:srgbClr val="A64D79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7269" tIns="107269" rIns="107269" bIns="107269" anchor="ctr" anchorCtr="0">
            <a:noAutofit/>
          </a:bodyPr>
          <a:lstStyle/>
          <a:p>
            <a:pPr algn="ctr"/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Process</a:t>
            </a:r>
          </a:p>
          <a:p>
            <a:pPr algn="ctr"/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236196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>
                <a:solidFill>
                  <a:srgbClr val="2888F1"/>
                </a:solidFill>
                <a:latin typeface="Verdana"/>
                <a:ea typeface="Verdana"/>
              </a:rPr>
              <a:t>Чем отличается от Виртуальных Машин?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2050" name="Picture 2" descr="What is a Docker container? · Ramblings of a Unix Geek">
            <a:extLst>
              <a:ext uri="{FF2B5EF4-FFF2-40B4-BE49-F238E27FC236}">
                <a16:creationId xmlns:a16="http://schemas.microsoft.com/office/drawing/2014/main" xmlns="" id="{9AE7B521-26EF-2D4D-A6BA-12CC2E4B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60" y="1522040"/>
            <a:ext cx="8950680" cy="396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9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>
                <a:solidFill>
                  <a:srgbClr val="2888F1"/>
                </a:solidFill>
                <a:latin typeface="Verdana"/>
                <a:ea typeface="Verdana"/>
              </a:rPr>
              <a:t>Из чего состоит? 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455040" y="10526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endParaRPr lang="en-US" sz="2200" b="0" strike="noStrike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Образы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Verdana"/>
              </a:rPr>
              <a:t>Контейнеры</a:t>
            </a: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</a:rPr>
              <a:t>Volumes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 marL="343080" indent="-342720">
              <a:lnSpc>
                <a:spcPct val="150000"/>
              </a:lnSpc>
              <a:spcBef>
                <a:spcPts val="1199"/>
              </a:spcBef>
              <a:buClr>
                <a:srgbClr val="0B75BA"/>
              </a:buClr>
              <a:buFont typeface="Consolas"/>
              <a:buAutoNum type="arabicPeriod"/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</a:rPr>
              <a:t>Networks 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1026" name="Picture 2" descr="Что такое Docker - компоненты Docker Engine">
            <a:extLst>
              <a:ext uri="{FF2B5EF4-FFF2-40B4-BE49-F238E27FC236}">
                <a16:creationId xmlns:a16="http://schemas.microsoft.com/office/drawing/2014/main" xmlns="" id="{4FA8BCA9-E42B-1744-A2BE-7EF2A0D693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1" r="19320"/>
          <a:stretch/>
        </p:blipFill>
        <p:spPr bwMode="auto">
          <a:xfrm>
            <a:off x="3356426" y="1003818"/>
            <a:ext cx="6277174" cy="53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886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 dirty="0">
                <a:solidFill>
                  <a:srgbClr val="2888F1"/>
                </a:solidFill>
                <a:latin typeface="Verdana"/>
                <a:ea typeface="Verdana"/>
              </a:rPr>
              <a:t>Образ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1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70E0E231-699E-471E-B0C4-BDCC7BB0BAEC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16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840" indent="-285480">
              <a:lnSpc>
                <a:spcPct val="90000"/>
              </a:lnSpc>
              <a:spcBef>
                <a:spcPts val="1083"/>
              </a:spcBef>
              <a:buClr>
                <a:srgbClr val="2888F1"/>
              </a:buClr>
              <a:buFont typeface="Arial"/>
              <a:buChar char="•"/>
            </a:pPr>
            <a:r>
              <a:rPr lang="en-US" sz="1900" spc="-1" dirty="0">
                <a:solidFill>
                  <a:srgbClr val="292835"/>
                </a:solidFill>
                <a:latin typeface="Verdana"/>
                <a:ea typeface="Verdana"/>
              </a:rPr>
              <a:t>Read-only </a:t>
            </a:r>
            <a:r>
              <a:rPr lang="ru-RU" sz="1900" spc="-1" dirty="0">
                <a:solidFill>
                  <a:srgbClr val="292835"/>
                </a:solidFill>
                <a:latin typeface="Verdana"/>
                <a:ea typeface="Verdana"/>
              </a:rPr>
              <a:t>шаблон с набором инструкций, предназначенных для создания контейнера</a:t>
            </a:r>
            <a:endParaRPr lang="ru-RU" sz="19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>
              <a:lnSpc>
                <a:spcPct val="90000"/>
              </a:lnSpc>
              <a:spcBef>
                <a:spcPts val="1083"/>
              </a:spcBef>
              <a:buClr>
                <a:srgbClr val="2888F1"/>
              </a:buClr>
              <a:buFont typeface="Arial"/>
              <a:buChar char="•"/>
            </a:pPr>
            <a:r>
              <a:rPr lang="ru-RU" sz="19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Образ состоит из неизменяемых слоев, каждый из которых добавляет/удаляет/изменяет файлы из предыдущего слоя.</a:t>
            </a:r>
            <a:endParaRPr lang="ru-RU" sz="19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>
              <a:lnSpc>
                <a:spcPct val="90000"/>
              </a:lnSpc>
              <a:spcBef>
                <a:spcPts val="1083"/>
              </a:spcBef>
              <a:buClr>
                <a:srgbClr val="2888F1"/>
              </a:buClr>
              <a:buFont typeface="Arial"/>
              <a:buChar char="•"/>
            </a:pPr>
            <a:r>
              <a:rPr lang="ru-RU" sz="19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Неизменяемость слоев позволяет их использовать совместно в разных образах.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81E8627-4A18-7040-A0CA-F7C3A9A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3467100"/>
            <a:ext cx="8383905" cy="2070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2888F1"/>
                </a:solidFill>
                <a:latin typeface="Verdana"/>
                <a:ea typeface="Verdana"/>
              </a:rPr>
              <a:t>Контейнеры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11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44435547-690A-4452-8FD8-6DF4E8284B77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12" name="TextShape 3"/>
          <p:cNvSpPr txBox="1"/>
          <p:nvPr/>
        </p:nvSpPr>
        <p:spPr>
          <a:xfrm>
            <a:off x="446760" y="110736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Контейнер - это запущенны</a:t>
            </a:r>
            <a:r>
              <a:rPr lang="ru-RU" sz="2000" spc="-1" dirty="0">
                <a:solidFill>
                  <a:srgbClr val="292835"/>
                </a:solidFill>
                <a:latin typeface="Verdana"/>
                <a:ea typeface="Verdana"/>
              </a:rPr>
              <a:t>й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образ.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70E0E231-699E-471E-B0C4-BDCC7BB0BAEC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53C676B-599A-4833-97F6-29986D651FEA}"/>
              </a:ext>
            </a:extLst>
          </p:cNvPr>
          <p:cNvSpPr/>
          <p:nvPr/>
        </p:nvSpPr>
        <p:spPr>
          <a:xfrm>
            <a:off x="635344" y="1610000"/>
            <a:ext cx="1257300" cy="5651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41AE114-6EEC-4456-ADD6-69398C8E817D}"/>
              </a:ext>
            </a:extLst>
          </p:cNvPr>
          <p:cNvSpPr/>
          <p:nvPr/>
        </p:nvSpPr>
        <p:spPr>
          <a:xfrm>
            <a:off x="635344" y="3094447"/>
            <a:ext cx="4381498" cy="3124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Server</a:t>
            </a:r>
          </a:p>
        </p:txBody>
      </p: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xmlns="" id="{3CB43D95-CABA-481F-8927-7F11E48E6B6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263994" y="2175150"/>
            <a:ext cx="0" cy="9192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1988587-463A-4980-9770-67E17DCA96BA}"/>
              </a:ext>
            </a:extLst>
          </p:cNvPr>
          <p:cNvSpPr txBox="1"/>
          <p:nvPr/>
        </p:nvSpPr>
        <p:spPr>
          <a:xfrm>
            <a:off x="1397344" y="2175150"/>
            <a:ext cx="27583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Socket</a:t>
            </a:r>
          </a:p>
          <a:p>
            <a:r>
              <a:rPr lang="en-US" dirty="0"/>
              <a:t>TCP port 2375 unencrypted</a:t>
            </a:r>
          </a:p>
          <a:p>
            <a:r>
              <a:rPr lang="en-US" dirty="0"/>
              <a:t>TCP port 2376 encrypted</a:t>
            </a:r>
          </a:p>
          <a:p>
            <a:endParaRPr lang="en-US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0DC5B714-1735-4C18-9AD3-FF5868C31AB6}"/>
              </a:ext>
            </a:extLst>
          </p:cNvPr>
          <p:cNvSpPr/>
          <p:nvPr/>
        </p:nvSpPr>
        <p:spPr>
          <a:xfrm>
            <a:off x="3759544" y="1631719"/>
            <a:ext cx="1257300" cy="5651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Client</a:t>
            </a:r>
          </a:p>
        </p:txBody>
      </p:sp>
      <p:cxnSp>
        <p:nvCxnSpPr>
          <p:cNvPr id="11" name="Straight Arrow Connector 12">
            <a:extLst>
              <a:ext uri="{FF2B5EF4-FFF2-40B4-BE49-F238E27FC236}">
                <a16:creationId xmlns:a16="http://schemas.microsoft.com/office/drawing/2014/main" xmlns="" id="{049E07D4-3CEE-477B-9600-E2D6932D75B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388194" y="2196869"/>
            <a:ext cx="0" cy="897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05EAD73-596C-4042-80E9-26D6125AA9CF}"/>
              </a:ext>
            </a:extLst>
          </p:cNvPr>
          <p:cNvSpPr txBox="1"/>
          <p:nvPr/>
        </p:nvSpPr>
        <p:spPr>
          <a:xfrm>
            <a:off x="5131144" y="1609999"/>
            <a:ext cx="42671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2000" dirty="0" smtClean="0"/>
              <a:t>Клиент-серверная архитектура</a:t>
            </a:r>
            <a:endParaRPr lang="en-US" sz="200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2000" dirty="0" smtClean="0"/>
              <a:t>Использует </a:t>
            </a:r>
            <a:r>
              <a:rPr lang="en-US" sz="2000" dirty="0" smtClean="0"/>
              <a:t>IP</a:t>
            </a:r>
            <a:r>
              <a:rPr lang="ru-RU" sz="2000" dirty="0" smtClean="0"/>
              <a:t>–сокеты для коммуникации</a:t>
            </a:r>
            <a:endParaRPr lang="en-US" sz="200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2000" dirty="0" smtClean="0"/>
              <a:t>Клиенты могут находиться на одном сервере и взаимодействовать через сеть</a:t>
            </a:r>
            <a:endParaRPr lang="en-US" sz="2000" dirty="0"/>
          </a:p>
          <a:p>
            <a:endParaRPr lang="en-US" sz="2000" dirty="0"/>
          </a:p>
          <a:p>
            <a:pPr marL="117475" indent="-117475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 smtClean="0">
                <a:solidFill>
                  <a:srgbClr val="2888F1"/>
                </a:solidFill>
                <a:latin typeface="Verdana"/>
                <a:ea typeface="Verdana"/>
              </a:rPr>
              <a:t>Архитектура </a:t>
            </a:r>
            <a:r>
              <a:rPr lang="en-US" sz="2200" b="1" spc="-1" dirty="0" err="1" smtClean="0">
                <a:solidFill>
                  <a:srgbClr val="2888F1"/>
                </a:solidFill>
                <a:latin typeface="Verdana"/>
                <a:ea typeface="Verdana"/>
              </a:rPr>
              <a:t>docker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6072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 smtClean="0">
                <a:solidFill>
                  <a:srgbClr val="2888F1"/>
                </a:solidFill>
                <a:latin typeface="Verdana"/>
                <a:ea typeface="Verdana"/>
              </a:rPr>
              <a:t>Архитектура </a:t>
            </a:r>
            <a:r>
              <a:rPr lang="en-US" sz="2200" b="1" spc="-1" dirty="0" err="1" smtClean="0">
                <a:solidFill>
                  <a:srgbClr val="2888F1"/>
                </a:solidFill>
                <a:latin typeface="Verdana"/>
                <a:ea typeface="Verdana"/>
              </a:rPr>
              <a:t>docker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xmlns="" id="{153C676B-599A-4833-97F6-29986D651FEA}"/>
              </a:ext>
            </a:extLst>
          </p:cNvPr>
          <p:cNvSpPr/>
          <p:nvPr/>
        </p:nvSpPr>
        <p:spPr>
          <a:xfrm>
            <a:off x="677918" y="1533007"/>
            <a:ext cx="1257300" cy="5651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Client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F41AE114-6EEC-4456-ADD6-69398C8E817D}"/>
              </a:ext>
            </a:extLst>
          </p:cNvPr>
          <p:cNvSpPr/>
          <p:nvPr/>
        </p:nvSpPr>
        <p:spPr>
          <a:xfrm>
            <a:off x="641623" y="2271283"/>
            <a:ext cx="4381498" cy="44987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Docker Server</a:t>
            </a:r>
          </a:p>
        </p:txBody>
      </p:sp>
      <p:cxnSp>
        <p:nvCxnSpPr>
          <p:cNvPr id="17" name="Straight Arrow Connector 8">
            <a:extLst>
              <a:ext uri="{FF2B5EF4-FFF2-40B4-BE49-F238E27FC236}">
                <a16:creationId xmlns:a16="http://schemas.microsoft.com/office/drawing/2014/main" xmlns="" id="{3CB43D95-CABA-481F-8927-7F11E48E6B6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06568" y="2098157"/>
            <a:ext cx="0" cy="4047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8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DCEC03B0-945E-4189-93ED-A0FF1DC7DD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565" y="3743913"/>
            <a:ext cx="2313437" cy="5730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A59E55A5-3CBF-4E79-ACD3-8175CA66EBEC}"/>
              </a:ext>
            </a:extLst>
          </p:cNvPr>
          <p:cNvGrpSpPr/>
          <p:nvPr/>
        </p:nvGrpSpPr>
        <p:grpSpPr>
          <a:xfrm>
            <a:off x="889399" y="2502881"/>
            <a:ext cx="2815533" cy="784792"/>
            <a:chOff x="1544982" y="2973882"/>
            <a:chExt cx="2815533" cy="784792"/>
          </a:xfrm>
        </p:grpSpPr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xmlns="" id="{1902FCAB-6473-4DD7-8B63-501888EC59E9}"/>
                </a:ext>
              </a:extLst>
            </p:cNvPr>
            <p:cNvSpPr/>
            <p:nvPr/>
          </p:nvSpPr>
          <p:spPr>
            <a:xfrm>
              <a:off x="1544982" y="2973882"/>
              <a:ext cx="2815533" cy="78479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dirty="0"/>
                <a:t>Docker Daemon</a:t>
              </a:r>
            </a:p>
          </p:txBody>
        </p:sp>
        <p:pic>
          <p:nvPicPr>
            <p:cNvPr id="21" name="Picture 17" descr="Icon&#10;&#10;Description automatically generated">
              <a:extLst>
                <a:ext uri="{FF2B5EF4-FFF2-40B4-BE49-F238E27FC236}">
                  <a16:creationId xmlns:a16="http://schemas.microsoft.com/office/drawing/2014/main" xmlns="" id="{658BF80A-47CB-4203-8380-942EC5CE4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229" y="3036566"/>
              <a:ext cx="880572" cy="631492"/>
            </a:xfrm>
            <a:prstGeom prst="rect">
              <a:avLst/>
            </a:prstGeom>
          </p:spPr>
        </p:pic>
      </p:grpSp>
      <p:cxnSp>
        <p:nvCxnSpPr>
          <p:cNvPr id="22" name="Straight Arrow Connector 24">
            <a:extLst>
              <a:ext uri="{FF2B5EF4-FFF2-40B4-BE49-F238E27FC236}">
                <a16:creationId xmlns:a16="http://schemas.microsoft.com/office/drawing/2014/main" xmlns="" id="{55A42E94-1CD5-4321-A677-39906FED4FFE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844283" y="3271441"/>
            <a:ext cx="1" cy="472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30">
            <a:extLst>
              <a:ext uri="{FF2B5EF4-FFF2-40B4-BE49-F238E27FC236}">
                <a16:creationId xmlns:a16="http://schemas.microsoft.com/office/drawing/2014/main" xmlns="" id="{5B9B85A7-7C85-4E0D-9CA1-B8D9A539B123}"/>
              </a:ext>
            </a:extLst>
          </p:cNvPr>
          <p:cNvGrpSpPr/>
          <p:nvPr/>
        </p:nvGrpSpPr>
        <p:grpSpPr>
          <a:xfrm>
            <a:off x="2234683" y="4661673"/>
            <a:ext cx="1219200" cy="1775181"/>
            <a:chOff x="6873525" y="3635019"/>
            <a:chExt cx="1219200" cy="1775181"/>
          </a:xfrm>
        </p:grpSpPr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xmlns="" id="{1CA727BC-DA6C-4C08-9B3F-25CDD3902FE0}"/>
                </a:ext>
              </a:extLst>
            </p:cNvPr>
            <p:cNvSpPr/>
            <p:nvPr/>
          </p:nvSpPr>
          <p:spPr>
            <a:xfrm>
              <a:off x="7083074" y="3834169"/>
              <a:ext cx="800103" cy="3048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runc</a:t>
              </a:r>
              <a:endParaRPr lang="en-US" sz="1400" dirty="0"/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xmlns="" id="{29E66364-14C2-40E2-BB15-D7BF631C2360}"/>
                </a:ext>
              </a:extLst>
            </p:cNvPr>
            <p:cNvSpPr/>
            <p:nvPr/>
          </p:nvSpPr>
          <p:spPr>
            <a:xfrm>
              <a:off x="7083074" y="4156031"/>
              <a:ext cx="800103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shim</a:t>
              </a:r>
            </a:p>
          </p:txBody>
        </p:sp>
        <p:sp>
          <p:nvSpPr>
            <p:cNvPr id="26" name="Rectangle 33">
              <a:extLst>
                <a:ext uri="{FF2B5EF4-FFF2-40B4-BE49-F238E27FC236}">
                  <a16:creationId xmlns:a16="http://schemas.microsoft.com/office/drawing/2014/main" xmlns="" id="{6E66FA3B-8D50-48CE-8915-B04CF398B73D}"/>
                </a:ext>
              </a:extLst>
            </p:cNvPr>
            <p:cNvSpPr/>
            <p:nvPr/>
          </p:nvSpPr>
          <p:spPr>
            <a:xfrm>
              <a:off x="7083074" y="4494956"/>
              <a:ext cx="800103" cy="5130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code &amp; state </a:t>
              </a:r>
            </a:p>
          </p:txBody>
        </p:sp>
        <p:sp>
          <p:nvSpPr>
            <p:cNvPr id="27" name="Rectangle 34">
              <a:extLst>
                <a:ext uri="{FF2B5EF4-FFF2-40B4-BE49-F238E27FC236}">
                  <a16:creationId xmlns:a16="http://schemas.microsoft.com/office/drawing/2014/main" xmlns="" id="{DB5C812B-32AC-473C-A72C-335395E57E20}"/>
                </a:ext>
              </a:extLst>
            </p:cNvPr>
            <p:cNvSpPr/>
            <p:nvPr/>
          </p:nvSpPr>
          <p:spPr>
            <a:xfrm>
              <a:off x="6873525" y="3635019"/>
              <a:ext cx="1219200" cy="1775181"/>
            </a:xfrm>
            <a:prstGeom prst="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b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Container</a:t>
              </a:r>
            </a:p>
          </p:txBody>
        </p:sp>
      </p:grpSp>
      <p:cxnSp>
        <p:nvCxnSpPr>
          <p:cNvPr id="28" name="Straight Arrow Connector 43">
            <a:extLst>
              <a:ext uri="{FF2B5EF4-FFF2-40B4-BE49-F238E27FC236}">
                <a16:creationId xmlns:a16="http://schemas.microsoft.com/office/drawing/2014/main" xmlns="" id="{26AE2E69-AE49-434A-919E-F671D3557BBB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2844284" y="4316938"/>
            <a:ext cx="0" cy="543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5C6DFDA-CCD5-4E4D-BB5D-B508C019CC5A}"/>
              </a:ext>
            </a:extLst>
          </p:cNvPr>
          <p:cNvSpPr txBox="1"/>
          <p:nvPr/>
        </p:nvSpPr>
        <p:spPr>
          <a:xfrm>
            <a:off x="5369789" y="2345277"/>
            <a:ext cx="4168181" cy="338554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Реализует клиентское </a:t>
            </a:r>
            <a:r>
              <a:rPr lang="en-US" sz="1600" dirty="0" smtClean="0"/>
              <a:t>API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6AB5B9D-2F86-4D2D-8381-62B11AB56A5F}"/>
              </a:ext>
            </a:extLst>
          </p:cNvPr>
          <p:cNvSpPr txBox="1"/>
          <p:nvPr/>
        </p:nvSpPr>
        <p:spPr>
          <a:xfrm>
            <a:off x="5369789" y="3445650"/>
            <a:ext cx="416818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1600" dirty="0" smtClean="0"/>
              <a:t>Запускает новые контейнеры </a:t>
            </a:r>
            <a:r>
              <a:rPr lang="en-US" sz="1600" b="1" dirty="0" err="1" smtClean="0">
                <a:solidFill>
                  <a:srgbClr val="720D1A"/>
                </a:solidFill>
              </a:rPr>
              <a:t>runc</a:t>
            </a:r>
            <a:endParaRPr lang="en-US" sz="1600" b="1" dirty="0">
              <a:solidFill>
                <a:srgbClr val="720D1A"/>
              </a:solidFill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1600" dirty="0" smtClean="0"/>
              <a:t>Следит за контейнерами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2063CBF5-8103-45BB-A4BA-D8554E698F76}"/>
              </a:ext>
            </a:extLst>
          </p:cNvPr>
          <p:cNvSpPr txBox="1"/>
          <p:nvPr/>
        </p:nvSpPr>
        <p:spPr>
          <a:xfrm>
            <a:off x="5369789" y="4672889"/>
            <a:ext cx="4168182" cy="1815882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720D1A"/>
                </a:solidFill>
              </a:rPr>
              <a:t>runc</a:t>
            </a:r>
            <a:r>
              <a:rPr lang="en-US" sz="1600" b="1" dirty="0">
                <a:solidFill>
                  <a:srgbClr val="720D1A"/>
                </a:solidFill>
              </a:rPr>
              <a:t> </a:t>
            </a:r>
            <a:r>
              <a:rPr lang="ru-RU" sz="1600" dirty="0" smtClean="0"/>
              <a:t>считывает конфигурацию образа</a:t>
            </a:r>
            <a:endParaRPr lang="en-US" sz="160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1600" dirty="0" err="1" smtClean="0"/>
              <a:t>Иницализирует</a:t>
            </a:r>
            <a:r>
              <a:rPr lang="ru-RU" sz="1600" dirty="0" smtClean="0"/>
              <a:t> окружение контейнера</a:t>
            </a:r>
            <a:r>
              <a:rPr lang="en-US" sz="1600" dirty="0" smtClean="0"/>
              <a:t>: </a:t>
            </a:r>
            <a:r>
              <a:rPr lang="en-US" sz="1600" dirty="0"/>
              <a:t>namespaces, </a:t>
            </a:r>
            <a:r>
              <a:rPr lang="en-US" sz="1600" b="1" dirty="0">
                <a:solidFill>
                  <a:srgbClr val="720D1A"/>
                </a:solidFill>
              </a:rPr>
              <a:t>cgroups</a:t>
            </a:r>
            <a:r>
              <a:rPr lang="en-US" sz="1600" dirty="0"/>
              <a:t>, network (covered later), </a:t>
            </a:r>
            <a:r>
              <a:rPr lang="ru-RU" sz="1600" dirty="0" err="1" smtClean="0"/>
              <a:t>пр</a:t>
            </a:r>
            <a:r>
              <a:rPr lang="en-US" sz="1600" dirty="0" smtClean="0"/>
              <a:t>.</a:t>
            </a:r>
            <a:endParaRPr lang="en-US" sz="160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1600" dirty="0" smtClean="0"/>
              <a:t>Создает </a:t>
            </a:r>
            <a:r>
              <a:rPr lang="en-US" sz="1600" dirty="0" smtClean="0"/>
              <a:t>shi</a:t>
            </a:r>
            <a:r>
              <a:rPr lang="en-US" sz="1600" dirty="0" smtClean="0"/>
              <a:t>m </a:t>
            </a:r>
            <a:r>
              <a:rPr lang="ru-RU" sz="1600" dirty="0" smtClean="0"/>
              <a:t>компонент</a:t>
            </a:r>
            <a:endParaRPr lang="en-US" sz="160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sz="1600" dirty="0" smtClean="0"/>
              <a:t>Загружает процесс контейнера и его состояние</a:t>
            </a:r>
            <a:endParaRPr lang="en-US" sz="1600" dirty="0"/>
          </a:p>
        </p:txBody>
      </p:sp>
      <p:cxnSp>
        <p:nvCxnSpPr>
          <p:cNvPr id="35" name="Соединительная линия уступом 34"/>
          <p:cNvCxnSpPr>
            <a:stCxn id="29" idx="1"/>
            <a:endCxn id="20" idx="3"/>
          </p:cNvCxnSpPr>
          <p:nvPr/>
        </p:nvCxnSpPr>
        <p:spPr>
          <a:xfrm rot="10800000" flipV="1">
            <a:off x="3704933" y="2514553"/>
            <a:ext cx="1664857" cy="38072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38"/>
          <p:cNvCxnSpPr>
            <a:stCxn id="31" idx="1"/>
            <a:endCxn id="18" idx="3"/>
          </p:cNvCxnSpPr>
          <p:nvPr/>
        </p:nvCxnSpPr>
        <p:spPr>
          <a:xfrm rot="10800000" flipV="1">
            <a:off x="4001003" y="3738038"/>
            <a:ext cx="1368787" cy="2923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ная линия уступом 40"/>
          <p:cNvCxnSpPr>
            <a:stCxn id="33" idx="1"/>
          </p:cNvCxnSpPr>
          <p:nvPr/>
        </p:nvCxnSpPr>
        <p:spPr>
          <a:xfrm rot="10800000">
            <a:off x="3453883" y="5013226"/>
            <a:ext cx="1915906" cy="56760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7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 smtClean="0">
                <a:latin typeface="Verdana"/>
                <a:ea typeface="Verdana"/>
              </a:rPr>
              <a:t>Архитектура </a:t>
            </a:r>
            <a:r>
              <a:rPr lang="en-US" sz="2200" b="1" spc="-1" dirty="0" err="1" smtClean="0">
                <a:latin typeface="Verdana"/>
                <a:ea typeface="Verdana"/>
              </a:rPr>
              <a:t>docker</a:t>
            </a:r>
            <a:endParaRPr lang="ru-RU" sz="2200" b="0" strike="noStrike" spc="-1" dirty="0">
              <a:latin typeface="Verdana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xmlns="" id="{153C676B-599A-4833-97F6-29986D651FEA}"/>
              </a:ext>
            </a:extLst>
          </p:cNvPr>
          <p:cNvSpPr/>
          <p:nvPr/>
        </p:nvSpPr>
        <p:spPr>
          <a:xfrm>
            <a:off x="857250" y="1094012"/>
            <a:ext cx="1257300" cy="5651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Client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xmlns="" id="{F41AE114-6EEC-4456-ADD6-69398C8E817D}"/>
              </a:ext>
            </a:extLst>
          </p:cNvPr>
          <p:cNvSpPr/>
          <p:nvPr/>
        </p:nvSpPr>
        <p:spPr>
          <a:xfrm>
            <a:off x="857250" y="2237011"/>
            <a:ext cx="4381498" cy="44987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Docker Server</a:t>
            </a:r>
          </a:p>
        </p:txBody>
      </p:sp>
      <p:cxnSp>
        <p:nvCxnSpPr>
          <p:cNvPr id="36" name="Straight Arrow Connector 8">
            <a:extLst>
              <a:ext uri="{FF2B5EF4-FFF2-40B4-BE49-F238E27FC236}">
                <a16:creationId xmlns:a16="http://schemas.microsoft.com/office/drawing/2014/main" xmlns="" id="{3CB43D95-CABA-481F-8927-7F11E48E6B62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1485900" y="1659162"/>
            <a:ext cx="0" cy="8094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7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DCEC03B0-945E-4189-93ED-A0FF1DC7DD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192" y="3709641"/>
            <a:ext cx="2313437" cy="5730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38" name="Group 18">
            <a:extLst>
              <a:ext uri="{FF2B5EF4-FFF2-40B4-BE49-F238E27FC236}">
                <a16:creationId xmlns:a16="http://schemas.microsoft.com/office/drawing/2014/main" xmlns="" id="{A59E55A5-3CBF-4E79-ACD3-8175CA66EBEC}"/>
              </a:ext>
            </a:extLst>
          </p:cNvPr>
          <p:cNvGrpSpPr/>
          <p:nvPr/>
        </p:nvGrpSpPr>
        <p:grpSpPr>
          <a:xfrm>
            <a:off x="1105026" y="2468609"/>
            <a:ext cx="2815533" cy="784792"/>
            <a:chOff x="1544982" y="2973882"/>
            <a:chExt cx="2815533" cy="784792"/>
          </a:xfrm>
        </p:grpSpPr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xmlns="" id="{1902FCAB-6473-4DD7-8B63-501888EC59E9}"/>
                </a:ext>
              </a:extLst>
            </p:cNvPr>
            <p:cNvSpPr/>
            <p:nvPr/>
          </p:nvSpPr>
          <p:spPr>
            <a:xfrm>
              <a:off x="1544982" y="2973882"/>
              <a:ext cx="2815533" cy="78479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dirty="0"/>
                <a:t>Docker Daemon</a:t>
              </a:r>
            </a:p>
          </p:txBody>
        </p:sp>
        <p:pic>
          <p:nvPicPr>
            <p:cNvPr id="42" name="Picture 17" descr="Icon&#10;&#10;Description automatically generated">
              <a:extLst>
                <a:ext uri="{FF2B5EF4-FFF2-40B4-BE49-F238E27FC236}">
                  <a16:creationId xmlns:a16="http://schemas.microsoft.com/office/drawing/2014/main" xmlns="" id="{658BF80A-47CB-4203-8380-942EC5CE4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0229" y="3036566"/>
              <a:ext cx="880572" cy="631492"/>
            </a:xfrm>
            <a:prstGeom prst="rect">
              <a:avLst/>
            </a:prstGeom>
          </p:spPr>
        </p:pic>
      </p:grpSp>
      <p:cxnSp>
        <p:nvCxnSpPr>
          <p:cNvPr id="43" name="Straight Arrow Connector 24">
            <a:extLst>
              <a:ext uri="{FF2B5EF4-FFF2-40B4-BE49-F238E27FC236}">
                <a16:creationId xmlns:a16="http://schemas.microsoft.com/office/drawing/2014/main" xmlns="" id="{55A42E94-1CD5-4321-A677-39906FED4FFE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059910" y="3237169"/>
            <a:ext cx="1" cy="472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4" name="Group 28">
            <a:extLst>
              <a:ext uri="{FF2B5EF4-FFF2-40B4-BE49-F238E27FC236}">
                <a16:creationId xmlns:a16="http://schemas.microsoft.com/office/drawing/2014/main" xmlns="" id="{AA20F93D-4F7A-4901-9D2F-FDC16281ACA3}"/>
              </a:ext>
            </a:extLst>
          </p:cNvPr>
          <p:cNvGrpSpPr/>
          <p:nvPr/>
        </p:nvGrpSpPr>
        <p:grpSpPr>
          <a:xfrm>
            <a:off x="1009650" y="4627402"/>
            <a:ext cx="1219200" cy="1775181"/>
            <a:chOff x="6873525" y="3635019"/>
            <a:chExt cx="1219200" cy="1775181"/>
          </a:xfrm>
        </p:grpSpPr>
        <p:sp>
          <p:nvSpPr>
            <p:cNvPr id="45" name="Rectangle 20">
              <a:extLst>
                <a:ext uri="{FF2B5EF4-FFF2-40B4-BE49-F238E27FC236}">
                  <a16:creationId xmlns:a16="http://schemas.microsoft.com/office/drawing/2014/main" xmlns="" id="{81420FCA-B4C4-4C36-9633-E1EAFAAEBFDC}"/>
                </a:ext>
              </a:extLst>
            </p:cNvPr>
            <p:cNvSpPr/>
            <p:nvPr/>
          </p:nvSpPr>
          <p:spPr>
            <a:xfrm>
              <a:off x="7083074" y="4156031"/>
              <a:ext cx="800103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shim</a:t>
              </a:r>
            </a:p>
          </p:txBody>
        </p:sp>
        <p:sp>
          <p:nvSpPr>
            <p:cNvPr id="46" name="Rectangle 21">
              <a:extLst>
                <a:ext uri="{FF2B5EF4-FFF2-40B4-BE49-F238E27FC236}">
                  <a16:creationId xmlns:a16="http://schemas.microsoft.com/office/drawing/2014/main" xmlns="" id="{6BD55034-69FD-47AC-8A74-B28573426752}"/>
                </a:ext>
              </a:extLst>
            </p:cNvPr>
            <p:cNvSpPr/>
            <p:nvPr/>
          </p:nvSpPr>
          <p:spPr>
            <a:xfrm>
              <a:off x="7083074" y="4494956"/>
              <a:ext cx="800103" cy="5130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code &amp; state </a:t>
              </a:r>
            </a:p>
          </p:txBody>
        </p:sp>
        <p:sp>
          <p:nvSpPr>
            <p:cNvPr id="47" name="Rectangle 27">
              <a:extLst>
                <a:ext uri="{FF2B5EF4-FFF2-40B4-BE49-F238E27FC236}">
                  <a16:creationId xmlns:a16="http://schemas.microsoft.com/office/drawing/2014/main" xmlns="" id="{8BB4D677-C6C0-4C84-81FF-0246F5933D4D}"/>
                </a:ext>
              </a:extLst>
            </p:cNvPr>
            <p:cNvSpPr/>
            <p:nvPr/>
          </p:nvSpPr>
          <p:spPr>
            <a:xfrm>
              <a:off x="6873525" y="3635019"/>
              <a:ext cx="1219200" cy="1775181"/>
            </a:xfrm>
            <a:prstGeom prst="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b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Container</a:t>
              </a:r>
            </a:p>
          </p:txBody>
        </p:sp>
      </p:grpSp>
      <p:grpSp>
        <p:nvGrpSpPr>
          <p:cNvPr id="48" name="Group 30">
            <a:extLst>
              <a:ext uri="{FF2B5EF4-FFF2-40B4-BE49-F238E27FC236}">
                <a16:creationId xmlns:a16="http://schemas.microsoft.com/office/drawing/2014/main" xmlns="" id="{5B9B85A7-7C85-4E0D-9CA1-B8D9A539B123}"/>
              </a:ext>
            </a:extLst>
          </p:cNvPr>
          <p:cNvGrpSpPr/>
          <p:nvPr/>
        </p:nvGrpSpPr>
        <p:grpSpPr>
          <a:xfrm>
            <a:off x="2450310" y="4627401"/>
            <a:ext cx="1219200" cy="1775181"/>
            <a:chOff x="6873525" y="3635019"/>
            <a:chExt cx="1219200" cy="1775181"/>
          </a:xfrm>
        </p:grpSpPr>
        <p:sp>
          <p:nvSpPr>
            <p:cNvPr id="49" name="Rectangle 32">
              <a:extLst>
                <a:ext uri="{FF2B5EF4-FFF2-40B4-BE49-F238E27FC236}">
                  <a16:creationId xmlns:a16="http://schemas.microsoft.com/office/drawing/2014/main" xmlns="" id="{29E66364-14C2-40E2-BB15-D7BF631C2360}"/>
                </a:ext>
              </a:extLst>
            </p:cNvPr>
            <p:cNvSpPr/>
            <p:nvPr/>
          </p:nvSpPr>
          <p:spPr>
            <a:xfrm>
              <a:off x="7083074" y="4156031"/>
              <a:ext cx="800103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shim</a:t>
              </a:r>
            </a:p>
          </p:txBody>
        </p:sp>
        <p:sp>
          <p:nvSpPr>
            <p:cNvPr id="50" name="Rectangle 33">
              <a:extLst>
                <a:ext uri="{FF2B5EF4-FFF2-40B4-BE49-F238E27FC236}">
                  <a16:creationId xmlns:a16="http://schemas.microsoft.com/office/drawing/2014/main" xmlns="" id="{6E66FA3B-8D50-48CE-8915-B04CF398B73D}"/>
                </a:ext>
              </a:extLst>
            </p:cNvPr>
            <p:cNvSpPr/>
            <p:nvPr/>
          </p:nvSpPr>
          <p:spPr>
            <a:xfrm>
              <a:off x="7083074" y="4494956"/>
              <a:ext cx="800103" cy="5130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code &amp; state </a:t>
              </a:r>
            </a:p>
          </p:txBody>
        </p:sp>
        <p:sp>
          <p:nvSpPr>
            <p:cNvPr id="51" name="Rectangle 34">
              <a:extLst>
                <a:ext uri="{FF2B5EF4-FFF2-40B4-BE49-F238E27FC236}">
                  <a16:creationId xmlns:a16="http://schemas.microsoft.com/office/drawing/2014/main" xmlns="" id="{DB5C812B-32AC-473C-A72C-335395E57E20}"/>
                </a:ext>
              </a:extLst>
            </p:cNvPr>
            <p:cNvSpPr/>
            <p:nvPr/>
          </p:nvSpPr>
          <p:spPr>
            <a:xfrm>
              <a:off x="6873525" y="3635019"/>
              <a:ext cx="1219200" cy="1775181"/>
            </a:xfrm>
            <a:prstGeom prst="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b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Container</a:t>
              </a:r>
            </a:p>
          </p:txBody>
        </p:sp>
      </p:grpSp>
      <p:grpSp>
        <p:nvGrpSpPr>
          <p:cNvPr id="52" name="Group 35">
            <a:extLst>
              <a:ext uri="{FF2B5EF4-FFF2-40B4-BE49-F238E27FC236}">
                <a16:creationId xmlns:a16="http://schemas.microsoft.com/office/drawing/2014/main" xmlns="" id="{99896E31-4ED1-421D-9C29-96CA767BAB28}"/>
              </a:ext>
            </a:extLst>
          </p:cNvPr>
          <p:cNvGrpSpPr/>
          <p:nvPr/>
        </p:nvGrpSpPr>
        <p:grpSpPr>
          <a:xfrm>
            <a:off x="3879059" y="4627400"/>
            <a:ext cx="1219200" cy="1775181"/>
            <a:chOff x="6873525" y="3635019"/>
            <a:chExt cx="1219200" cy="1775181"/>
          </a:xfrm>
        </p:grpSpPr>
        <p:sp>
          <p:nvSpPr>
            <p:cNvPr id="53" name="Rectangle 37">
              <a:extLst>
                <a:ext uri="{FF2B5EF4-FFF2-40B4-BE49-F238E27FC236}">
                  <a16:creationId xmlns:a16="http://schemas.microsoft.com/office/drawing/2014/main" xmlns="" id="{3536F617-0947-4CFA-B75B-E5E8D4A2F14D}"/>
                </a:ext>
              </a:extLst>
            </p:cNvPr>
            <p:cNvSpPr/>
            <p:nvPr/>
          </p:nvSpPr>
          <p:spPr>
            <a:xfrm>
              <a:off x="7083074" y="4156031"/>
              <a:ext cx="800103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shim</a:t>
              </a:r>
            </a:p>
          </p:txBody>
        </p:sp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xmlns="" id="{38CC3598-D294-4A2D-9058-A8249230B49C}"/>
                </a:ext>
              </a:extLst>
            </p:cNvPr>
            <p:cNvSpPr/>
            <p:nvPr/>
          </p:nvSpPr>
          <p:spPr>
            <a:xfrm>
              <a:off x="7083074" y="4494956"/>
              <a:ext cx="800103" cy="5130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code &amp; state </a:t>
              </a:r>
            </a:p>
          </p:txBody>
        </p:sp>
        <p:sp>
          <p:nvSpPr>
            <p:cNvPr id="55" name="Rectangle 39">
              <a:extLst>
                <a:ext uri="{FF2B5EF4-FFF2-40B4-BE49-F238E27FC236}">
                  <a16:creationId xmlns:a16="http://schemas.microsoft.com/office/drawing/2014/main" xmlns="" id="{A48B1F73-04BB-4A97-A5E1-6D8AB3BB9C3F}"/>
                </a:ext>
              </a:extLst>
            </p:cNvPr>
            <p:cNvSpPr/>
            <p:nvPr/>
          </p:nvSpPr>
          <p:spPr>
            <a:xfrm>
              <a:off x="6873525" y="3635019"/>
              <a:ext cx="1219200" cy="1775181"/>
            </a:xfrm>
            <a:prstGeom prst="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b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Container</a:t>
              </a:r>
            </a:p>
          </p:txBody>
        </p:sp>
      </p:grpSp>
      <p:cxnSp>
        <p:nvCxnSpPr>
          <p:cNvPr id="56" name="Straight Arrow Connector 40">
            <a:extLst>
              <a:ext uri="{FF2B5EF4-FFF2-40B4-BE49-F238E27FC236}">
                <a16:creationId xmlns:a16="http://schemas.microsoft.com/office/drawing/2014/main" xmlns="" id="{9C8B525C-6665-4B63-A4F8-8ADF1D1E58E1}"/>
              </a:ext>
            </a:extLst>
          </p:cNvPr>
          <p:cNvCxnSpPr>
            <a:cxnSpLocks/>
            <a:stCxn id="37" idx="2"/>
            <a:endCxn id="45" idx="0"/>
          </p:cNvCxnSpPr>
          <p:nvPr/>
        </p:nvCxnSpPr>
        <p:spPr>
          <a:xfrm flipH="1">
            <a:off x="1619251" y="4282666"/>
            <a:ext cx="1440660" cy="865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43">
            <a:extLst>
              <a:ext uri="{FF2B5EF4-FFF2-40B4-BE49-F238E27FC236}">
                <a16:creationId xmlns:a16="http://schemas.microsoft.com/office/drawing/2014/main" xmlns="" id="{26AE2E69-AE49-434A-919E-F671D3557BBB}"/>
              </a:ext>
            </a:extLst>
          </p:cNvPr>
          <p:cNvCxnSpPr>
            <a:cxnSpLocks/>
            <a:stCxn id="37" idx="2"/>
            <a:endCxn id="49" idx="0"/>
          </p:cNvCxnSpPr>
          <p:nvPr/>
        </p:nvCxnSpPr>
        <p:spPr>
          <a:xfrm>
            <a:off x="3059911" y="4282666"/>
            <a:ext cx="0" cy="8657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47">
            <a:extLst>
              <a:ext uri="{FF2B5EF4-FFF2-40B4-BE49-F238E27FC236}">
                <a16:creationId xmlns:a16="http://schemas.microsoft.com/office/drawing/2014/main" xmlns="" id="{8D87A4E3-15FB-4F86-A61D-903C88ABD229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>
            <a:off x="3059911" y="4282666"/>
            <a:ext cx="1428749" cy="8657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64128B50-5B34-45A2-9F17-00FF2BA32E21}"/>
              </a:ext>
            </a:extLst>
          </p:cNvPr>
          <p:cNvSpPr txBox="1"/>
          <p:nvPr/>
        </p:nvSpPr>
        <p:spPr>
          <a:xfrm>
            <a:off x="5545203" y="3845840"/>
            <a:ext cx="4168182" cy="2031325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20D1A"/>
                </a:solidFill>
              </a:rPr>
              <a:t>containerd</a:t>
            </a:r>
            <a:r>
              <a:rPr lang="en-US" dirty="0"/>
              <a:t> </a:t>
            </a:r>
            <a:r>
              <a:rPr lang="ru-RU" dirty="0" smtClean="0"/>
              <a:t>клонирует </a:t>
            </a:r>
            <a:r>
              <a:rPr lang="en-US" b="1" dirty="0" err="1" smtClean="0">
                <a:solidFill>
                  <a:srgbClr val="720D1A"/>
                </a:solidFill>
              </a:rPr>
              <a:t>runc</a:t>
            </a:r>
            <a:r>
              <a:rPr lang="en-US" dirty="0" smtClean="0"/>
              <a:t> </a:t>
            </a:r>
            <a:r>
              <a:rPr lang="ru-RU" dirty="0" smtClean="0"/>
              <a:t>для каждого создаваемого контейнера</a:t>
            </a:r>
            <a:endParaRPr lang="en-US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720D1A"/>
                </a:solidFill>
              </a:rPr>
              <a:t>shim</a:t>
            </a:r>
            <a:r>
              <a:rPr lang="en-US" dirty="0" smtClean="0"/>
              <a:t> </a:t>
            </a:r>
            <a:r>
              <a:rPr lang="ru-RU" dirty="0" smtClean="0"/>
              <a:t>реализует взаимодействие контейнера с </a:t>
            </a:r>
            <a:r>
              <a:rPr lang="en-US" b="1" dirty="0" err="1" smtClean="0">
                <a:solidFill>
                  <a:srgbClr val="720D1A"/>
                </a:solidFill>
              </a:rPr>
              <a:t>containerd</a:t>
            </a:r>
            <a:endParaRPr lang="en-US" b="1" dirty="0">
              <a:solidFill>
                <a:srgbClr val="720D1A"/>
              </a:solidFill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ru-RU" dirty="0" smtClean="0"/>
              <a:t>Позволяет контейнеру оставаться запущенным даже когда демон перезапускается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42D0BF72-EC10-4125-999F-C1AA6AE74731}"/>
              </a:ext>
            </a:extLst>
          </p:cNvPr>
          <p:cNvSpPr txBox="1"/>
          <p:nvPr/>
        </p:nvSpPr>
        <p:spPr>
          <a:xfrm>
            <a:off x="5545203" y="3035562"/>
            <a:ext cx="4168182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Отслеживает состояние контейнеров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B5C6DFDA-CCD5-4E4D-BB5D-B508C019CC5A}"/>
              </a:ext>
            </a:extLst>
          </p:cNvPr>
          <p:cNvSpPr txBox="1"/>
          <p:nvPr/>
        </p:nvSpPr>
        <p:spPr>
          <a:xfrm>
            <a:off x="5545204" y="2223794"/>
            <a:ext cx="4168181" cy="338554"/>
          </a:xfrm>
          <a:prstGeom prst="rect">
            <a:avLst/>
          </a:prstGeom>
          <a:solidFill>
            <a:schemeClr val="bg1"/>
          </a:solidFill>
          <a:ln w="19050">
            <a:solidFill>
              <a:srgbClr val="720D1A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Реализует клиентское </a:t>
            </a:r>
            <a:r>
              <a:rPr lang="en-US" sz="1600" dirty="0" smtClean="0"/>
              <a:t>API</a:t>
            </a:r>
            <a:endParaRPr lang="en-US" sz="1600" dirty="0"/>
          </a:p>
        </p:txBody>
      </p:sp>
      <p:cxnSp>
        <p:nvCxnSpPr>
          <p:cNvPr id="3" name="Соединительная линия уступом 2"/>
          <p:cNvCxnSpPr>
            <a:stCxn id="65" idx="1"/>
            <a:endCxn id="40" idx="3"/>
          </p:cNvCxnSpPr>
          <p:nvPr/>
        </p:nvCxnSpPr>
        <p:spPr>
          <a:xfrm rot="10800000" flipV="1">
            <a:off x="3920560" y="2393071"/>
            <a:ext cx="1624645" cy="46793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ная линия уступом 4"/>
          <p:cNvCxnSpPr>
            <a:stCxn id="63" idx="1"/>
            <a:endCxn id="37" idx="3"/>
          </p:cNvCxnSpPr>
          <p:nvPr/>
        </p:nvCxnSpPr>
        <p:spPr>
          <a:xfrm rot="10800000" flipV="1">
            <a:off x="4216629" y="3220228"/>
            <a:ext cx="1328574" cy="77592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62" idx="1"/>
          </p:cNvCxnSpPr>
          <p:nvPr/>
        </p:nvCxnSpPr>
        <p:spPr>
          <a:xfrm rot="10800000" flipV="1">
            <a:off x="4922107" y="4861503"/>
            <a:ext cx="623097" cy="43930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60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pc="-1" dirty="0" smtClean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Структура гипервизора </a:t>
            </a:r>
            <a:r>
              <a:rPr lang="en-US" sz="2200" b="1" spc="-1" dirty="0" err="1" smtClean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docker</a:t>
            </a:r>
            <a:endParaRPr lang="ru-RU" sz="2200" b="0" strike="noStrike" spc="-1" dirty="0">
              <a:solidFill>
                <a:schemeClr val="accent1">
                  <a:lumMod val="50000"/>
                </a:schemeClr>
              </a:solidFill>
              <a:latin typeface="Verdana"/>
            </a:endParaRPr>
          </a:p>
        </p:txBody>
      </p:sp>
      <p:sp>
        <p:nvSpPr>
          <p:cNvPr id="33" name="Shape 125"/>
          <p:cNvSpPr/>
          <p:nvPr/>
        </p:nvSpPr>
        <p:spPr>
          <a:xfrm>
            <a:off x="1728122" y="4511271"/>
            <a:ext cx="1595400" cy="647700"/>
          </a:xfrm>
          <a:prstGeom prst="rect">
            <a:avLst/>
          </a:prstGeom>
          <a:solidFill>
            <a:srgbClr val="4A86E8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Exec Driver</a:t>
            </a:r>
          </a:p>
        </p:txBody>
      </p:sp>
      <p:sp>
        <p:nvSpPr>
          <p:cNvPr id="35" name="Shape 126"/>
          <p:cNvSpPr/>
          <p:nvPr/>
        </p:nvSpPr>
        <p:spPr>
          <a:xfrm>
            <a:off x="6205722" y="4511271"/>
            <a:ext cx="1595400" cy="6477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Graph Driver</a:t>
            </a:r>
          </a:p>
        </p:txBody>
      </p:sp>
      <p:sp>
        <p:nvSpPr>
          <p:cNvPr id="39" name="Shape 127"/>
          <p:cNvSpPr/>
          <p:nvPr/>
        </p:nvSpPr>
        <p:spPr>
          <a:xfrm>
            <a:off x="3966922" y="4511271"/>
            <a:ext cx="1595400" cy="647700"/>
          </a:xfrm>
          <a:prstGeom prst="rect">
            <a:avLst/>
          </a:prstGeom>
          <a:solidFill>
            <a:srgbClr val="F1C232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Network Driver</a:t>
            </a:r>
          </a:p>
        </p:txBody>
      </p:sp>
      <p:sp>
        <p:nvSpPr>
          <p:cNvPr id="41" name="Shape 128"/>
          <p:cNvSpPr/>
          <p:nvPr/>
        </p:nvSpPr>
        <p:spPr>
          <a:xfrm>
            <a:off x="3966922" y="3364121"/>
            <a:ext cx="1595400" cy="647700"/>
          </a:xfrm>
          <a:prstGeom prst="rect">
            <a:avLst/>
          </a:prstGeom>
          <a:solidFill>
            <a:srgbClr val="E06666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Docker Daemon</a:t>
            </a:r>
          </a:p>
        </p:txBody>
      </p:sp>
      <p:sp>
        <p:nvSpPr>
          <p:cNvPr id="59" name="Shape 129"/>
          <p:cNvSpPr/>
          <p:nvPr/>
        </p:nvSpPr>
        <p:spPr>
          <a:xfrm>
            <a:off x="966122" y="5654271"/>
            <a:ext cx="1121700" cy="647700"/>
          </a:xfrm>
          <a:prstGeom prst="rect">
            <a:avLst/>
          </a:prstGeom>
          <a:solidFill>
            <a:srgbClr val="4A86E8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LXC</a:t>
            </a:r>
          </a:p>
        </p:txBody>
      </p:sp>
      <p:sp>
        <p:nvSpPr>
          <p:cNvPr id="60" name="Shape 130"/>
          <p:cNvSpPr/>
          <p:nvPr/>
        </p:nvSpPr>
        <p:spPr>
          <a:xfrm>
            <a:off x="2413922" y="5654271"/>
            <a:ext cx="1121700" cy="647700"/>
          </a:xfrm>
          <a:prstGeom prst="rect">
            <a:avLst/>
          </a:prstGeom>
          <a:solidFill>
            <a:srgbClr val="4A86E8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Native</a:t>
            </a:r>
          </a:p>
        </p:txBody>
      </p:sp>
      <p:sp>
        <p:nvSpPr>
          <p:cNvPr id="61" name="Shape 131"/>
          <p:cNvSpPr/>
          <p:nvPr/>
        </p:nvSpPr>
        <p:spPr>
          <a:xfrm>
            <a:off x="5138922" y="5578071"/>
            <a:ext cx="980400" cy="6477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AUFS</a:t>
            </a:r>
          </a:p>
        </p:txBody>
      </p:sp>
      <p:sp>
        <p:nvSpPr>
          <p:cNvPr id="64" name="Shape 132"/>
          <p:cNvSpPr/>
          <p:nvPr/>
        </p:nvSpPr>
        <p:spPr>
          <a:xfrm>
            <a:off x="6434322" y="5578071"/>
            <a:ext cx="980400" cy="6477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BTRFS</a:t>
            </a:r>
          </a:p>
        </p:txBody>
      </p:sp>
      <p:sp>
        <p:nvSpPr>
          <p:cNvPr id="66" name="Shape 133"/>
          <p:cNvSpPr/>
          <p:nvPr/>
        </p:nvSpPr>
        <p:spPr>
          <a:xfrm>
            <a:off x="7805922" y="5578071"/>
            <a:ext cx="1744478" cy="647700"/>
          </a:xfrm>
          <a:prstGeom prst="rect">
            <a:avLst/>
          </a:prstGeom>
          <a:solidFill>
            <a:srgbClr val="6AA84F"/>
          </a:solidFill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DevMapper</a:t>
            </a:r>
          </a:p>
        </p:txBody>
      </p:sp>
      <p:cxnSp>
        <p:nvCxnSpPr>
          <p:cNvPr id="67" name="Shape 134"/>
          <p:cNvCxnSpPr>
            <a:stCxn id="41" idx="2"/>
            <a:endCxn id="39" idx="0"/>
          </p:cNvCxnSpPr>
          <p:nvPr/>
        </p:nvCxnSpPr>
        <p:spPr>
          <a:xfrm>
            <a:off x="4764622" y="4011821"/>
            <a:ext cx="0" cy="49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8" name="Shape 135"/>
          <p:cNvCxnSpPr>
            <a:endCxn id="33" idx="0"/>
          </p:cNvCxnSpPr>
          <p:nvPr/>
        </p:nvCxnSpPr>
        <p:spPr>
          <a:xfrm flipH="1">
            <a:off x="2525822" y="4011771"/>
            <a:ext cx="2238900" cy="49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9" name="Shape 136"/>
          <p:cNvCxnSpPr>
            <a:stCxn id="41" idx="2"/>
            <a:endCxn id="35" idx="0"/>
          </p:cNvCxnSpPr>
          <p:nvPr/>
        </p:nvCxnSpPr>
        <p:spPr>
          <a:xfrm>
            <a:off x="4764622" y="4011821"/>
            <a:ext cx="2238900" cy="49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0" name="Shape 137"/>
          <p:cNvCxnSpPr>
            <a:stCxn id="33" idx="2"/>
            <a:endCxn id="59" idx="0"/>
          </p:cNvCxnSpPr>
          <p:nvPr/>
        </p:nvCxnSpPr>
        <p:spPr>
          <a:xfrm flipH="1">
            <a:off x="1527122" y="5158971"/>
            <a:ext cx="998700" cy="49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1" name="Shape 138"/>
          <p:cNvCxnSpPr>
            <a:endCxn id="60" idx="0"/>
          </p:cNvCxnSpPr>
          <p:nvPr/>
        </p:nvCxnSpPr>
        <p:spPr>
          <a:xfrm>
            <a:off x="2561672" y="5172171"/>
            <a:ext cx="413100" cy="48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2" name="Shape 139"/>
          <p:cNvCxnSpPr>
            <a:stCxn id="35" idx="2"/>
            <a:endCxn id="61" idx="0"/>
          </p:cNvCxnSpPr>
          <p:nvPr/>
        </p:nvCxnSpPr>
        <p:spPr>
          <a:xfrm flipH="1">
            <a:off x="5629122" y="5158971"/>
            <a:ext cx="1374300" cy="419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3" name="Shape 140"/>
          <p:cNvCxnSpPr>
            <a:stCxn id="35" idx="2"/>
            <a:endCxn id="64" idx="0"/>
          </p:cNvCxnSpPr>
          <p:nvPr/>
        </p:nvCxnSpPr>
        <p:spPr>
          <a:xfrm flipH="1">
            <a:off x="6924522" y="5158971"/>
            <a:ext cx="78900" cy="419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4" name="Shape 141"/>
          <p:cNvCxnSpPr>
            <a:stCxn id="35" idx="2"/>
            <a:endCxn id="66" idx="0"/>
          </p:cNvCxnSpPr>
          <p:nvPr/>
        </p:nvCxnSpPr>
        <p:spPr>
          <a:xfrm>
            <a:off x="7003422" y="5158971"/>
            <a:ext cx="1674739" cy="419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" name="TextBox 5"/>
          <p:cNvSpPr txBox="1"/>
          <p:nvPr/>
        </p:nvSpPr>
        <p:spPr>
          <a:xfrm>
            <a:off x="428770" y="1083734"/>
            <a:ext cx="91442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 err="1"/>
              <a:t>Docker</a:t>
            </a:r>
            <a:r>
              <a:rPr lang="ru-RU" b="1" dirty="0"/>
              <a:t> </a:t>
            </a:r>
            <a:r>
              <a:rPr lang="ru-RU" b="1" dirty="0" err="1"/>
              <a:t>Daemon</a:t>
            </a:r>
            <a:r>
              <a:rPr lang="ru-RU" dirty="0"/>
              <a:t> (</a:t>
            </a:r>
            <a:r>
              <a:rPr lang="ru-RU" dirty="0" err="1"/>
              <a:t>dockerd</a:t>
            </a:r>
            <a:r>
              <a:rPr lang="ru-RU" dirty="0"/>
              <a:t>) — это фоновый процесс, который управляет всей жизнью контейнеров на хосте: их созданием, запуском, остановкой и удалением. Для выполнения этих задач он использует несколько "драйверов" (модулей), каждый из которых отвечает за свою специфическую область.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29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</a:rPr>
              <a:t>Alpine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</a:rPr>
              <a:t>Linux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 — это </a:t>
            </a:r>
            <a:r>
              <a:rPr lang="ru-RU" sz="2400" dirty="0" err="1">
                <a:solidFill>
                  <a:schemeClr val="accent1">
                    <a:lumMod val="50000"/>
                  </a:schemeClr>
                </a:solidFill>
              </a:rPr>
              <a:t>минималистичный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 дистрибутив </a:t>
            </a:r>
            <a:r>
              <a:rPr lang="ru-RU" sz="2400" dirty="0" err="1" smtClean="0">
                <a:solidFill>
                  <a:schemeClr val="accent1">
                    <a:lumMod val="50000"/>
                  </a:schemeClr>
                </a:solidFill>
              </a:rPr>
              <a:t>Linux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42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51EFC801-8E78-4A1D-8E48-639F506E0EFE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3" name="TextShape 3"/>
          <p:cNvSpPr txBox="1"/>
          <p:nvPr/>
        </p:nvSpPr>
        <p:spPr>
          <a:xfrm>
            <a:off x="1095021" y="1466640"/>
            <a:ext cx="7986689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 smtClean="0"/>
              <a:t>Использует </a:t>
            </a:r>
            <a:r>
              <a:rPr lang="ru-RU" sz="2000" dirty="0"/>
              <a:t>легковесную библиотеку </a:t>
            </a:r>
            <a:r>
              <a:rPr lang="ru-RU" sz="2000" b="1" dirty="0" err="1"/>
              <a:t>musl</a:t>
            </a:r>
            <a:r>
              <a:rPr lang="ru-RU" sz="2000" b="1" dirty="0"/>
              <a:t> c</a:t>
            </a:r>
            <a:r>
              <a:rPr lang="ru-RU" sz="2000" dirty="0"/>
              <a:t> вместо </a:t>
            </a:r>
            <a:r>
              <a:rPr lang="ru-RU" sz="2000" b="1" dirty="0" err="1"/>
              <a:t>glibc</a:t>
            </a:r>
            <a:r>
              <a:rPr lang="ru-RU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Имеет минимальный набор </a:t>
            </a:r>
            <a:r>
              <a:rPr lang="ru-RU" sz="2000" dirty="0" err="1"/>
              <a:t>shell</a:t>
            </a:r>
            <a:r>
              <a:rPr lang="ru-RU" sz="2000" dirty="0"/>
              <a:t>-утилит.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Монтирует минимальный набор файлов и директорий для обеспечения взаимодействия с ядром </a:t>
            </a:r>
            <a:r>
              <a:rPr lang="ru-RU" sz="2000" dirty="0" err="1"/>
              <a:t>хостовой</a:t>
            </a:r>
            <a:r>
              <a:rPr lang="ru-RU" sz="2000" dirty="0"/>
              <a:t> системы </a:t>
            </a:r>
            <a:r>
              <a:rPr lang="ru-RU" sz="2000" dirty="0" err="1"/>
              <a:t>Linux</a:t>
            </a:r>
            <a:r>
              <a:rPr lang="ru-RU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Используется в качестве </a:t>
            </a:r>
            <a:r>
              <a:rPr lang="ru-RU" sz="2000" b="1" dirty="0"/>
              <a:t>базового производного слоя</a:t>
            </a:r>
            <a:r>
              <a:rPr lang="ru-RU" sz="2000" dirty="0"/>
              <a:t> для вашего образа.</a:t>
            </a:r>
          </a:p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1800" b="0" strike="noStrike" spc="-1" dirty="0"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78451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51EFC801-8E78-4A1D-8E48-639F506E0EFE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74203"/>
              </p:ext>
            </p:extLst>
          </p:nvPr>
        </p:nvGraphicFramePr>
        <p:xfrm>
          <a:off x="393165" y="553595"/>
          <a:ext cx="9383012" cy="58075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05241"/>
                <a:gridCol w="2459257"/>
                <a:gridCol w="2459257"/>
                <a:gridCol w="2459257"/>
              </a:tblGrid>
              <a:tr h="921957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Аспект</a:t>
                      </a:r>
                      <a:endParaRPr lang="ru-RU" sz="1400" b="1" dirty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Объединяющие ФС (</a:t>
                      </a:r>
                      <a:r>
                        <a:rPr lang="en-US" sz="1400" b="1" dirty="0">
                          <a:effectLst/>
                        </a:rPr>
                        <a:t>Union FS)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ФС со снимками (</a:t>
                      </a:r>
                      <a:r>
                        <a:rPr lang="en-US" sz="1400" b="1" dirty="0">
                          <a:effectLst/>
                        </a:rPr>
                        <a:t>Snapshotting FS)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Блочные устройства с записью при изменении (</a:t>
                      </a:r>
                      <a:r>
                        <a:rPr lang="ru-RU" sz="1400" b="1" dirty="0" err="1">
                          <a:effectLst/>
                        </a:rPr>
                        <a:t>Copy-on-write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block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devices</a:t>
                      </a:r>
                      <a:r>
                        <a:rPr lang="ru-RU" sz="1400" b="1" dirty="0">
                          <a:effectLst/>
                        </a:rPr>
                        <a:t>)</a:t>
                      </a:r>
                      <a:endParaRPr lang="ru-RU" sz="1400" b="1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</a:tr>
              <a:tr h="503116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Инициализация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Очень быстро / Очень дёшево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Быстро / Дёшево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Быстро / Дёшево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503116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Изменение мелких файлов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Очень быстро / Очень дёшево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Быстро / Дёшево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Быстро / Затратно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921957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Изменение крупных файлов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Медленно (в первый раз) / Неэффективно (копирование при изменении!)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Быстро / Дёшево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Быстро / Дёшево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503116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Сравнение изменений (</a:t>
                      </a:r>
                      <a:r>
                        <a:rPr lang="en-US" sz="1400">
                          <a:effectLst/>
                        </a:rPr>
                        <a:t>Diffing)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Очень быстро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Очень быстро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Медленно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503116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Использование памяти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Эффективно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Эффективно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Неэффективно (при высокой плотности)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921957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Недостатки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Случайные странности, AUFS не в основной ветке, IAUFS имеет больше странностей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ZFS не в основной ветке, BTRFS не так хороша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Высокое использование диска, Отличная производительность (кроме сравнения)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  <a:tr h="921957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Итог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1214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Идеально для PaaS и задач с высокой плотностью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Это будущее (вероятно)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8690" marR="68690" marT="42931" marB="42931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Мощное, но специализированное решение (как </a:t>
                      </a:r>
                      <a:r>
                        <a:rPr lang="ru-RU" sz="1400" dirty="0" err="1">
                          <a:effectLst/>
                        </a:rPr>
                        <a:t>Dodge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Ram</a:t>
                      </a:r>
                      <a:r>
                        <a:rPr lang="ru-RU" sz="1400" dirty="0">
                          <a:effectLst/>
                        </a:rPr>
                        <a:t> 3500)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8690" marR="41214" marT="42931" marB="4293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895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Что делает </a:t>
            </a:r>
            <a:r>
              <a:rPr lang="en-US" sz="2200" b="1" strike="noStrike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docker</a:t>
            </a:r>
            <a:r>
              <a:rPr lang="ru-RU" sz="2200" b="1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 при запуске образа</a:t>
            </a:r>
            <a:r>
              <a:rPr lang="ru-RU" sz="2200" b="1" strike="noStrike" spc="-1" dirty="0">
                <a:solidFill>
                  <a:schemeClr val="accent1">
                    <a:lumMod val="50000"/>
                  </a:schemeClr>
                </a:solidFill>
                <a:latin typeface="Verdana"/>
                <a:ea typeface="Verdana"/>
              </a:rPr>
              <a:t>?</a:t>
            </a:r>
            <a:endParaRPr lang="ru-RU" sz="2200" b="0" strike="noStrike" spc="-1" dirty="0">
              <a:solidFill>
                <a:schemeClr val="accent1">
                  <a:lumMod val="50000"/>
                </a:schemeClr>
              </a:solidFill>
              <a:latin typeface="Verdana"/>
            </a:endParaRPr>
          </a:p>
        </p:txBody>
      </p:sp>
      <p:sp>
        <p:nvSpPr>
          <p:cNvPr id="542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51EFC801-8E78-4A1D-8E48-639F506E0EFE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3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D0D0D"/>
                </a:solidFill>
                <a:latin typeface="Verdana"/>
                <a:ea typeface="Verdana"/>
              </a:rPr>
              <a:t>$ docker run --rm -p 8888:80 </a:t>
            </a:r>
            <a:r>
              <a:rPr lang="en-US" sz="1600" b="0" strike="noStrike" spc="-1" dirty="0" err="1">
                <a:solidFill>
                  <a:srgbClr val="0D0D0D"/>
                </a:solidFill>
                <a:latin typeface="Verdana"/>
                <a:ea typeface="Verdana"/>
              </a:rPr>
              <a:t>nginx</a:t>
            </a:r>
            <a:endParaRPr lang="ru-RU" sz="1600" b="0" strike="noStrike" spc="-1" dirty="0">
              <a:solidFill>
                <a:srgbClr val="000000"/>
              </a:solidFill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скачивает образ</a:t>
            </a:r>
            <a:endParaRPr lang="ru-RU" sz="1800" b="0" strike="noStrike" spc="-1" dirty="0"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создает контейнер</a:t>
            </a:r>
            <a:endParaRPr lang="ru-RU" sz="1800" b="0" strike="noStrike" spc="-1" dirty="0"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инициализирует файловую систему и монтирует </a:t>
            </a:r>
            <a:r>
              <a:rPr lang="en-US" sz="1800" b="1" strike="noStrike" spc="-1" dirty="0">
                <a:latin typeface="Verdana"/>
                <a:ea typeface="Verdana"/>
              </a:rPr>
              <a:t>read-only </a:t>
            </a:r>
            <a:r>
              <a:rPr lang="ru-RU" sz="1800" b="1" strike="noStrike" spc="-1" dirty="0">
                <a:latin typeface="Verdana"/>
                <a:ea typeface="Verdana"/>
              </a:rPr>
              <a:t>образ</a:t>
            </a:r>
            <a:endParaRPr lang="ru-RU" sz="1800" b="0" strike="noStrike" spc="-1" dirty="0"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инициализирует сеть/мост</a:t>
            </a:r>
            <a:endParaRPr lang="ru-RU" sz="1800" b="0" strike="noStrike" spc="-1" dirty="0"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запускает указанный процесс</a:t>
            </a:r>
            <a:endParaRPr lang="ru-RU" sz="1800" b="0" strike="noStrike" spc="-1" dirty="0">
              <a:latin typeface="Verdana"/>
            </a:endParaRPr>
          </a:p>
          <a:p>
            <a:pPr marL="285840" indent="-285480" algn="just">
              <a:lnSpc>
                <a:spcPct val="90000"/>
              </a:lnSpc>
              <a:spcBef>
                <a:spcPts val="1083"/>
              </a:spcBef>
              <a:buClr>
                <a:srgbClr val="EB603A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1" strike="noStrike" spc="-1" dirty="0">
                <a:latin typeface="Verdana"/>
                <a:ea typeface="Verdana"/>
              </a:rPr>
              <a:t>обрабатывает и выдает вывод приложения</a:t>
            </a:r>
            <a:endParaRPr lang="ru-RU" sz="1800" b="0" strike="noStrike" spc="-1" dirty="0"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8934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2888F1"/>
                </a:solidFill>
                <a:latin typeface="Verdana"/>
                <a:ea typeface="Verdana"/>
              </a:rPr>
              <a:t>Установка </a:t>
            </a:r>
            <a:r>
              <a:rPr lang="en-US" sz="2200" b="1" strike="noStrike" spc="-1">
                <a:solidFill>
                  <a:srgbClr val="2888F1"/>
                </a:solidFill>
                <a:latin typeface="Verdana"/>
                <a:ea typeface="Verdana"/>
              </a:rPr>
              <a:t>docker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19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EF315A84-6D95-4091-9822-F166D9FE0796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20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Verdana"/>
              </a:rPr>
              <a:t>$ docker –v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Verdana"/>
              </a:rPr>
              <a:t>Docker version 20.10.2, build 2291f61</a:t>
            </a:r>
            <a:endParaRPr lang="ru-RU" sz="20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808080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808080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Скачиваем скрипт установки </a:t>
            </a: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docker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curl </a:t>
            </a:r>
            <a:r>
              <a:rPr lang="en-US" sz="2000" b="0" strike="noStrike" spc="-1" dirty="0">
                <a:solidFill>
                  <a:srgbClr val="8B008B"/>
                </a:solidFill>
                <a:latin typeface="Verdana"/>
                <a:ea typeface="Verdana"/>
              </a:rPr>
              <a:t>-</a:t>
            </a:r>
            <a:r>
              <a:rPr lang="en-US" sz="2000" b="0" strike="noStrike" spc="-1" dirty="0" err="1">
                <a:solidFill>
                  <a:srgbClr val="8B008B"/>
                </a:solidFill>
                <a:latin typeface="Verdana"/>
                <a:ea typeface="Verdana"/>
              </a:rPr>
              <a:t>fsSL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https://</a:t>
            </a:r>
            <a:r>
              <a:rPr lang="en-US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get.docker.com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 dirty="0">
                <a:solidFill>
                  <a:srgbClr val="8B008B"/>
                </a:solidFill>
                <a:latin typeface="Verdana"/>
                <a:ea typeface="Verdana"/>
              </a:rPr>
              <a:t>-o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get-</a:t>
            </a:r>
            <a:r>
              <a:rPr lang="en-US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docker.sh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запускаем скрипт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658B00"/>
                </a:solidFill>
                <a:latin typeface="Verdana"/>
                <a:ea typeface="Verdana"/>
              </a:rPr>
              <a:t>sudo</a:t>
            </a:r>
            <a:r>
              <a:rPr lang="en-US" sz="2000" b="0" strike="noStrike" spc="-1" dirty="0">
                <a:solidFill>
                  <a:srgbClr val="658B00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sh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get-</a:t>
            </a:r>
            <a:r>
              <a:rPr lang="en-US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docker.sh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добавляем текущего пользователя в группу </a:t>
            </a: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docker (</a:t>
            </a:r>
            <a:r>
              <a:rPr lang="ru-RU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чтобы использовать команды без </a:t>
            </a:r>
            <a:r>
              <a:rPr lang="en-US" sz="2000" b="0" strike="noStrike" spc="-1" dirty="0" err="1">
                <a:solidFill>
                  <a:srgbClr val="808080"/>
                </a:solidFill>
                <a:latin typeface="Verdana"/>
                <a:ea typeface="Verdana"/>
              </a:rPr>
              <a:t>sudo</a:t>
            </a: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)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658B00"/>
                </a:solidFill>
                <a:latin typeface="Verdana"/>
                <a:ea typeface="Verdana"/>
              </a:rPr>
              <a:t>sudo</a:t>
            </a:r>
            <a:r>
              <a:rPr lang="en-US" sz="2000" b="0" strike="noStrike" spc="-1" dirty="0">
                <a:solidFill>
                  <a:srgbClr val="658B00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usermod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 dirty="0">
                <a:solidFill>
                  <a:srgbClr val="8B008B"/>
                </a:solidFill>
                <a:latin typeface="Verdana"/>
                <a:ea typeface="Verdana"/>
              </a:rPr>
              <a:t>-</a:t>
            </a:r>
            <a:r>
              <a:rPr lang="en-US" sz="2000" b="0" strike="noStrike" spc="-1" dirty="0" err="1">
                <a:solidFill>
                  <a:srgbClr val="8B008B"/>
                </a:solidFill>
                <a:latin typeface="Verdana"/>
                <a:ea typeface="Verdana"/>
              </a:rPr>
              <a:t>aG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docker $USER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Shape 1"/>
          <p:cNvSpPr txBox="1"/>
          <p:nvPr/>
        </p:nvSpPr>
        <p:spPr>
          <a:xfrm>
            <a:off x="712440" y="2469600"/>
            <a:ext cx="7534080" cy="618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sz="4800" b="1" strike="noStrike" spc="-1">
                <a:solidFill>
                  <a:srgbClr val="EB603A"/>
                </a:solidFill>
                <a:latin typeface="Verdana"/>
                <a:ea typeface="Verdana"/>
              </a:rPr>
              <a:t>Основные </a:t>
            </a:r>
            <a:r>
              <a:t/>
            </a:r>
            <a:br/>
            <a:r>
              <a:rPr lang="ru-RU" sz="4800" b="1" strike="noStrike" spc="-1">
                <a:solidFill>
                  <a:srgbClr val="EB603A"/>
                </a:solidFill>
                <a:latin typeface="Verdana"/>
                <a:ea typeface="Verdana"/>
              </a:rPr>
              <a:t>команды</a:t>
            </a:r>
            <a:endParaRPr lang="ru-RU" sz="48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2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A8466947-891C-49CE-B0DF-B489C4EAEA5A}" type="slidenum">
              <a:rPr lang="ru-RU" sz="1200" b="0" strike="noStrike" spc="-1">
                <a:solidFill>
                  <a:srgbClr val="FFFFFF">
                    <a:alpha val="40000"/>
                  </a:srgbClr>
                </a:solidFill>
                <a:latin typeface="Verdana"/>
                <a:ea typeface="Verdana"/>
              </a:rPr>
              <a:t>16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docker </a:t>
            </a:r>
            <a:r>
              <a:rPr lang="en-US" sz="2200" b="1" strike="noStrike" spc="-1" dirty="0" err="1">
                <a:solidFill>
                  <a:srgbClr val="EB603A"/>
                </a:solidFill>
                <a:latin typeface="Verdana"/>
                <a:ea typeface="Verdana"/>
              </a:rPr>
              <a:t>ps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50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FBEBF403-1746-43BB-B431-6146A17A872E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52" name="CustomShape 4"/>
          <p:cNvSpPr/>
          <p:nvPr/>
        </p:nvSpPr>
        <p:spPr>
          <a:xfrm>
            <a:off x="446760" y="1052640"/>
            <a:ext cx="9186840" cy="4830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Отображает список запущенных контейнеров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$ </a:t>
            </a:r>
            <a:r>
              <a:rPr lang="en-US" sz="2200" b="1" strike="noStrike" spc="-1" dirty="0">
                <a:solidFill>
                  <a:srgbClr val="000000"/>
                </a:solidFill>
                <a:latin typeface="Verdana"/>
                <a:ea typeface="Arial"/>
              </a:rPr>
              <a:t>docker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Verdana"/>
                <a:ea typeface="Arial"/>
              </a:rPr>
              <a:t>ps</a:t>
            </a:r>
            <a:endParaRPr lang="en-US" sz="2200" b="1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CONTAINER ID          IMAGE                COMMAND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EB603A"/>
                </a:solidFill>
                <a:latin typeface="Verdana"/>
                <a:ea typeface="Arial"/>
              </a:rPr>
              <a:t>05ba9499f696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          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Verdana"/>
                <a:ea typeface="Arial"/>
              </a:rPr>
              <a:t>nginx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		"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Verdana"/>
                <a:ea typeface="Arial"/>
              </a:rPr>
              <a:t>nginx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 -g 'daemon of…”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CREATED                   STATUS                     PORTS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About a minute ago  Up About a minute  0.0.0.0:8888-&gt;80/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Verdana"/>
                <a:ea typeface="Arial"/>
              </a:rPr>
              <a:t>tcp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 						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Arial"/>
              </a:rPr>
              <a:t>NAMES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 err="1">
                <a:solidFill>
                  <a:srgbClr val="000000"/>
                </a:solidFill>
                <a:latin typeface="Verdana"/>
                <a:ea typeface="Arial"/>
              </a:rPr>
              <a:t>affectionate_bouman</a:t>
            </a:r>
            <a:endParaRPr lang="ru-RU" sz="2200" b="0" strike="noStrike" spc="-1" dirty="0">
              <a:solidFill>
                <a:srgbClr val="000000"/>
              </a:solidFill>
              <a:latin typeface="Verdana"/>
              <a:ea typeface="Arial"/>
            </a:endParaRPr>
          </a:p>
          <a:p>
            <a:pPr>
              <a:lnSpc>
                <a:spcPct val="100000"/>
              </a:lnSpc>
            </a:pPr>
            <a:endParaRPr lang="ru-RU" sz="22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000000"/>
                </a:solidFill>
                <a:latin typeface="Verdana"/>
              </a:rPr>
              <a:t>$</a:t>
            </a:r>
            <a:r>
              <a:rPr lang="en-US" sz="2200" b="1" spc="-1" dirty="0">
                <a:solidFill>
                  <a:srgbClr val="000000"/>
                </a:solidFill>
                <a:latin typeface="Verdana"/>
              </a:rPr>
              <a:t> docker </a:t>
            </a:r>
            <a:r>
              <a:rPr lang="en-US" sz="2200" b="1" spc="-1" dirty="0" err="1">
                <a:solidFill>
                  <a:srgbClr val="000000"/>
                </a:solidFill>
                <a:latin typeface="Verdana"/>
              </a:rPr>
              <a:t>ps</a:t>
            </a:r>
            <a:r>
              <a:rPr lang="en-US" sz="2200" b="1" spc="-1" dirty="0">
                <a:solidFill>
                  <a:srgbClr val="000000"/>
                </a:solidFill>
                <a:latin typeface="Verdana"/>
              </a:rPr>
              <a:t> –a </a:t>
            </a:r>
            <a:r>
              <a:rPr lang="en-US" sz="2200" spc="-1" dirty="0">
                <a:solidFill>
                  <a:srgbClr val="000000"/>
                </a:solidFill>
                <a:latin typeface="Verdana"/>
              </a:rPr>
              <a:t>– </a:t>
            </a:r>
            <a:r>
              <a:rPr lang="ru-RU" sz="2200" spc="-1" dirty="0">
                <a:solidFill>
                  <a:srgbClr val="000000"/>
                </a:solidFill>
                <a:latin typeface="Verdana"/>
              </a:rPr>
              <a:t>отображает список всех контейнеров в системе</a:t>
            </a:r>
            <a:endParaRPr lang="en-US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run --rm -it -v `</a:t>
            </a:r>
            <a:r>
              <a:rPr lang="en-US" sz="2200" b="1" spc="-1" dirty="0" err="1">
                <a:solidFill>
                  <a:srgbClr val="EB603A"/>
                </a:solidFill>
                <a:latin typeface="Verdana"/>
                <a:ea typeface="Verdana"/>
              </a:rPr>
              <a:t>pwd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`:/app ruby:2.7-alpine ash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4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AB1133C7-4953-49B0-B528-78B2DA725E88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25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000000"/>
                </a:solidFill>
                <a:latin typeface="Verdana"/>
              </a:rPr>
              <a:t>Запускает контейнер с </a:t>
            </a:r>
            <a:r>
              <a:rPr lang="en-US" sz="2200" spc="-1" dirty="0">
                <a:solidFill>
                  <a:srgbClr val="000000"/>
                </a:solidFill>
                <a:latin typeface="Verdana"/>
              </a:rPr>
              <a:t>A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</a:rPr>
              <a:t>lpine Linux </a:t>
            </a:r>
            <a:r>
              <a:rPr lang="ru-RU" sz="2200" b="0" strike="noStrike" spc="-1" dirty="0">
                <a:solidFill>
                  <a:srgbClr val="000000"/>
                </a:solidFill>
                <a:latin typeface="Verdana"/>
              </a:rPr>
              <a:t>и установленным 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</a:rPr>
              <a:t>ruby. 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	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51860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TextShape 3"/>
          <p:cNvSpPr txBox="1"/>
          <p:nvPr/>
        </p:nvSpPr>
        <p:spPr>
          <a:xfrm>
            <a:off x="455040" y="10777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Запускает команду в контейнере из образа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spc="-1" dirty="0">
                <a:solidFill>
                  <a:srgbClr val="000000"/>
                </a:solidFill>
                <a:latin typeface="Verdana"/>
              </a:rPr>
              <a:t>$</a:t>
            </a:r>
            <a:r>
              <a:rPr lang="en-US" sz="2200" spc="-1" dirty="0">
                <a:solidFill>
                  <a:srgbClr val="000000"/>
                </a:solidFill>
                <a:latin typeface="Verdana"/>
              </a:rPr>
              <a:t> docker run IMAGE </a:t>
            </a:r>
            <a:r>
              <a:rPr lang="en-US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[COMMAND]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spc="-1" dirty="0">
              <a:solidFill>
                <a:schemeClr val="bg2">
                  <a:lumMod val="50000"/>
                </a:schemeClr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ruby:2.7-alpine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– запускаемый образ</a:t>
            </a:r>
            <a:endParaRPr lang="en-US" sz="2200" b="0" strike="noStrike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ash – </a:t>
            </a:r>
            <a:r>
              <a:rPr lang="ru-RU" sz="2200" spc="-1" dirty="0">
                <a:solidFill>
                  <a:srgbClr val="292835"/>
                </a:solidFill>
                <a:latin typeface="Verdana"/>
                <a:ea typeface="Verdana"/>
              </a:rPr>
              <a:t>команда для запуска консоли</a:t>
            </a:r>
            <a:endParaRPr lang="en-US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spc="-1" dirty="0">
                <a:solidFill>
                  <a:srgbClr val="292835"/>
                </a:solidFill>
                <a:latin typeface="Verdana"/>
                <a:ea typeface="Verdana"/>
              </a:rPr>
              <a:t>Если команда не указана, запускается команда по умолчанию, которая указана в конфигурации образа.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	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run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--rm -it -v `</a:t>
            </a:r>
            <a:r>
              <a:rPr lang="en-US" sz="2200" spc="-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pwd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`:/app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ruby:2.7-alpine ash</a:t>
            </a:r>
            <a:endParaRPr lang="ru-RU" sz="2200" b="1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4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AB1133C7-4953-49B0-B528-78B2DA725E88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19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0793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run --rm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-it -v `</a:t>
            </a:r>
            <a:r>
              <a:rPr lang="en-US" sz="2200" spc="-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pwd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`:/app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ruby:2.7-alpine </a:t>
            </a:r>
            <a:r>
              <a:rPr lang="en-US" sz="2200" b="1" spc="-1" dirty="0">
                <a:solidFill>
                  <a:schemeClr val="accent2"/>
                </a:solidFill>
                <a:latin typeface="Verdana"/>
                <a:ea typeface="Verdana"/>
              </a:rPr>
              <a:t>ash</a:t>
            </a:r>
            <a:endParaRPr lang="ru-RU" sz="2200" b="1" spc="-1" dirty="0">
              <a:solidFill>
                <a:schemeClr val="accent2"/>
              </a:solidFill>
              <a:latin typeface="Verdana"/>
            </a:endParaRPr>
          </a:p>
        </p:txBody>
      </p:sp>
      <p:sp>
        <p:nvSpPr>
          <p:cNvPr id="527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D0B4609A-7542-44DE-8351-2D0F9AF1CC81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28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spc="-1" dirty="0">
                <a:solidFill>
                  <a:srgbClr val="000000"/>
                </a:solidFill>
                <a:latin typeface="Verdana"/>
              </a:rPr>
              <a:t>При установке параметра </a:t>
            </a:r>
            <a:r>
              <a:rPr lang="ru-RU" sz="2200" b="1" spc="-1" dirty="0">
                <a:solidFill>
                  <a:srgbClr val="000000"/>
                </a:solidFill>
                <a:latin typeface="Verdana"/>
              </a:rPr>
              <a:t>--</a:t>
            </a:r>
            <a:r>
              <a:rPr lang="en-US" sz="2200" b="1" spc="-1" dirty="0">
                <a:solidFill>
                  <a:srgbClr val="000000"/>
                </a:solidFill>
                <a:latin typeface="Verdana"/>
              </a:rPr>
              <a:t>rm</a:t>
            </a:r>
            <a:r>
              <a:rPr lang="en-US" sz="2200" spc="-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контейнер после остановки будет удален.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$ docker </a:t>
            </a:r>
            <a:r>
              <a:rPr lang="en-US" sz="2200" spc="-1" dirty="0" err="1">
                <a:solidFill>
                  <a:srgbClr val="292835"/>
                </a:solidFill>
                <a:latin typeface="Verdana"/>
                <a:ea typeface="Verdana"/>
              </a:rPr>
              <a:t>ps</a:t>
            </a: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 –a </a:t>
            </a:r>
            <a:endParaRPr lang="ru-RU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#</a:t>
            </a:r>
            <a:r>
              <a:rPr lang="ru-RU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 запомнить количество контейнеров</a:t>
            </a:r>
            <a:endParaRPr lang="ru-RU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000000"/>
                </a:solidFill>
                <a:latin typeface="Verdana"/>
              </a:rPr>
              <a:t>$ docker run --rm ruby:2.7-alpine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$ docker </a:t>
            </a:r>
            <a:r>
              <a:rPr lang="en-US" sz="2200" spc="-1" dirty="0" err="1">
                <a:solidFill>
                  <a:srgbClr val="292835"/>
                </a:solidFill>
                <a:latin typeface="Verdana"/>
                <a:ea typeface="Verdana"/>
              </a:rPr>
              <a:t>ps</a:t>
            </a:r>
            <a:r>
              <a:rPr lang="en-US" sz="2200" spc="-1" dirty="0">
                <a:solidFill>
                  <a:srgbClr val="292835"/>
                </a:solidFill>
                <a:latin typeface="Verdana"/>
                <a:ea typeface="Verdana"/>
              </a:rPr>
              <a:t> –a </a:t>
            </a:r>
            <a:endParaRPr lang="ru-RU" sz="2200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#</a:t>
            </a:r>
            <a:r>
              <a:rPr lang="ru-RU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 количество контейнеров не изменилось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000000"/>
                </a:solidFill>
                <a:latin typeface="Verdana"/>
              </a:rPr>
              <a:t>$ docker run ruby:2.7-alpine</a:t>
            </a:r>
            <a:endParaRPr lang="ru-RU" sz="22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#</a:t>
            </a:r>
            <a:r>
              <a:rPr lang="ru-RU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 появился остановленный контейнер со статусом «</a:t>
            </a:r>
            <a:r>
              <a:rPr lang="en-US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Exited (0) X seconds ago</a:t>
            </a:r>
            <a:r>
              <a:rPr lang="ru-RU" sz="2200" spc="-1" dirty="0">
                <a:solidFill>
                  <a:schemeClr val="bg2">
                    <a:lumMod val="50000"/>
                  </a:schemeClr>
                </a:solidFill>
                <a:latin typeface="Verdana"/>
              </a:rPr>
              <a:t>»</a:t>
            </a:r>
            <a:endParaRPr lang="en-US" sz="2200" spc="-1" dirty="0">
              <a:solidFill>
                <a:schemeClr val="bg2">
                  <a:lumMod val="50000"/>
                </a:schemeClr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spc="-1" dirty="0">
              <a:solidFill>
                <a:schemeClr val="bg2">
                  <a:lumMod val="50000"/>
                </a:schemeClr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run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--rm</a:t>
            </a:r>
            <a:r>
              <a:rPr lang="en-US" sz="2200" b="1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-it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-v `</a:t>
            </a:r>
            <a:r>
              <a:rPr lang="en-US" sz="2200" spc="-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pwd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`:/app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ruby:2.7-alpine ash</a:t>
            </a:r>
            <a:endParaRPr lang="ru-RU" sz="2200" b="1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9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E6C6D93F-F6B2-4952-AC76-B70AC8FEF2B1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0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Комбинация параметров </a:t>
            </a:r>
            <a:r>
              <a:rPr lang="en-US" sz="22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i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и 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t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позволяет запустить контейнер в интерактивном режиме, таким образом вам станет доступн</a:t>
            </a:r>
            <a:r>
              <a:rPr lang="ru-RU" sz="2200" spc="-1" dirty="0">
                <a:solidFill>
                  <a:srgbClr val="292835"/>
                </a:solidFill>
                <a:latin typeface="Verdana"/>
                <a:ea typeface="Verdana"/>
              </a:rPr>
              <a:t>ой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консоль внутри контейнера.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000000"/>
                </a:solidFill>
                <a:latin typeface="Verdana"/>
              </a:rPr>
              <a:t>$ docker run --rm ruby:2.7-alpine ash</a:t>
            </a: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000000"/>
                </a:solidFill>
                <a:latin typeface="Verdana"/>
              </a:rPr>
              <a:t>$ docker run --rm -it ruby:2.7-alpine ash</a:t>
            </a: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run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--rm</a:t>
            </a:r>
            <a:r>
              <a:rPr lang="en-US" sz="2200" b="1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 </a:t>
            </a:r>
            <a:r>
              <a:rPr lang="en-US" sz="2200" spc="-1" dirty="0">
                <a:solidFill>
                  <a:schemeClr val="accent2">
                    <a:lumMod val="40000"/>
                    <a:lumOff val="60000"/>
                  </a:schemeClr>
                </a:solidFill>
                <a:latin typeface="Verdana"/>
                <a:ea typeface="Verdana"/>
              </a:rPr>
              <a:t>-it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-v `</a:t>
            </a:r>
            <a:r>
              <a:rPr lang="en-US" sz="2200" b="1" spc="-1" dirty="0" err="1">
                <a:solidFill>
                  <a:srgbClr val="EB603A"/>
                </a:solidFill>
                <a:latin typeface="Verdana"/>
                <a:ea typeface="Verdana"/>
              </a:rPr>
              <a:t>pwd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`:/app</a:t>
            </a:r>
            <a:r>
              <a:rPr lang="en-US" sz="2200" spc="-1" dirty="0">
                <a:solidFill>
                  <a:srgbClr val="EB603A"/>
                </a:solidFill>
                <a:latin typeface="Verdana"/>
                <a:ea typeface="Verdana"/>
              </a:rPr>
              <a:t>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ruby:2.7-alpine</a:t>
            </a:r>
            <a:r>
              <a:rPr lang="ru-RU" sz="2200" b="1" spc="-1" dirty="0">
                <a:solidFill>
                  <a:srgbClr val="EB603A"/>
                </a:solidFill>
                <a:latin typeface="Verdana"/>
                <a:ea typeface="Verdana"/>
              </a:rPr>
              <a:t> </a:t>
            </a: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ash</a:t>
            </a:r>
            <a:endParaRPr lang="ru-RU" sz="2200" b="1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6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EA3CF098-606F-4C25-AE67-0F7379C4FFF6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37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Монтирует локальную папку (</a:t>
            </a:r>
            <a:r>
              <a:rPr lang="en-US" sz="22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pwd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-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выводит путь к текущей директории) в папку 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/app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внутри контейнера.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docker run: </a:t>
            </a:r>
            <a:r>
              <a:rPr lang="ru-RU" sz="22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параметр </a:t>
            </a:r>
            <a:r>
              <a:rPr lang="en-US" sz="2200" b="1" strike="noStrike" spc="-1" dirty="0">
                <a:solidFill>
                  <a:srgbClr val="EB603A"/>
                </a:solidFill>
                <a:latin typeface="Verdana"/>
                <a:ea typeface="Verdana"/>
              </a:rPr>
              <a:t>-p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3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CA173B7-403A-431D-AF42-0B38E1D90E19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34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 run --rm –p 8888:80 </a:t>
            </a:r>
            <a:r>
              <a:rPr lang="en-US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endParaRPr lang="ru-RU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292835"/>
                </a:solidFill>
                <a:latin typeface="Verdana"/>
                <a:ea typeface="Verdana"/>
              </a:rPr>
              <a:t>C</a:t>
            </a:r>
            <a:r>
              <a:rPr lang="ru-RU" spc="-1" dirty="0" err="1">
                <a:solidFill>
                  <a:srgbClr val="292835"/>
                </a:solidFill>
                <a:latin typeface="Verdana"/>
                <a:ea typeface="Verdana"/>
              </a:rPr>
              <a:t>вязывает</a:t>
            </a:r>
            <a:r>
              <a:rPr lang="ru-RU" spc="-1" dirty="0">
                <a:solidFill>
                  <a:srgbClr val="292835"/>
                </a:solidFill>
                <a:latin typeface="Verdana"/>
                <a:ea typeface="Verdana"/>
              </a:rPr>
              <a:t> локальный порт </a:t>
            </a:r>
            <a:r>
              <a:rPr lang="ru-RU" spc="-1" dirty="0" err="1">
                <a:solidFill>
                  <a:srgbClr val="292835"/>
                </a:solidFill>
                <a:latin typeface="Verdana"/>
                <a:ea typeface="Verdana"/>
              </a:rPr>
              <a:t>хостовой</a:t>
            </a:r>
            <a:r>
              <a:rPr lang="ru-RU" spc="-1" dirty="0">
                <a:solidFill>
                  <a:srgbClr val="292835"/>
                </a:solidFill>
                <a:latin typeface="Verdana"/>
                <a:ea typeface="Verdana"/>
              </a:rPr>
              <a:t> машины с портом приложения в контейнере</a:t>
            </a:r>
            <a:endParaRPr lang="en-US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292835"/>
                </a:solidFill>
                <a:latin typeface="Verdana"/>
                <a:ea typeface="Verdana"/>
              </a:rPr>
              <a:t>$ docker run --rm </a:t>
            </a:r>
            <a:r>
              <a:rPr lang="en-US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endParaRPr lang="en-US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#</a:t>
            </a:r>
            <a:r>
              <a:rPr lang="ru-RU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открыть в браузере </a:t>
            </a:r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localhost 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292835"/>
                </a:solidFill>
                <a:latin typeface="Verdana"/>
                <a:ea typeface="Verdana"/>
              </a:rPr>
              <a:t>$ docker run --rm –p 8888:80 </a:t>
            </a:r>
            <a:r>
              <a:rPr lang="en-US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endParaRPr lang="en-US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#</a:t>
            </a:r>
            <a:r>
              <a:rPr lang="ru-RU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открыть в браузере </a:t>
            </a:r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localhost </a:t>
            </a: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pc="-1" dirty="0">
              <a:solidFill>
                <a:srgbClr val="292835"/>
              </a:solidFill>
              <a:latin typeface="Verdana"/>
              <a:ea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5" name="Рисунок 1">
            <a:extLst>
              <a:ext uri="{FF2B5EF4-FFF2-40B4-BE49-F238E27FC236}">
                <a16:creationId xmlns:a16="http://schemas.microsoft.com/office/drawing/2014/main" xmlns="" id="{A40EE5B1-F2B2-BD4B-B138-50ED391E37F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776984" y="4422252"/>
            <a:ext cx="5111377" cy="2244019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7734FF4-9ABF-CC4C-99B0-A5030C711202}"/>
              </a:ext>
            </a:extLst>
          </p:cNvPr>
          <p:cNvSpPr txBox="1"/>
          <p:nvPr/>
        </p:nvSpPr>
        <p:spPr>
          <a:xfrm>
            <a:off x="469900" y="4025900"/>
            <a:ext cx="4695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#</a:t>
            </a:r>
            <a:r>
              <a:rPr lang="ru-RU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 открыть в браузере </a:t>
            </a:r>
            <a:r>
              <a:rPr lang="en-US" spc="-1" dirty="0">
                <a:solidFill>
                  <a:schemeClr val="bg2">
                    <a:lumMod val="50000"/>
                  </a:schemeClr>
                </a:solidFill>
                <a:latin typeface="Verdana"/>
                <a:ea typeface="Verdana"/>
              </a:rPr>
              <a:t>localhost:8888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 run: </a:t>
            </a:r>
            <a:r>
              <a:rPr lang="ru-RU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параметр </a:t>
            </a: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-d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0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CB8A3160-5A26-4C95-AC00-98AE82FA49F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31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 run 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--rm </a:t>
            </a:r>
            <a:r>
              <a:rPr lang="ru-RU" sz="22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-</a:t>
            </a:r>
            <a:r>
              <a:rPr lang="en-US" sz="22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d </a:t>
            </a:r>
            <a:r>
              <a:rPr lang="en-US" sz="2200" spc="-1" dirty="0">
                <a:latin typeface="Verdana"/>
                <a:ea typeface="Verdana"/>
              </a:rPr>
              <a:t>-p 8888:80</a:t>
            </a:r>
            <a:r>
              <a:rPr lang="en-US" sz="2200" spc="-1" dirty="0">
                <a:solidFill>
                  <a:srgbClr val="0B75BA"/>
                </a:solidFill>
                <a:latin typeface="Verdana"/>
                <a:ea typeface="Verdana"/>
              </a:rPr>
              <a:t> </a:t>
            </a:r>
            <a:r>
              <a:rPr lang="en-US" sz="22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nginx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Запускает контейнер в фонов</a:t>
            </a:r>
            <a:r>
              <a:rPr lang="ru-RU" sz="2200" spc="-1" dirty="0">
                <a:solidFill>
                  <a:srgbClr val="292835"/>
                </a:solidFill>
                <a:latin typeface="Verdana"/>
                <a:ea typeface="Verdana"/>
              </a:rPr>
              <a:t>ом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режиме, </a:t>
            </a: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STDOUT </a:t>
            </a: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приложения не выводится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 stop [container]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54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DBE68B0A-FA52-40E7-8E2B-6121C87724D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55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Останавливает работу контейнера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spc="-1" dirty="0">
                <a:solidFill>
                  <a:srgbClr val="000000"/>
                </a:solidFill>
                <a:latin typeface="Verdana"/>
                <a:ea typeface="Verdana"/>
              </a:rPr>
              <a:t>$ docker </a:t>
            </a:r>
            <a:r>
              <a:rPr lang="en-US" sz="2200" spc="-1" dirty="0" err="1">
                <a:solidFill>
                  <a:srgbClr val="000000"/>
                </a:solidFill>
                <a:latin typeface="Verdana"/>
                <a:ea typeface="Verdana"/>
              </a:rPr>
              <a:t>ps</a:t>
            </a:r>
            <a:r>
              <a:rPr lang="en-US" sz="2200" spc="-1" dirty="0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 stop </a:t>
            </a:r>
            <a:r>
              <a:rPr lang="en-US" sz="2200" b="0" strike="noStrike" spc="-1" dirty="0">
                <a:solidFill>
                  <a:srgbClr val="EB603A"/>
                </a:solidFill>
                <a:latin typeface="Verdana"/>
                <a:ea typeface="Verdana"/>
              </a:rPr>
              <a:t>05ba9499f696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$ docker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Verdana"/>
                <a:ea typeface="Verdana"/>
              </a:rPr>
              <a:t>ps</a:t>
            </a: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2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Отсутствует запущенный контейнер с </a:t>
            </a:r>
            <a:r>
              <a:rPr lang="en-US" sz="22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ID 05ba9499f696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http://localhost:8888 </a:t>
            </a:r>
            <a:r>
              <a:rPr lang="ru-RU" sz="22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стал недоступен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 images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57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B7737BC-3D84-4986-860A-590173288850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58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Отображает список доступных локально образов</a:t>
            </a: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2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E7550CE8-80FB-CA4F-BACB-CC11DAF9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2197100"/>
            <a:ext cx="908685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Создание файлов внутри </a:t>
            </a: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6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BA1A095D-C688-4C7D-8DFD-981B5EE31526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66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 run --rm -it</a:t>
            </a:r>
            <a:r>
              <a:rPr lang="ru-RU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-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v $(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pwd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):/app ruby:2.7-alpine ash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cd app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touch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file.txt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exit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nano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file.txt</a:t>
            </a:r>
            <a:r>
              <a:rPr lang="ru-RU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или другой редактор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что-нибудь написать, попытаться сохранить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Решение проблемы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6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0F4572B0-8F17-4BDF-BDA7-2D0514C3809E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69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ls -l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-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rw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-r--r--	1	</a:t>
            </a:r>
            <a:r>
              <a:rPr lang="en-US" sz="1800" b="0" strike="noStrike" spc="-1" dirty="0">
                <a:solidFill>
                  <a:srgbClr val="FF0000"/>
                </a:solidFill>
                <a:latin typeface="Verdana"/>
                <a:ea typeface="Verdana"/>
              </a:rPr>
              <a:t>root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	root	...	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file.txt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исправить права конкретному файлу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sudo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chown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user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file.txt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18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исправить права всем файлам в директории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sudo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chown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user</a:t>
            </a:r>
            <a:r>
              <a:rPr lang="ru-RU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r>
              <a:rPr lang="en-US" sz="18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-R </a:t>
            </a:r>
            <a:r>
              <a:rPr lang="en-US" sz="18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dir</a:t>
            </a:r>
            <a:endParaRPr lang="ru-RU" sz="1800" b="0" strike="noStrike" spc="-1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Shape 1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3A2476B5-7E07-47A2-9243-B0D29B5749DD}" type="slidenum">
              <a:rPr lang="ru-RU" sz="1200" b="0" strike="noStrike" spc="-1">
                <a:solidFill>
                  <a:srgbClr val="FFFFFF">
                    <a:alpha val="40000"/>
                  </a:srgbClr>
                </a:solidFill>
                <a:latin typeface="Verdana"/>
                <a:ea typeface="Verdana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71" name="TextShape 2"/>
          <p:cNvSpPr txBox="1"/>
          <p:nvPr/>
        </p:nvSpPr>
        <p:spPr>
          <a:xfrm>
            <a:off x="712440" y="3141000"/>
            <a:ext cx="6206040" cy="618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Dockerfile</a:t>
            </a:r>
            <a:endParaRPr lang="ru-RU" sz="48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2" name="TextShape 3"/>
          <p:cNvSpPr txBox="1"/>
          <p:nvPr/>
        </p:nvSpPr>
        <p:spPr>
          <a:xfrm>
            <a:off x="712440" y="3923280"/>
            <a:ext cx="6123240" cy="387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400" b="0" strike="noStrike" spc="-1">
                <a:solidFill>
                  <a:srgbClr val="000000"/>
                </a:solidFill>
                <a:latin typeface="Verdana"/>
                <a:ea typeface="Verdana"/>
              </a:rPr>
              <a:t>Инструкции для подготовки образа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573" name="Рисунок 3"/>
          <p:cNvPicPr/>
          <p:nvPr/>
        </p:nvPicPr>
        <p:blipFill>
          <a:blip r:embed="rId3"/>
          <a:stretch/>
        </p:blipFill>
        <p:spPr>
          <a:xfrm>
            <a:off x="1352520" y="789840"/>
            <a:ext cx="2180880" cy="2180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Пример </a:t>
            </a:r>
            <a:r>
              <a:rPr lang="en-US" sz="2200" b="1" strike="noStrike" spc="-1">
                <a:solidFill>
                  <a:srgbClr val="EB603A"/>
                </a:solidFill>
                <a:latin typeface="Verdana"/>
                <a:ea typeface="Verdana"/>
              </a:rPr>
              <a:t>Dockerfile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1546E1DD-B283-4CDE-876C-185E9BB149F1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76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1500" b="0" strike="noStrike" spc="-1">
                <a:solidFill>
                  <a:srgbClr val="292835"/>
                </a:solidFill>
                <a:latin typeface="Verdana"/>
                <a:ea typeface="Verdana"/>
              </a:rPr>
              <a:t> </a:t>
            </a:r>
            <a:endParaRPr lang="ru-RU" sz="1500" b="0" strike="noStrike" spc="-1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85930D63-76C0-9B45-BC6D-1EC6B83F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670" y="958644"/>
            <a:ext cx="6230414" cy="495627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pc="-1" dirty="0">
                <a:solidFill>
                  <a:srgbClr val="EB603A"/>
                </a:solidFill>
                <a:latin typeface="Verdana"/>
                <a:ea typeface="Verdana"/>
              </a:rPr>
              <a:t>docker build . –t </a:t>
            </a:r>
            <a:r>
              <a:rPr lang="en-US" sz="2200" b="1" spc="-1" dirty="0" err="1">
                <a:solidFill>
                  <a:srgbClr val="EB603A"/>
                </a:solidFill>
                <a:latin typeface="Verdana"/>
                <a:ea typeface="Verdana"/>
              </a:rPr>
              <a:t>app_name</a:t>
            </a:r>
            <a:endParaRPr lang="ru-RU" sz="2200" b="1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1546E1DD-B283-4CDE-876C-185E9BB149F1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76" name="TextShape 3"/>
          <p:cNvSpPr txBox="1"/>
          <p:nvPr/>
        </p:nvSpPr>
        <p:spPr>
          <a:xfrm>
            <a:off x="455040" y="1016699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spc="-1" dirty="0">
                <a:solidFill>
                  <a:srgbClr val="000000"/>
                </a:solidFill>
                <a:latin typeface="Verdana"/>
              </a:rPr>
              <a:t>Сборка образа из </a:t>
            </a:r>
            <a:r>
              <a:rPr lang="en-US" sz="2000" spc="-1" dirty="0" err="1">
                <a:solidFill>
                  <a:srgbClr val="000000"/>
                </a:solidFill>
                <a:latin typeface="Verdana"/>
              </a:rPr>
              <a:t>Dockerfile</a:t>
            </a: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Verdana"/>
              </a:rPr>
              <a:t>$ docker build . –t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Verdana"/>
              </a:rPr>
              <a:t>hello_world</a:t>
            </a: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Verdana"/>
              </a:rPr>
              <a:t>$ docker run --rm </a:t>
            </a:r>
            <a:r>
              <a:rPr lang="en-US" sz="2000" spc="-1" dirty="0" err="1">
                <a:solidFill>
                  <a:srgbClr val="000000"/>
                </a:solidFill>
                <a:latin typeface="Verdana"/>
              </a:rPr>
              <a:t>hello_world</a:t>
            </a:r>
            <a:endParaRPr lang="en-US" sz="2000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5194EA43-5238-8A43-A718-82B3EAD0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2" y="2440271"/>
            <a:ext cx="7964129" cy="24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50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Shape 1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4476AD16-190D-439C-AA8F-A9AB65A67829}" type="slidenum">
              <a:rPr lang="ru-RU" sz="1200" b="0" strike="noStrike" spc="-1">
                <a:solidFill>
                  <a:srgbClr val="FFFFFF">
                    <a:alpha val="40000"/>
                  </a:srgbClr>
                </a:solidFill>
                <a:latin typeface="Verdana"/>
                <a:ea typeface="Verdana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82" name="TextShape 2"/>
          <p:cNvSpPr txBox="1"/>
          <p:nvPr/>
        </p:nvSpPr>
        <p:spPr>
          <a:xfrm>
            <a:off x="722620" y="2573825"/>
            <a:ext cx="6206040" cy="618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strike="noStrike" spc="-1" dirty="0" err="1">
                <a:solidFill>
                  <a:srgbClr val="00C698"/>
                </a:solidFill>
                <a:latin typeface="Verdana"/>
                <a:ea typeface="Verdana"/>
              </a:rPr>
              <a:t>docker</a:t>
            </a:r>
            <a:r>
              <a:rPr lang="en-US" sz="3600" b="1" strike="noStrike" spc="-1" dirty="0">
                <a:solidFill>
                  <a:srgbClr val="00C698"/>
                </a:solidFill>
                <a:latin typeface="Verdana"/>
                <a:ea typeface="Verdana"/>
              </a:rPr>
              <a:t>-compose</a:t>
            </a:r>
            <a:endParaRPr lang="ru-RU" sz="3600" b="0" strike="noStrike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83" name="TextShape 3"/>
          <p:cNvSpPr txBox="1"/>
          <p:nvPr/>
        </p:nvSpPr>
        <p:spPr>
          <a:xfrm>
            <a:off x="764020" y="3803945"/>
            <a:ext cx="7334280" cy="387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2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- </a:t>
            </a:r>
            <a:r>
              <a:rPr lang="ru-RU" sz="22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инструментальное средство, предназначенное для решения задач, связанных с развёртыванием проектов.</a:t>
            </a:r>
            <a:endParaRPr lang="en-US" sz="2200" b="0" strike="noStrike" spc="-1" dirty="0">
              <a:latin typeface="Arial"/>
            </a:endParaRPr>
          </a:p>
        </p:txBody>
      </p:sp>
      <p:pic>
        <p:nvPicPr>
          <p:cNvPr id="584" name="Рисунок 4"/>
          <p:cNvPicPr/>
          <p:nvPr/>
        </p:nvPicPr>
        <p:blipFill>
          <a:blip r:embed="rId3"/>
          <a:stretch/>
        </p:blipFill>
        <p:spPr>
          <a:xfrm>
            <a:off x="560520" y="255938"/>
            <a:ext cx="5453640" cy="2181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Пример приложения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86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1F8F7CA4-017C-49D5-B16C-53D81938CC28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33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87" name="Рисунок 5"/>
          <p:cNvPicPr/>
          <p:nvPr/>
        </p:nvPicPr>
        <p:blipFill>
          <a:blip r:embed="rId3"/>
          <a:stretch/>
        </p:blipFill>
        <p:spPr>
          <a:xfrm>
            <a:off x="1353600" y="1772640"/>
            <a:ext cx="7137000" cy="3072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Установка 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docker-compose (Linux)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89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BC701D8E-8F00-4100-AD6D-7BA9286E5768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90" name="TextShape 3"/>
          <p:cNvSpPr txBox="1"/>
          <p:nvPr/>
        </p:nvSpPr>
        <p:spPr>
          <a:xfrm>
            <a:off x="455040" y="1090440"/>
            <a:ext cx="8942760" cy="4066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u="sng" strike="noStrike" spc="-1">
                <a:solidFill>
                  <a:srgbClr val="2888F1"/>
                </a:solidFill>
                <a:uFillTx/>
                <a:latin typeface="Verdana"/>
                <a:ea typeface="Verdana"/>
                <a:hlinkClick r:id="rId2"/>
              </a:rPr>
              <a:t>https://docs.docker.com/compose/install/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Скачиваем </a:t>
            </a: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docker-compose </a:t>
            </a:r>
            <a:r>
              <a:rPr lang="ru-RU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сразу в папку </a:t>
            </a: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/usr/local/bin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sudo curl -L "https://github.com/docker/compose/releases/download/1.25.3/docker-compose-$(uname -s)-$(uname -m)" -o /usr/local/bin/docker-compose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Устанавливаем разрешение на запуск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sudo chmod +x /usr/local/bin/docker-compose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# </a:t>
            </a:r>
            <a:r>
              <a:rPr lang="ru-RU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Проверяем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docker-compose --version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docker-compose.yml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92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F41A4174-3AFE-4CAB-93AE-0E0272C4CC0D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35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93" name="Рисунок 4"/>
          <p:cNvPicPr/>
          <p:nvPr/>
        </p:nvPicPr>
        <p:blipFill>
          <a:blip r:embed="rId3"/>
          <a:stretch/>
        </p:blipFill>
        <p:spPr>
          <a:xfrm>
            <a:off x="3163680" y="1484640"/>
            <a:ext cx="3517560" cy="389844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0C7778E1-0FA8-A341-822E-09204C186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450" y="1028700"/>
            <a:ext cx="47371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up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01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E4B0BCB2-915F-45F5-83B1-CEE5038B5ACA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02" name="TextShape 3"/>
          <p:cNvSpPr txBox="1"/>
          <p:nvPr/>
        </p:nvSpPr>
        <p:spPr>
          <a:xfrm>
            <a:off x="455040" y="1090440"/>
            <a:ext cx="392184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up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Создает все зависимости (сеть, 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volumes) 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для запуска сервисов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, 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скачивает или собирает образы и запускает все сервисы 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docker-compose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4AFE22E8-D639-1643-81C2-014C61495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645" y="1880216"/>
            <a:ext cx="5405284" cy="136033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E312C139-A76B-7041-AEA3-087FC97BB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77" y="3400732"/>
            <a:ext cx="5451987" cy="103557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267234D-8417-9E4C-80FC-86B65B8D0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958" y="4720508"/>
            <a:ext cx="7190558" cy="135582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ps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23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D6ED448F-900D-4E68-97FC-A33291B80F6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24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>
                <a:solidFill>
                  <a:srgbClr val="0B75BA"/>
                </a:solidFill>
                <a:latin typeface="Verdana"/>
                <a:ea typeface="Verdana"/>
              </a:rPr>
              <a:t>ps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Выведет список запущенных контейнеров в рамках проекта.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8B5598E7-CA03-C04C-B2E3-92572108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34" y="2642419"/>
            <a:ext cx="8757444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down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07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F049193F-DA43-4090-9B57-B08D83D9335C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08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down</a:t>
            </a: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Verdana"/>
              </a:rPr>
              <a:t>docker-compose down </a:t>
            </a:r>
            <a:r>
              <a:rPr lang="en-US" spc="-1" dirty="0">
                <a:solidFill>
                  <a:srgbClr val="000000"/>
                </a:solidFill>
                <a:latin typeface="Verdana"/>
              </a:rPr>
              <a:t>= docker stop + docker rm (</a:t>
            </a:r>
            <a:r>
              <a:rPr lang="ru-RU" spc="-1" dirty="0">
                <a:solidFill>
                  <a:srgbClr val="000000"/>
                </a:solidFill>
                <a:latin typeface="Verdana"/>
              </a:rPr>
              <a:t>для каждого сервиса</a:t>
            </a:r>
            <a:r>
              <a:rPr lang="en-US" spc="-1" dirty="0">
                <a:solidFill>
                  <a:srgbClr val="000000"/>
                </a:solidFill>
                <a:latin typeface="Verdana"/>
              </a:rPr>
              <a:t>)</a:t>
            </a:r>
            <a:endParaRPr lang="ru-RU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Останавливает все запущенные сервисы, удаляет контейнеры, сети, </a:t>
            </a:r>
            <a:r>
              <a:rPr lang="ru-RU" sz="2000" b="0" strike="noStrike" spc="-1" dirty="0" err="1">
                <a:solidFill>
                  <a:srgbClr val="292835"/>
                </a:solidFill>
                <a:latin typeface="Verdana"/>
                <a:ea typeface="Verdana"/>
              </a:rPr>
              <a:t>вольюмы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 и образы, созданные командой 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up.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A633F396-4B51-0041-9AF0-7C167E80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34" y="3448664"/>
            <a:ext cx="6229965" cy="164403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build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11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45B31485-29D8-409E-A53B-9B9315E91956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12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>
                <a:solidFill>
                  <a:srgbClr val="0B75BA"/>
                </a:solidFill>
                <a:latin typeface="Verdana"/>
                <a:ea typeface="Verdana"/>
              </a:rPr>
              <a:t>build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Собирает образы всех сервисов проекта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B13C356C-DED8-AC4C-8CD9-40ABC996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18" y="2810387"/>
            <a:ext cx="4838700" cy="1473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run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15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F920DABD-877A-444E-91F2-F62C71723734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16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run --rm</a:t>
            </a:r>
            <a:r>
              <a:rPr lang="ru-RU" sz="2000" b="0" strike="noStrike" spc="-1" dirty="0">
                <a:solidFill>
                  <a:srgbClr val="0B75BA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 dirty="0">
                <a:solidFill>
                  <a:srgbClr val="808080"/>
                </a:solidFill>
                <a:latin typeface="Verdana"/>
                <a:ea typeface="Verdana"/>
              </a:rPr>
              <a:t>[service] [command]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Запуск команды в контейнере. Аргумент 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rm 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по аналогии с </a:t>
            </a:r>
            <a:r>
              <a:rPr lang="en-US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docker </a:t>
            </a:r>
            <a:r>
              <a:rPr lang="ru-RU" sz="2000" b="0" strike="noStrike" spc="-1" dirty="0">
                <a:solidFill>
                  <a:srgbClr val="292835"/>
                </a:solidFill>
                <a:latin typeface="Verdana"/>
                <a:ea typeface="Verdana"/>
              </a:rPr>
              <a:t>удаляет контейнер после остановки</a:t>
            </a:r>
            <a:endParaRPr lang="ru-RU" sz="2000" b="0" strike="noStrike" spc="-1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E446CC7-0FB1-E740-B484-563E21C3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33" y="3408926"/>
            <a:ext cx="8420677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Основные команды</a:t>
            </a:r>
            <a:r>
              <a:rPr lang="en-US" sz="2200" b="1" strike="noStrike" spc="-1">
                <a:solidFill>
                  <a:srgbClr val="00C698"/>
                </a:solidFill>
                <a:latin typeface="Verdana"/>
                <a:ea typeface="Verdana"/>
              </a:rPr>
              <a:t>: logs</a:t>
            </a:r>
            <a:endParaRPr lang="ru-RU" sz="22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19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96EE6E9-3F76-4940-91B5-D59B1A2D76A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41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20" name="TextShape 3"/>
          <p:cNvSpPr txBox="1"/>
          <p:nvPr/>
        </p:nvSpPr>
        <p:spPr>
          <a:xfrm>
            <a:off x="455040" y="10904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$ docker-compose </a:t>
            </a:r>
            <a:r>
              <a:rPr lang="en-US" sz="2000" b="0" strike="noStrike" spc="-1">
                <a:solidFill>
                  <a:srgbClr val="0B75BA"/>
                </a:solidFill>
                <a:latin typeface="Verdana"/>
                <a:ea typeface="Verdana"/>
              </a:rPr>
              <a:t>logs -f</a:t>
            </a:r>
            <a:r>
              <a:rPr lang="ru-RU" sz="2000" b="0" strike="noStrike" spc="-1">
                <a:solidFill>
                  <a:srgbClr val="0B75BA"/>
                </a:solidFill>
                <a:latin typeface="Verdana"/>
                <a:ea typeface="Verdana"/>
              </a:rPr>
              <a:t> </a:t>
            </a:r>
            <a:r>
              <a:rPr lang="en-US" sz="2000" b="0" strike="noStrike" spc="-1">
                <a:solidFill>
                  <a:srgbClr val="808080"/>
                </a:solidFill>
                <a:latin typeface="Verdana"/>
                <a:ea typeface="Verdana"/>
              </a:rPr>
              <a:t>[service]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50000"/>
              </a:lnSpc>
              <a:spcBef>
                <a:spcPts val="1083"/>
              </a:spcBef>
              <a:tabLst>
                <a:tab pos="0" algn="l"/>
              </a:tabLst>
            </a:pPr>
            <a:r>
              <a:rPr lang="ru-RU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Просмотр логов контейнера. </a:t>
            </a: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-f </a:t>
            </a:r>
            <a:r>
              <a:rPr lang="ru-RU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выводит логи после запуска команды до остановки работы </a:t>
            </a:r>
            <a:r>
              <a:rPr lang="en-US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logs </a:t>
            </a:r>
            <a:r>
              <a:rPr lang="ru-RU" sz="2000" b="0" strike="noStrike" spc="-1">
                <a:solidFill>
                  <a:srgbClr val="292835"/>
                </a:solidFill>
                <a:latin typeface="Verdana"/>
                <a:ea typeface="Verdana"/>
              </a:rPr>
              <a:t>или контейнера.</a:t>
            </a:r>
            <a:endParaRPr lang="ru-RU" sz="2000" b="0" strike="noStrike" spc="-1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C6EBC45-926D-5540-9D68-5CAD55D8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6" y="3348909"/>
            <a:ext cx="9044189" cy="17097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extShape 1"/>
          <p:cNvSpPr txBox="1"/>
          <p:nvPr/>
        </p:nvSpPr>
        <p:spPr>
          <a:xfrm>
            <a:off x="71640" y="408960"/>
            <a:ext cx="9755280" cy="219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7200" b="0" strike="noStrike" spc="-1">
                <a:solidFill>
                  <a:srgbClr val="FFFFFF"/>
                </a:solidFill>
                <a:latin typeface="Verdana"/>
                <a:ea typeface="Verdana"/>
              </a:rPr>
              <a:t>Всем спасибо!</a:t>
            </a:r>
            <a:endParaRPr lang="ru-RU" sz="72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</TotalTime>
  <Words>1563</Words>
  <Application>Microsoft Office PowerPoint</Application>
  <PresentationFormat>Лист A4 (210x297 мм)</PresentationFormat>
  <Paragraphs>387</Paragraphs>
  <Slides>42</Slides>
  <Notes>28</Notes>
  <HiddenSlides>0</HiddenSlides>
  <MMClips>0</MMClips>
  <ScaleCrop>false</ScaleCrop>
  <HeadingPairs>
    <vt:vector size="4" baseType="variant">
      <vt:variant>
        <vt:lpstr>Тема</vt:lpstr>
      </vt:variant>
      <vt:variant>
        <vt:i4>6</vt:i4>
      </vt:variant>
      <vt:variant>
        <vt:lpstr>Заголовки слайдов</vt:lpstr>
      </vt:variant>
      <vt:variant>
        <vt:i4>42</vt:i4>
      </vt:variant>
    </vt:vector>
  </HeadingPairs>
  <TitlesOfParts>
    <vt:vector size="48" baseType="lpstr">
      <vt:lpstr>Office Theme</vt:lpstr>
      <vt:lpstr>Office Theme</vt:lpstr>
      <vt:lpstr>Office Theme</vt:lpstr>
      <vt:lpstr>Office Theme</vt:lpstr>
      <vt:lpstr>Office Theme</vt:lpstr>
      <vt:lpstr>Office Theme</vt:lpstr>
      <vt:lpstr>Презентация PowerPoint</vt:lpstr>
      <vt:lpstr>Презентация PowerPoint</vt:lpstr>
      <vt:lpstr>Преимущества docker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Николишин Николай Дмитриевич</dc:creator>
  <cp:lastModifiedBy>Virger</cp:lastModifiedBy>
  <cp:revision>792</cp:revision>
  <dcterms:created xsi:type="dcterms:W3CDTF">2017-01-09T10:54:16Z</dcterms:created>
  <dcterms:modified xsi:type="dcterms:W3CDTF">2025-10-20T09:01:53Z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16.0016</vt:lpwstr>
  </property>
  <property fmtid="{D5CDD505-2E9C-101B-9397-08002B2CF9AE}" pid="3" name="DocSecurity">
    <vt:i4>0</vt:i4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14</vt:i4>
  </property>
  <property fmtid="{D5CDD505-2E9C-101B-9397-08002B2CF9AE}" pid="9" name="PresentationFormat">
    <vt:lpwstr>Лист A4 (210x297 мм)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