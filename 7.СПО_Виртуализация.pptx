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69" r:id="rId2"/>
    <p:sldId id="362" r:id="rId3"/>
    <p:sldId id="324" r:id="rId4"/>
    <p:sldId id="363" r:id="rId5"/>
    <p:sldId id="326" r:id="rId6"/>
    <p:sldId id="364" r:id="rId7"/>
    <p:sldId id="344" r:id="rId8"/>
    <p:sldId id="343" r:id="rId9"/>
    <p:sldId id="367" r:id="rId10"/>
    <p:sldId id="345" r:id="rId11"/>
    <p:sldId id="346" r:id="rId12"/>
    <p:sldId id="347" r:id="rId13"/>
    <p:sldId id="348" r:id="rId14"/>
    <p:sldId id="349" r:id="rId15"/>
    <p:sldId id="365" r:id="rId16"/>
    <p:sldId id="350" r:id="rId17"/>
    <p:sldId id="351" r:id="rId18"/>
    <p:sldId id="352" r:id="rId19"/>
    <p:sldId id="353" r:id="rId20"/>
    <p:sldId id="354" r:id="rId21"/>
    <p:sldId id="355" r:id="rId22"/>
    <p:sldId id="356" r:id="rId23"/>
    <p:sldId id="358" r:id="rId24"/>
    <p:sldId id="359" r:id="rId25"/>
    <p:sldId id="366" r:id="rId26"/>
  </p:sldIdLst>
  <p:sldSz cx="9144000" cy="5143500" type="screen16x9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A82A"/>
    <a:srgbClr val="69BA2E"/>
    <a:srgbClr val="008000"/>
    <a:srgbClr val="70B744"/>
    <a:srgbClr val="78AC32"/>
    <a:srgbClr val="3366CC"/>
    <a:srgbClr val="FF3300"/>
    <a:srgbClr val="FF9900"/>
    <a:srgbClr val="009900"/>
    <a:srgbClr val="8CC6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94713" autoAdjust="0"/>
  </p:normalViewPr>
  <p:slideViewPr>
    <p:cSldViewPr>
      <p:cViewPr varScale="1">
        <p:scale>
          <a:sx n="142" d="100"/>
          <a:sy n="142" d="100"/>
        </p:scale>
        <p:origin x="-660" y="-10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5050CD-774B-49D8-BD48-588878CD29DE}" type="datetimeFigureOut">
              <a:rPr lang="ru-RU" smtClean="0"/>
              <a:pPr/>
              <a:t>19.10.2025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F026F2-D5D9-4357-888D-2B8A871629E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25669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F3228A-76AA-46A0-84F1-C59510D4B7F3}" type="datetimeFigureOut">
              <a:rPr lang="ru-RU" smtClean="0"/>
              <a:pPr/>
              <a:t>19.10.2025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AD41C-A792-4816-BA5E-6EA0AE8F176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0352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DB9C3-0A17-472F-824C-1073C4EA7727}" type="datetimeFigureOut">
              <a:rPr lang="ru-RU" smtClean="0"/>
              <a:pPr/>
              <a:t>19.10.2025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5080-DA93-457F-8D82-0AEAB95A120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488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DB9C3-0A17-472F-824C-1073C4EA7727}" type="datetimeFigureOut">
              <a:rPr lang="ru-RU" smtClean="0"/>
              <a:pPr/>
              <a:t>19.10.2025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5080-DA93-457F-8D82-0AEAB95A120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708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DB9C3-0A17-472F-824C-1073C4EA7727}" type="datetimeFigureOut">
              <a:rPr lang="ru-RU" smtClean="0"/>
              <a:pPr/>
              <a:t>19.10.2025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5080-DA93-457F-8D82-0AEAB95A120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456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DB9C3-0A17-472F-824C-1073C4EA7727}" type="datetimeFigureOut">
              <a:rPr lang="ru-RU" smtClean="0"/>
              <a:pPr/>
              <a:t>19.10.2025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5080-DA93-457F-8D82-0AEAB95A120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7467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DB9C3-0A17-472F-824C-1073C4EA7727}" type="datetimeFigureOut">
              <a:rPr lang="ru-RU" smtClean="0"/>
              <a:pPr/>
              <a:t>19.10.2025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5080-DA93-457F-8D82-0AEAB95A120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4965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DB9C3-0A17-472F-824C-1073C4EA7727}" type="datetimeFigureOut">
              <a:rPr lang="ru-RU" smtClean="0"/>
              <a:pPr/>
              <a:t>19.10.2025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5080-DA93-457F-8D82-0AEAB95A120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2257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DB9C3-0A17-472F-824C-1073C4EA7727}" type="datetimeFigureOut">
              <a:rPr lang="ru-RU" smtClean="0"/>
              <a:pPr/>
              <a:t>19.10.2025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5080-DA93-457F-8D82-0AEAB95A120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1316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DB9C3-0A17-472F-824C-1073C4EA7727}" type="datetimeFigureOut">
              <a:rPr lang="ru-RU" smtClean="0"/>
              <a:pPr/>
              <a:t>19.10.2025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5080-DA93-457F-8D82-0AEAB95A120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717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DB9C3-0A17-472F-824C-1073C4EA7727}" type="datetimeFigureOut">
              <a:rPr lang="ru-RU" smtClean="0"/>
              <a:pPr/>
              <a:t>19.10.2025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5080-DA93-457F-8D82-0AEAB95A120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62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DB9C3-0A17-472F-824C-1073C4EA7727}" type="datetimeFigureOut">
              <a:rPr lang="ru-RU" smtClean="0"/>
              <a:pPr/>
              <a:t>19.10.2025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5080-DA93-457F-8D82-0AEAB95A120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6929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DB9C3-0A17-472F-824C-1073C4EA7727}" type="datetimeFigureOut">
              <a:rPr lang="ru-RU" smtClean="0"/>
              <a:pPr/>
              <a:t>19.10.2025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5080-DA93-457F-8D82-0AEAB95A120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581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21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DB9C3-0A17-472F-824C-1073C4EA7727}" type="datetimeFigureOut">
              <a:rPr lang="ru-RU" smtClean="0"/>
              <a:pPr/>
              <a:t>19.10.2025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35080-DA93-457F-8D82-0AEAB95A1203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7" name="Google Shape;89;p1"/>
          <p:cNvCxnSpPr/>
          <p:nvPr userDrawn="1"/>
        </p:nvCxnSpPr>
        <p:spPr>
          <a:xfrm>
            <a:off x="357158" y="96744"/>
            <a:ext cx="8501122" cy="1588"/>
          </a:xfrm>
          <a:prstGeom prst="straightConnector1">
            <a:avLst/>
          </a:prstGeom>
          <a:noFill/>
          <a:ln w="9525" cap="flat" cmpd="sng">
            <a:solidFill>
              <a:srgbClr val="E36C0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90;p1"/>
          <p:cNvCxnSpPr/>
          <p:nvPr userDrawn="1"/>
        </p:nvCxnSpPr>
        <p:spPr>
          <a:xfrm rot="5400000">
            <a:off x="107919" y="347571"/>
            <a:ext cx="500066" cy="1588"/>
          </a:xfrm>
          <a:prstGeom prst="straightConnector1">
            <a:avLst/>
          </a:prstGeom>
          <a:noFill/>
          <a:ln w="19050" cap="flat" cmpd="sng">
            <a:solidFill>
              <a:srgbClr val="FABF8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91;p1"/>
          <p:cNvCxnSpPr/>
          <p:nvPr userDrawn="1"/>
        </p:nvCxnSpPr>
        <p:spPr>
          <a:xfrm>
            <a:off x="491522" y="5020022"/>
            <a:ext cx="8143932" cy="1588"/>
          </a:xfrm>
          <a:prstGeom prst="straightConnector1">
            <a:avLst/>
          </a:prstGeom>
          <a:noFill/>
          <a:ln w="9525" cap="flat" cmpd="sng">
            <a:solidFill>
              <a:srgbClr val="E36C09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56080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2000" b="1" kern="1200">
          <a:solidFill>
            <a:schemeClr val="accent1">
              <a:lumMod val="75000"/>
            </a:schemeClr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39552" y="1710556"/>
            <a:ext cx="80648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Технологии виртуализации</a:t>
            </a:r>
            <a:endParaRPr lang="ru-RU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94;p1"/>
          <p:cNvSpPr txBox="1"/>
          <p:nvPr/>
        </p:nvSpPr>
        <p:spPr>
          <a:xfrm>
            <a:off x="3347864" y="4659982"/>
            <a:ext cx="257176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 dirty="0" err="1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Нижний</a:t>
            </a:r>
            <a:r>
              <a:rPr lang="en-US" sz="1600" b="1" i="1" u="none" strike="noStrike" cap="none" dirty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1" u="none" strike="noStrike" cap="none" dirty="0" err="1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Новгород</a:t>
            </a:r>
            <a:r>
              <a:rPr lang="en-US" sz="1600" b="1" i="1" u="none" strike="noStrike" cap="none" dirty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00" b="1" i="1" u="none" strike="noStrike" cap="none" dirty="0" smtClean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ru-RU" sz="1600" b="1" i="1" u="none" strike="noStrike" cap="none" dirty="0" smtClean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600" b="1" i="1" u="none" strike="noStrike" cap="none" dirty="0" smtClean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5г</a:t>
            </a:r>
            <a:r>
              <a:rPr lang="en-US" sz="1600" b="1" i="1" u="none" strike="noStrike" cap="none" dirty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2000" b="1" i="0" u="none" strike="noStrike" cap="none" dirty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 b="1" dirty="0">
              <a:solidFill>
                <a:srgbClr val="0A37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1465317" y="2715766"/>
            <a:ext cx="6120680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/>
              <a:t>Разные среды разработки, тестирования и </a:t>
            </a:r>
            <a:r>
              <a:rPr lang="ru-RU" dirty="0" err="1"/>
              <a:t>продакшена</a:t>
            </a:r>
            <a:r>
              <a:rPr lang="ru-RU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/>
              <a:t>Конфликты версий библиотек и языков </a:t>
            </a:r>
            <a:endParaRPr lang="ru-RU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 smtClean="0"/>
              <a:t>Сложность </a:t>
            </a:r>
            <a:r>
              <a:rPr lang="ru-RU" dirty="0"/>
              <a:t>переноса и настройки </a:t>
            </a:r>
            <a:r>
              <a:rPr lang="ru-RU" dirty="0" smtClean="0"/>
              <a:t>приложения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 smtClean="0"/>
              <a:t>Неэффективное расходование аппаратных ресурсов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/>
              <a:t>Медленное масштабирование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843808" y="186194"/>
            <a:ext cx="3360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solidFill>
                  <a:schemeClr val="accent1">
                    <a:lumMod val="75000"/>
                  </a:schemeClr>
                </a:solidFill>
              </a:rPr>
              <a:t>ПРОБЛЕМЫ ПЕРЕНОСТИМОСТИ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699542"/>
            <a:ext cx="3625153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3405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2699792" y="272534"/>
            <a:ext cx="42737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solidFill>
                  <a:schemeClr val="accent1">
                    <a:lumMod val="75000"/>
                  </a:schemeClr>
                </a:solidFill>
              </a:rPr>
              <a:t>ЦЕЛИ СОВРЕМЕННОЙ ИНФРАСТРУКТУРЫ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763688" y="1203598"/>
            <a:ext cx="6624736" cy="2126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Изоляция:</a:t>
            </a:r>
            <a:r>
              <a:rPr lang="ru-RU" dirty="0"/>
              <a:t> Приложения не мешают друг другу.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Переносимость:</a:t>
            </a:r>
            <a:r>
              <a:rPr lang="ru-RU" dirty="0"/>
              <a:t> Запуск в любой среде без изменений.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Эффективность:</a:t>
            </a:r>
            <a:r>
              <a:rPr lang="ru-RU" dirty="0"/>
              <a:t> Максимальное использование ресурсов.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Масштабируемость:</a:t>
            </a:r>
            <a:r>
              <a:rPr lang="ru-RU" dirty="0"/>
              <a:t> Возможность легко увеличивать или уменьшать мощность.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043608" y="4011910"/>
            <a:ext cx="7632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Физические сервера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 </a:t>
            </a:r>
            <a:r>
              <a:rPr lang="ru-RU" dirty="0"/>
              <a:t>-&gt; </a:t>
            </a:r>
            <a:r>
              <a:rPr lang="ru-RU" b="1" dirty="0"/>
              <a:t>Виртуальные машины (ВМ)</a:t>
            </a:r>
            <a:r>
              <a:rPr lang="ru-RU" dirty="0"/>
              <a:t> -&gt; </a:t>
            </a:r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Контейнеры</a:t>
            </a:r>
            <a:endParaRPr lang="ru-RU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01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050" name="Picture 2" descr="https://blog.colobridge.net/wp-content/uploads/2023/06/architecture_ru-1024x38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136276"/>
            <a:ext cx="8171927" cy="310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7617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99592" y="2139702"/>
            <a:ext cx="74168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solidFill>
                  <a:schemeClr val="accent1">
                    <a:lumMod val="75000"/>
                  </a:schemeClr>
                </a:solidFill>
              </a:rPr>
              <a:t>ВИРТУАЛЬНЫЕ МАШИНЫ</a:t>
            </a:r>
            <a:endParaRPr lang="ru-RU" sz="24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01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55576" y="483518"/>
            <a:ext cx="7416824" cy="3631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Виртуальная машина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программная или аппаратная среда, которая скрывает настоящую реализацию какого-либо процесса или объекта от его видимого представления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ru-RU" sz="16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Гипервизор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(или монитор виртуальных машин) — это программное или аппаратное обеспечение, которое создает и запускает виртуальные машины (ВМ). </a:t>
            </a: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Гостевая операционная система (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Guest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OS)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операционная система, которая работает внутри виртуальной машины, созданной и управляемой гипервизором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Хостовая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операционная система (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OS)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основная операционная система, которая установлена напрямую на физическом оборудовании (сервере, компьютере, ноутбуке) и управляет всеми его ресурсами.</a:t>
            </a:r>
          </a:p>
        </p:txBody>
      </p:sp>
    </p:spTree>
    <p:extLst>
      <p:ext uri="{BB962C8B-B14F-4D97-AF65-F5344CB8AC3E}">
        <p14:creationId xmlns:p14="http://schemas.microsoft.com/office/powerpoint/2010/main" val="2882778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3793" name="Рисунок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987574"/>
            <a:ext cx="6106754" cy="2808312"/>
          </a:xfrm>
          <a:prstGeom prst="rect">
            <a:avLst/>
          </a:prstGeom>
          <a:noFill/>
        </p:spPr>
      </p:pic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2411760" y="4299942"/>
            <a:ext cx="358014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492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rgbClr val="282828"/>
                </a:solidFill>
                <a:effectLst/>
                <a:latin typeface="Tahoma" pitchFamily="34" charset="0"/>
                <a:ea typeface="Calibri" pitchFamily="34" charset="0"/>
                <a:cs typeface="Tahoma" pitchFamily="34" charset="0"/>
              </a:rPr>
              <a:t>Виртуализация серверов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01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7889" name="Rectangle 1"/>
          <p:cNvSpPr>
            <a:spLocks noChangeArrowheads="1"/>
          </p:cNvSpPr>
          <p:nvPr/>
        </p:nvSpPr>
        <p:spPr bwMode="auto">
          <a:xfrm>
            <a:off x="971600" y="1300289"/>
            <a:ext cx="7272808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b="1" dirty="0" smtClean="0"/>
              <a:t>Особенности виртуальных машин</a:t>
            </a:r>
            <a:r>
              <a:rPr lang="en-US" sz="2000" b="1" dirty="0" smtClean="0"/>
              <a:t>:</a:t>
            </a:r>
            <a:endParaRPr lang="ru-RU" sz="2000" b="1" dirty="0" smtClean="0"/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SzPct val="120000"/>
              <a:buFont typeface="Wingdings" panose="05000000000000000000" pitchFamily="2" charset="2"/>
              <a:buChar char="Ø"/>
            </a:pPr>
            <a:r>
              <a:rPr lang="ru-RU" sz="2000" dirty="0" smtClean="0"/>
              <a:t>Совместимость</a:t>
            </a: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SzPct val="120000"/>
              <a:buFont typeface="Wingdings" panose="05000000000000000000" pitchFamily="2" charset="2"/>
              <a:buChar char="Ø"/>
            </a:pPr>
            <a:r>
              <a:rPr lang="ru-RU" sz="2000" dirty="0" smtClean="0"/>
              <a:t>Изолированность</a:t>
            </a: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SzPct val="120000"/>
              <a:buFont typeface="Wingdings" panose="05000000000000000000" pitchFamily="2" charset="2"/>
              <a:buChar char="Ø"/>
            </a:pPr>
            <a:r>
              <a:rPr lang="ru-RU" sz="2000" dirty="0" smtClean="0"/>
              <a:t>Инкапсуляция</a:t>
            </a: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SzPct val="120000"/>
              <a:buFont typeface="Wingdings" panose="05000000000000000000" pitchFamily="2" charset="2"/>
              <a:buChar char="Ø"/>
            </a:pPr>
            <a:r>
              <a:rPr lang="ru-RU" sz="2000" dirty="0" smtClean="0"/>
              <a:t>Независимость от оборудования 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28601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0" y="2362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6083" name="Rectangle 3"/>
          <p:cNvSpPr>
            <a:spLocks noChangeArrowheads="1"/>
          </p:cNvSpPr>
          <p:nvPr/>
        </p:nvSpPr>
        <p:spPr bwMode="auto">
          <a:xfrm>
            <a:off x="1547664" y="4299942"/>
            <a:ext cx="58171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492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rgbClr val="282828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Архитектура виртуализации с гипервизором 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1023938"/>
            <a:ext cx="4905375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2634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744252" y="483518"/>
            <a:ext cx="820891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/>
              <a:t>Полная виртуализация</a:t>
            </a:r>
            <a:r>
              <a:rPr lang="en-US" dirty="0" smtClean="0"/>
              <a:t> (Full, Native Virtualization). </a:t>
            </a:r>
            <a:r>
              <a:rPr lang="ru-RU" dirty="0" smtClean="0"/>
              <a:t>Используются не модифицированные экземпляры гостевых операционных систем, а для поддержки работы этих ОС служит общий слой эмуляции их исполнения поверх </a:t>
            </a:r>
            <a:r>
              <a:rPr lang="ru-RU" dirty="0" err="1" smtClean="0"/>
              <a:t>хостовой</a:t>
            </a:r>
            <a:r>
              <a:rPr lang="ru-RU" dirty="0" smtClean="0"/>
              <a:t> ОС, в роли которой выступает обычная операционная система. Такая технология </a:t>
            </a:r>
            <a:r>
              <a:rPr lang="ru-RU" dirty="0" err="1" smtClean="0"/>
              <a:t>применяетсяв</a:t>
            </a:r>
            <a:r>
              <a:rPr lang="en-US" dirty="0" smtClean="0"/>
              <a:t> VMware Workstation, VMware Server, Parallels Desktop, Parallels Server, MS Virtual PC, MS Virtual Server, Virtual Iron.</a:t>
            </a:r>
            <a:endParaRPr lang="ru-RU" dirty="0"/>
          </a:p>
        </p:txBody>
      </p:sp>
      <p:pic>
        <p:nvPicPr>
          <p:cNvPr id="10" name="Рисунок 9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2427734"/>
            <a:ext cx="4968552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01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611560" y="446731"/>
            <a:ext cx="828092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/>
              <a:t>Паравиртуализация</a:t>
            </a:r>
            <a:r>
              <a:rPr lang="ru-RU" dirty="0" smtClean="0"/>
              <a:t> (</a:t>
            </a:r>
            <a:r>
              <a:rPr lang="ru-RU" dirty="0" err="1" smtClean="0"/>
              <a:t>paravirtualization</a:t>
            </a:r>
            <a:r>
              <a:rPr lang="ru-RU" dirty="0" smtClean="0"/>
              <a:t>). Модификация ядра гостевой ОС выполняется таким образом, что в нее включается новый набор API, через который она может напрямую работать с аппаратурой, не конфликтуя с другими виртуальными машинами. При этом нет необходимости задействовать полноценную ОС в качестве </a:t>
            </a:r>
            <a:r>
              <a:rPr lang="ru-RU" dirty="0" err="1" smtClean="0"/>
              <a:t>хостового</a:t>
            </a:r>
            <a:r>
              <a:rPr lang="ru-RU" dirty="0" smtClean="0"/>
              <a:t> ПО, функции которого в данном случае исполняет специальная система, получившая название гипервизора (</a:t>
            </a:r>
            <a:r>
              <a:rPr lang="ru-RU" dirty="0" err="1" smtClean="0"/>
              <a:t>hypervisor</a:t>
            </a:r>
            <a:r>
              <a:rPr lang="ru-RU" dirty="0" smtClean="0"/>
              <a:t>). </a:t>
            </a:r>
            <a:r>
              <a:rPr lang="ru-RU" dirty="0" err="1" smtClean="0"/>
              <a:t>VMware</a:t>
            </a:r>
            <a:r>
              <a:rPr lang="ru-RU" dirty="0" smtClean="0"/>
              <a:t> ESX </a:t>
            </a:r>
            <a:r>
              <a:rPr lang="ru-RU" dirty="0" err="1" smtClean="0"/>
              <a:t>Server</a:t>
            </a:r>
            <a:r>
              <a:rPr lang="ru-RU" dirty="0" smtClean="0"/>
              <a:t>, </a:t>
            </a:r>
            <a:r>
              <a:rPr lang="ru-RU" dirty="0" err="1" smtClean="0"/>
              <a:t>Xen</a:t>
            </a:r>
            <a:r>
              <a:rPr lang="ru-RU" dirty="0" smtClean="0"/>
              <a:t>, </a:t>
            </a:r>
            <a:r>
              <a:rPr lang="ru-RU" dirty="0" err="1" smtClean="0"/>
              <a:t>Microsoft</a:t>
            </a:r>
            <a:r>
              <a:rPr lang="ru-RU" dirty="0" smtClean="0"/>
              <a:t> </a:t>
            </a:r>
            <a:r>
              <a:rPr lang="ru-RU" dirty="0" err="1" smtClean="0"/>
              <a:t>Hyper-V</a:t>
            </a:r>
            <a:endParaRPr lang="ru-RU" dirty="0"/>
          </a:p>
        </p:txBody>
      </p:sp>
      <p:pic>
        <p:nvPicPr>
          <p:cNvPr id="11" name="Рисунок 10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2571750"/>
            <a:ext cx="4752528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01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755576" y="411510"/>
            <a:ext cx="806489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Виртуализация на уровне ядра ОС</a:t>
            </a:r>
            <a:r>
              <a:rPr lang="en-US" dirty="0" smtClean="0"/>
              <a:t> (operating system-level virtualization). </a:t>
            </a:r>
            <a:r>
              <a:rPr lang="ru-RU" dirty="0" smtClean="0"/>
              <a:t>Этот вариант подразумевает использование одного ядра </a:t>
            </a:r>
            <a:r>
              <a:rPr lang="ru-RU" dirty="0" err="1" smtClean="0"/>
              <a:t>хостовой</a:t>
            </a:r>
            <a:r>
              <a:rPr lang="ru-RU" dirty="0" smtClean="0"/>
              <a:t> ОС для создания независимых параллельно работающих операционных сред. Для гостевого ПО создается только собственное сетевое и аппаратное окружение. Такой вариант используется в </a:t>
            </a:r>
            <a:r>
              <a:rPr lang="ru-RU" dirty="0" err="1" smtClean="0"/>
              <a:t>Virtuozzo</a:t>
            </a:r>
            <a:r>
              <a:rPr lang="ru-RU" dirty="0" smtClean="0"/>
              <a:t> (для </a:t>
            </a:r>
            <a:r>
              <a:rPr lang="ru-RU" dirty="0" err="1" smtClean="0"/>
              <a:t>Linux</a:t>
            </a:r>
            <a:r>
              <a:rPr lang="ru-RU" dirty="0" smtClean="0"/>
              <a:t> и </a:t>
            </a:r>
            <a:r>
              <a:rPr lang="ru-RU" dirty="0" err="1" smtClean="0"/>
              <a:t>Windows</a:t>
            </a:r>
            <a:r>
              <a:rPr lang="ru-RU" dirty="0" smtClean="0"/>
              <a:t>), </a:t>
            </a:r>
            <a:r>
              <a:rPr lang="ru-RU" dirty="0" err="1" smtClean="0"/>
              <a:t>OpenVZ</a:t>
            </a:r>
            <a:r>
              <a:rPr lang="ru-RU" dirty="0" smtClean="0"/>
              <a:t> (бесплатный вариант </a:t>
            </a:r>
            <a:r>
              <a:rPr lang="ru-RU" dirty="0" err="1" smtClean="0"/>
              <a:t>Virtuozzo</a:t>
            </a:r>
            <a:r>
              <a:rPr lang="ru-RU" dirty="0" smtClean="0"/>
              <a:t>) и </a:t>
            </a:r>
            <a:r>
              <a:rPr lang="ru-RU" dirty="0" err="1" smtClean="0"/>
              <a:t>Solaris</a:t>
            </a:r>
            <a:r>
              <a:rPr lang="ru-RU" dirty="0" smtClean="0"/>
              <a:t> </a:t>
            </a:r>
            <a:r>
              <a:rPr lang="ru-RU" dirty="0" err="1" smtClean="0"/>
              <a:t>Containers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10" name="Рисунок 9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2427734"/>
            <a:ext cx="4608512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01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755576" y="457200"/>
            <a:ext cx="820891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Виртуализация приложений</a:t>
            </a:r>
            <a:r>
              <a:rPr lang="ru-RU" dirty="0" smtClean="0"/>
              <a:t> подразумевает применение модели сильной изоляции прикладных программ с управляемым взаимодействием с ОС, при которой </a:t>
            </a:r>
            <a:r>
              <a:rPr lang="ru-RU" dirty="0" err="1" smtClean="0"/>
              <a:t>виртуализируется</a:t>
            </a:r>
            <a:r>
              <a:rPr lang="ru-RU" dirty="0" smtClean="0"/>
              <a:t> каждый экземпляр приложений, все его основные компоненты: файлы (включая системные), реестр, шрифты, INI-файлы, COM-объекты, службы. </a:t>
            </a:r>
            <a:endParaRPr lang="ru-RU" dirty="0"/>
          </a:p>
        </p:txBody>
      </p:sp>
      <p:pic>
        <p:nvPicPr>
          <p:cNvPr id="11" name="Рисунок 10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2067694"/>
            <a:ext cx="3168352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01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683568" y="411510"/>
            <a:ext cx="820891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Виртуализация представлений (рабочих мест) </a:t>
            </a:r>
            <a:r>
              <a:rPr lang="ru-RU" dirty="0" smtClean="0"/>
              <a:t>Виртуализация представлений подразумевает эмуляцию интерфейса пользователя. Т.е. пользователь видит приложение и работает с ним на своём терминале, хотя на самом деле приложение выполняется на удалённом сервере, а пользователю передаётся лишь картинка удалённого приложения.</a:t>
            </a:r>
            <a:endParaRPr lang="ru-RU" dirty="0"/>
          </a:p>
        </p:txBody>
      </p:sp>
      <p:pic>
        <p:nvPicPr>
          <p:cNvPr id="10" name="Рисунок 9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426" y="2139702"/>
            <a:ext cx="2790476" cy="25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01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7889" name="Rectangle 1"/>
          <p:cNvSpPr>
            <a:spLocks noChangeArrowheads="1"/>
          </p:cNvSpPr>
          <p:nvPr/>
        </p:nvSpPr>
        <p:spPr bwMode="auto">
          <a:xfrm>
            <a:off x="1475656" y="843558"/>
            <a:ext cx="7272808" cy="3831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ru-RU" dirty="0" smtClean="0"/>
              <a:t>Эффективное использование вычислительных ресурсов</a:t>
            </a:r>
          </a:p>
          <a:p>
            <a:pPr marL="285750" lvl="0" indent="-28575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ru-RU" dirty="0" smtClean="0"/>
              <a:t>Сокращение расходов на инфраструктуру</a:t>
            </a:r>
          </a:p>
          <a:p>
            <a:pPr marL="285750" lvl="0" indent="-28575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ru-RU" dirty="0" smtClean="0"/>
              <a:t>Снижение затрат на программное обеспечение</a:t>
            </a:r>
          </a:p>
          <a:p>
            <a:pPr marL="285750" lvl="0" indent="-28575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ru-RU" dirty="0" smtClean="0"/>
              <a:t>Повышение гибкости и скорости реагирования системы</a:t>
            </a:r>
          </a:p>
          <a:p>
            <a:pPr marL="285750" lvl="0" indent="-28575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ru-RU" dirty="0" smtClean="0"/>
              <a:t>Несовместимые приложения могут работать на одном компьютере</a:t>
            </a:r>
          </a:p>
          <a:p>
            <a:pPr marL="285750" lvl="0" indent="-28575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ru-RU" dirty="0" smtClean="0"/>
              <a:t>Повышение доступности приложений и обеспечение непрерывности работы предприятия</a:t>
            </a:r>
          </a:p>
          <a:p>
            <a:pPr marL="285750" lvl="0" indent="-28575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ru-RU" dirty="0" smtClean="0"/>
              <a:t>Возможности легкой архивации</a:t>
            </a:r>
          </a:p>
          <a:p>
            <a:pPr marL="285750" lvl="0" indent="-28575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ru-RU" dirty="0" smtClean="0"/>
              <a:t>Повышение управляемости инфраструктуры</a:t>
            </a:r>
            <a:endParaRPr kumimoji="0" lang="ru-RU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843808" y="186194"/>
            <a:ext cx="32588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Преимущества виртуализации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483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742964" y="627534"/>
            <a:ext cx="820891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 smtClean="0"/>
              <a:t>V</a:t>
            </a:r>
            <a:r>
              <a:rPr lang="ru-RU" b="1" i="1" dirty="0" err="1" smtClean="0"/>
              <a:t>Mware</a:t>
            </a:r>
            <a:r>
              <a:rPr lang="ru-RU" b="1" i="1" dirty="0" smtClean="0"/>
              <a:t> </a:t>
            </a:r>
          </a:p>
          <a:p>
            <a:r>
              <a:rPr lang="ru-RU" dirty="0" smtClean="0"/>
              <a:t>Компания </a:t>
            </a:r>
            <a:r>
              <a:rPr lang="ru-RU" dirty="0" err="1" smtClean="0"/>
              <a:t>VMware</a:t>
            </a:r>
            <a:r>
              <a:rPr lang="ru-RU" dirty="0" smtClean="0"/>
              <a:t> – один из первых игроков на рынке платформ виртуализации. В 1998 году </a:t>
            </a:r>
            <a:r>
              <a:rPr lang="ru-RU" dirty="0" err="1" smtClean="0"/>
              <a:t>VMware</a:t>
            </a:r>
            <a:r>
              <a:rPr lang="ru-RU" dirty="0" smtClean="0"/>
              <a:t> запатентовала свои программные техники виртуализации и с тех пор выпустила немало эффективных и профессиональных продуктов для виртуализации различного уровня: от </a:t>
            </a:r>
            <a:r>
              <a:rPr lang="ru-RU" dirty="0" err="1" smtClean="0"/>
              <a:t>VMware</a:t>
            </a:r>
            <a:r>
              <a:rPr lang="ru-RU" dirty="0" smtClean="0"/>
              <a:t> </a:t>
            </a:r>
            <a:r>
              <a:rPr lang="ru-RU" dirty="0" err="1" smtClean="0"/>
              <a:t>Workstation</a:t>
            </a:r>
            <a:r>
              <a:rPr lang="ru-RU" dirty="0" smtClean="0"/>
              <a:t>, предназначенного для настольных ПК, до </a:t>
            </a:r>
            <a:r>
              <a:rPr lang="ru-RU" dirty="0" err="1" smtClean="0"/>
              <a:t>VMware</a:t>
            </a:r>
            <a:r>
              <a:rPr lang="ru-RU" dirty="0" smtClean="0"/>
              <a:t> ESX </a:t>
            </a:r>
            <a:r>
              <a:rPr lang="ru-RU" dirty="0" err="1" smtClean="0"/>
              <a:t>Server</a:t>
            </a:r>
            <a:r>
              <a:rPr lang="ru-RU" dirty="0" smtClean="0"/>
              <a:t>, позволяющего консолидировать физические серверы предприятия в виртуальной инфраструктуре.</a:t>
            </a:r>
            <a:endParaRPr lang="en-US" dirty="0" smtClean="0"/>
          </a:p>
          <a:p>
            <a:endParaRPr lang="en-US" dirty="0" smtClean="0"/>
          </a:p>
          <a:p>
            <a:r>
              <a:rPr lang="ru-RU" b="1" dirty="0" err="1" smtClean="0"/>
              <a:t>VMware</a:t>
            </a:r>
            <a:r>
              <a:rPr lang="ru-RU" b="1" dirty="0" smtClean="0"/>
              <a:t> </a:t>
            </a:r>
            <a:r>
              <a:rPr lang="ru-RU" b="1" dirty="0" err="1" smtClean="0"/>
              <a:t>Workstation</a:t>
            </a:r>
            <a:r>
              <a:rPr lang="ru-RU" dirty="0" smtClean="0"/>
              <a:t> – платформа, ориентированная на desktop-пользователей и предназначенная для использования разработчиками ПО, а также профессионалами в сфере ИТ.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601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678097" y="480349"/>
            <a:ext cx="828092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 smtClean="0"/>
              <a:t>VMware</a:t>
            </a:r>
            <a:r>
              <a:rPr lang="ru-RU" b="1" dirty="0" smtClean="0"/>
              <a:t> </a:t>
            </a:r>
            <a:r>
              <a:rPr lang="ru-RU" b="1" dirty="0" err="1" smtClean="0"/>
              <a:t>Fusion</a:t>
            </a:r>
            <a:r>
              <a:rPr lang="ru-RU" dirty="0" smtClean="0"/>
              <a:t> – настольный продукт для виртуализации на платформе </a:t>
            </a:r>
            <a:r>
              <a:rPr lang="ru-RU" dirty="0" err="1" smtClean="0"/>
              <a:t>Mac</a:t>
            </a:r>
            <a:r>
              <a:rPr lang="ru-RU" dirty="0" smtClean="0"/>
              <a:t> от компании </a:t>
            </a:r>
            <a:r>
              <a:rPr lang="ru-RU" dirty="0" err="1" smtClean="0"/>
              <a:t>Apple</a:t>
            </a:r>
            <a:r>
              <a:rPr lang="ru-RU" dirty="0" smtClean="0"/>
              <a:t>. </a:t>
            </a:r>
            <a:endParaRPr lang="en-US" dirty="0" smtClean="0"/>
          </a:p>
          <a:p>
            <a:endParaRPr lang="ru-RU" dirty="0" smtClean="0"/>
          </a:p>
          <a:p>
            <a:r>
              <a:rPr lang="ru-RU" b="1" dirty="0" err="1" smtClean="0"/>
              <a:t>VMware</a:t>
            </a:r>
            <a:r>
              <a:rPr lang="ru-RU" b="1" dirty="0" smtClean="0"/>
              <a:t> </a:t>
            </a:r>
            <a:r>
              <a:rPr lang="ru-RU" b="1" dirty="0" err="1" smtClean="0"/>
              <a:t>Server</a:t>
            </a:r>
            <a:r>
              <a:rPr lang="ru-RU" dirty="0" smtClean="0"/>
              <a:t>, является довольно мощной платформой виртуализации, которая может быть запущена на серверах под управлением </a:t>
            </a:r>
            <a:r>
              <a:rPr lang="ru-RU" dirty="0" err="1" smtClean="0"/>
              <a:t>хостовых</a:t>
            </a:r>
            <a:r>
              <a:rPr lang="ru-RU" dirty="0" smtClean="0"/>
              <a:t> операционных систем </a:t>
            </a:r>
            <a:r>
              <a:rPr lang="ru-RU" dirty="0" err="1" smtClean="0"/>
              <a:t>Windows</a:t>
            </a:r>
            <a:r>
              <a:rPr lang="ru-RU" dirty="0" smtClean="0"/>
              <a:t> и </a:t>
            </a:r>
            <a:r>
              <a:rPr lang="ru-RU" dirty="0" err="1" smtClean="0"/>
              <a:t>Linux</a:t>
            </a:r>
            <a:r>
              <a:rPr lang="ru-RU" dirty="0" smtClean="0"/>
              <a:t>.</a:t>
            </a:r>
            <a:endParaRPr lang="en-US" dirty="0" smtClean="0"/>
          </a:p>
          <a:p>
            <a:endParaRPr lang="en-US" dirty="0" smtClean="0"/>
          </a:p>
          <a:p>
            <a:r>
              <a:rPr lang="ru-RU" b="1" dirty="0" err="1" smtClean="0"/>
              <a:t>VMware</a:t>
            </a:r>
            <a:r>
              <a:rPr lang="ru-RU" b="1" dirty="0" smtClean="0"/>
              <a:t> </a:t>
            </a:r>
            <a:r>
              <a:rPr lang="ru-RU" b="1" dirty="0" err="1" smtClean="0"/>
              <a:t>Ace</a:t>
            </a:r>
            <a:r>
              <a:rPr lang="ru-RU" dirty="0" smtClean="0"/>
              <a:t> – продукт для создания защищенных политиками безопасности виртуальных машин, которые затем можно распространять по модели </a:t>
            </a:r>
            <a:r>
              <a:rPr lang="ru-RU" dirty="0" err="1" smtClean="0"/>
              <a:t>SaaS</a:t>
            </a:r>
            <a:r>
              <a:rPr lang="ru-RU" dirty="0" smtClean="0"/>
              <a:t> (</a:t>
            </a:r>
            <a:r>
              <a:rPr lang="ru-RU" dirty="0" err="1" smtClean="0"/>
              <a:t>Software</a:t>
            </a:r>
            <a:r>
              <a:rPr lang="ru-RU" dirty="0" smtClean="0"/>
              <a:t>-</a:t>
            </a:r>
            <a:r>
              <a:rPr lang="ru-RU" dirty="0" err="1" smtClean="0"/>
              <a:t>as</a:t>
            </a:r>
            <a:r>
              <a:rPr lang="ru-RU" dirty="0" smtClean="0"/>
              <a:t>-a-</a:t>
            </a:r>
            <a:r>
              <a:rPr lang="ru-RU" dirty="0" err="1" smtClean="0"/>
              <a:t>Service</a:t>
            </a:r>
            <a:r>
              <a:rPr lang="ru-RU" dirty="0" smtClean="0"/>
              <a:t>). </a:t>
            </a:r>
            <a:endParaRPr lang="en-US" dirty="0" smtClean="0"/>
          </a:p>
          <a:p>
            <a:endParaRPr lang="ru-RU" dirty="0" smtClean="0"/>
          </a:p>
          <a:p>
            <a:r>
              <a:rPr lang="ru-RU" b="1" dirty="0" err="1" smtClean="0"/>
              <a:t>VMware</a:t>
            </a:r>
            <a:r>
              <a:rPr lang="ru-RU" b="1" dirty="0" smtClean="0"/>
              <a:t> </a:t>
            </a:r>
            <a:r>
              <a:rPr lang="ru-RU" b="1" dirty="0" err="1" smtClean="0"/>
              <a:t>vSphere</a:t>
            </a:r>
            <a:r>
              <a:rPr lang="ru-RU" b="1" dirty="0" smtClean="0"/>
              <a:t> – </a:t>
            </a:r>
            <a:r>
              <a:rPr lang="ru-RU" dirty="0" smtClean="0"/>
              <a:t>комплекс продуктов, представляющий надежную платформу для виртуализации ЦОД. Компания позиционирует данный комплекс также как мощную платформу виртуализации для создания и развертывания частного «облака».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601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7" name="Рисунок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67494"/>
            <a:ext cx="4469482" cy="44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01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55576" y="699542"/>
            <a:ext cx="792088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492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VMware ESX Server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–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это гипервизор разбивающий физические серверы на множество виртуальных машин.  </a:t>
            </a:r>
            <a:r>
              <a:rPr kumimoji="0" lang="ru-RU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VMware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ESX является  основой пакета 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VMware </a:t>
            </a:r>
            <a:r>
              <a:rPr kumimoji="0" 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vSphere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и входит во все выпуски </a:t>
            </a:r>
            <a:r>
              <a:rPr kumimoji="0" lang="ru-RU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VMware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vSphere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</a:t>
            </a:r>
            <a:endParaRPr kumimoji="0" lang="ru-RU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492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6865" name="Рисунок 1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5776" y="1779661"/>
            <a:ext cx="3024336" cy="2853147"/>
          </a:xfrm>
          <a:prstGeom prst="rect">
            <a:avLst/>
          </a:prstGeom>
          <a:noFill/>
        </p:spPr>
      </p:pic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0" y="2362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01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49252" y="838041"/>
            <a:ext cx="7992888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ru-RU" b="1" dirty="0" err="1" smtClean="0"/>
              <a:t>Citrix</a:t>
            </a:r>
            <a:r>
              <a:rPr lang="ru-RU" b="1" dirty="0" smtClean="0"/>
              <a:t> (</a:t>
            </a:r>
            <a:r>
              <a:rPr lang="ru-RU" b="1" dirty="0" err="1" smtClean="0"/>
              <a:t>Xen</a:t>
            </a:r>
            <a:r>
              <a:rPr lang="ru-RU" b="1" dirty="0" smtClean="0"/>
              <a:t>) </a:t>
            </a:r>
            <a:endParaRPr lang="ru-RU" dirty="0" smtClean="0"/>
          </a:p>
          <a:p>
            <a:pPr algn="just"/>
            <a:r>
              <a:rPr lang="ru-RU" dirty="0" smtClean="0"/>
              <a:t>Разработка некоммерческого гипервизора </a:t>
            </a:r>
            <a:r>
              <a:rPr lang="ru-RU" dirty="0" err="1" smtClean="0"/>
              <a:t>Xen</a:t>
            </a:r>
            <a:r>
              <a:rPr lang="ru-RU" dirty="0" smtClean="0"/>
              <a:t> начиналась как исследовательский проект компьютерной лаборатории Кембриджского университета. Основателем проекта и его лидером был </a:t>
            </a:r>
            <a:r>
              <a:rPr lang="ru-RU" dirty="0" err="1" smtClean="0"/>
              <a:t>Иан</a:t>
            </a:r>
            <a:r>
              <a:rPr lang="ru-RU" dirty="0" smtClean="0"/>
              <a:t> </a:t>
            </a:r>
            <a:r>
              <a:rPr lang="ru-RU" dirty="0" err="1" smtClean="0"/>
              <a:t>Пратт</a:t>
            </a:r>
            <a:r>
              <a:rPr lang="ru-RU" dirty="0" smtClean="0"/>
              <a:t> (</a:t>
            </a:r>
            <a:r>
              <a:rPr lang="ru-RU" dirty="0" err="1" smtClean="0"/>
              <a:t>Ian</a:t>
            </a:r>
            <a:r>
              <a:rPr lang="ru-RU" dirty="0" smtClean="0"/>
              <a:t> </a:t>
            </a:r>
            <a:r>
              <a:rPr lang="ru-RU" dirty="0" err="1" smtClean="0"/>
              <a:t>Pratt</a:t>
            </a:r>
            <a:r>
              <a:rPr lang="ru-RU" dirty="0" smtClean="0"/>
              <a:t>) сотрудник университета, который создал впоследствии компанию </a:t>
            </a:r>
            <a:r>
              <a:rPr lang="ru-RU" dirty="0" err="1" smtClean="0"/>
              <a:t>XenSource</a:t>
            </a:r>
            <a:r>
              <a:rPr lang="ru-RU" dirty="0" smtClean="0"/>
              <a:t>, занимающуюся разработкой коммерческих платформ виртуализации на основе гипервизора </a:t>
            </a:r>
            <a:r>
              <a:rPr lang="ru-RU" dirty="0" err="1" smtClean="0"/>
              <a:t>Xen</a:t>
            </a:r>
            <a:r>
              <a:rPr lang="ru-RU" dirty="0" smtClean="0"/>
              <a:t>, а также поддержкой </a:t>
            </a:r>
            <a:r>
              <a:rPr lang="ru-RU" dirty="0" err="1" smtClean="0"/>
              <a:t>Open</a:t>
            </a:r>
            <a:r>
              <a:rPr lang="ru-RU" dirty="0" smtClean="0"/>
              <a:t> </a:t>
            </a:r>
            <a:r>
              <a:rPr lang="ru-RU" dirty="0" err="1" smtClean="0"/>
              <a:t>Source</a:t>
            </a:r>
            <a:r>
              <a:rPr lang="ru-RU" dirty="0" smtClean="0"/>
              <a:t> сообщества некоммерческого продукта </a:t>
            </a:r>
            <a:r>
              <a:rPr lang="ru-RU" dirty="0" err="1" smtClean="0"/>
              <a:t>Xen</a:t>
            </a:r>
            <a:r>
              <a:rPr lang="ru-RU" dirty="0" smtClean="0"/>
              <a:t>.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ru-RU" b="1" dirty="0" err="1" smtClean="0"/>
              <a:t>Citrix</a:t>
            </a:r>
            <a:r>
              <a:rPr lang="ru-RU" b="1" dirty="0" smtClean="0"/>
              <a:t> </a:t>
            </a:r>
            <a:r>
              <a:rPr lang="ru-RU" b="1" dirty="0" err="1" smtClean="0"/>
              <a:t>XenApp</a:t>
            </a:r>
            <a:r>
              <a:rPr lang="ru-RU" dirty="0" smtClean="0"/>
              <a:t> - предназначен для виртуализации и публикации приложений в целях оптимизации инфраструктуры доставки сервисов в крупных компаниях. </a:t>
            </a:r>
            <a:r>
              <a:rPr lang="ru-RU" dirty="0" err="1" smtClean="0"/>
              <a:t>XenApp</a:t>
            </a:r>
            <a:r>
              <a:rPr lang="ru-RU" dirty="0" smtClean="0"/>
              <a:t> имеет огромное количество пользователей по всему миру и во многих компаниях является ключевым компонентом ИТ-инфраструктуры. </a:t>
            </a:r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0" y="2362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01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539552" y="843558"/>
            <a:ext cx="8136904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b="1" dirty="0" err="1" smtClean="0"/>
              <a:t>Citrix</a:t>
            </a:r>
            <a:r>
              <a:rPr lang="ru-RU" b="1" dirty="0" smtClean="0"/>
              <a:t> </a:t>
            </a:r>
            <a:r>
              <a:rPr lang="ru-RU" b="1" dirty="0" err="1" smtClean="0"/>
              <a:t>XenServer</a:t>
            </a:r>
            <a:r>
              <a:rPr lang="ru-RU" dirty="0" smtClean="0"/>
              <a:t> - платформа для консолидации серверов предприятий среднего масштаба, включающая основные возможности для поддержания виртуальной инфраструктуры. Позиционируется как решение Enterprise-уровня для виртуализации серверов, поддерживающее работу в «облачном» окружении.</a:t>
            </a:r>
            <a:endParaRPr lang="en-US" dirty="0" smtClean="0"/>
          </a:p>
          <a:p>
            <a:endParaRPr lang="ru-RU" dirty="0" smtClean="0"/>
          </a:p>
          <a:p>
            <a:r>
              <a:rPr lang="ru-RU" b="1" dirty="0" err="1" smtClean="0"/>
              <a:t>Citrix</a:t>
            </a:r>
            <a:r>
              <a:rPr lang="ru-RU" b="1" dirty="0" smtClean="0"/>
              <a:t> </a:t>
            </a:r>
            <a:r>
              <a:rPr lang="ru-RU" b="1" dirty="0" err="1" smtClean="0"/>
              <a:t>XenDesktop</a:t>
            </a:r>
            <a:r>
              <a:rPr lang="ru-RU" dirty="0" smtClean="0"/>
              <a:t> - решение по виртуализации </a:t>
            </a:r>
            <a:r>
              <a:rPr lang="ru-RU" dirty="0" err="1" smtClean="0"/>
              <a:t>десктопов</a:t>
            </a:r>
            <a:r>
              <a:rPr lang="ru-RU" dirty="0" smtClean="0"/>
              <a:t> предприятия, позволяющее централизованно хранить и доставлять рабочие окружения в виртуальных машинах пользователям. Продукт поддерживает несколько сценариев доставки приложений на настольные ПК, тонкие клиенты и мобильные ПК и совместим с серверными </a:t>
            </a:r>
            <a:r>
              <a:rPr lang="ru-RU" dirty="0" err="1" smtClean="0"/>
              <a:t>виртуализационными</a:t>
            </a:r>
            <a:r>
              <a:rPr lang="ru-RU" dirty="0" smtClean="0"/>
              <a:t> решениями конкурентов.</a:t>
            </a:r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0" y="2362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01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539552" y="267494"/>
            <a:ext cx="8136904" cy="4555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000" b="1" dirty="0" err="1" smtClean="0"/>
              <a:t>Microsoft</a:t>
            </a:r>
            <a:r>
              <a:rPr lang="ru-RU" sz="2000" b="1" dirty="0" smtClean="0"/>
              <a:t> </a:t>
            </a:r>
            <a:endParaRPr lang="en-US" sz="2000" b="1" dirty="0" smtClean="0"/>
          </a:p>
          <a:p>
            <a:r>
              <a:rPr lang="ru-RU" b="1" dirty="0" err="1" smtClean="0"/>
              <a:t>Microsoft</a:t>
            </a:r>
            <a:r>
              <a:rPr lang="ru-RU" b="1" dirty="0" smtClean="0"/>
              <a:t> </a:t>
            </a:r>
            <a:r>
              <a:rPr lang="ru-RU" b="1" dirty="0" err="1" smtClean="0"/>
              <a:t>Virtual</a:t>
            </a:r>
            <a:r>
              <a:rPr lang="ru-RU" b="1" dirty="0" smtClean="0"/>
              <a:t> </a:t>
            </a:r>
            <a:r>
              <a:rPr lang="ru-RU" b="1" dirty="0" err="1" smtClean="0"/>
              <a:t>Server</a:t>
            </a:r>
            <a:r>
              <a:rPr lang="ru-RU" dirty="0" smtClean="0"/>
              <a:t>. Серверная платформа виртуализации </a:t>
            </a:r>
            <a:r>
              <a:rPr lang="ru-RU" dirty="0" err="1" smtClean="0"/>
              <a:t>Microsoft</a:t>
            </a:r>
            <a:r>
              <a:rPr lang="ru-RU" dirty="0" smtClean="0"/>
              <a:t> </a:t>
            </a:r>
            <a:r>
              <a:rPr lang="ru-RU" dirty="0" err="1" smtClean="0"/>
              <a:t>Virtual</a:t>
            </a:r>
            <a:r>
              <a:rPr lang="ru-RU" dirty="0" smtClean="0"/>
              <a:t> </a:t>
            </a:r>
            <a:r>
              <a:rPr lang="ru-RU" dirty="0" err="1" smtClean="0"/>
              <a:t>Server</a:t>
            </a:r>
            <a:r>
              <a:rPr lang="ru-RU" dirty="0" smtClean="0"/>
              <a:t> может использоваться на сервере под управлением операционной системы </a:t>
            </a:r>
            <a:r>
              <a:rPr lang="ru-RU" dirty="0" err="1" smtClean="0"/>
              <a:t>Windows</a:t>
            </a:r>
            <a:r>
              <a:rPr lang="ru-RU" dirty="0" smtClean="0"/>
              <a:t> </a:t>
            </a:r>
            <a:r>
              <a:rPr lang="ru-RU" dirty="0" err="1" smtClean="0"/>
              <a:t>Server</a:t>
            </a:r>
            <a:r>
              <a:rPr lang="ru-RU" dirty="0" smtClean="0"/>
              <a:t> 2003 и предназначена для одновременного запуска нескольких виртуальных машин на одном физическом хосте. </a:t>
            </a:r>
          </a:p>
          <a:p>
            <a:r>
              <a:rPr lang="ru-RU" b="1" dirty="0" err="1" smtClean="0"/>
              <a:t>Microsoft</a:t>
            </a:r>
            <a:r>
              <a:rPr lang="ru-RU" b="1" dirty="0" smtClean="0"/>
              <a:t> </a:t>
            </a:r>
            <a:r>
              <a:rPr lang="ru-RU" b="1" dirty="0" err="1" smtClean="0"/>
              <a:t>Virtual</a:t>
            </a:r>
            <a:r>
              <a:rPr lang="ru-RU" b="1" dirty="0" smtClean="0"/>
              <a:t> PC</a:t>
            </a:r>
            <a:r>
              <a:rPr lang="ru-RU" dirty="0" smtClean="0"/>
              <a:t>. Продукт </a:t>
            </a:r>
            <a:r>
              <a:rPr lang="ru-RU" dirty="0" err="1" smtClean="0"/>
              <a:t>Virtual</a:t>
            </a:r>
            <a:r>
              <a:rPr lang="ru-RU" dirty="0" smtClean="0"/>
              <a:t> PC был куплен корпорацией </a:t>
            </a:r>
            <a:r>
              <a:rPr lang="ru-RU" dirty="0" err="1" smtClean="0"/>
              <a:t>Microsoft</a:t>
            </a:r>
            <a:r>
              <a:rPr lang="ru-RU" dirty="0" smtClean="0"/>
              <a:t> вместе с компанией </a:t>
            </a:r>
            <a:r>
              <a:rPr lang="ru-RU" dirty="0" err="1" smtClean="0"/>
              <a:t>Connectix</a:t>
            </a:r>
            <a:r>
              <a:rPr lang="ru-RU" dirty="0" smtClean="0"/>
              <a:t> и впервые под маркой </a:t>
            </a:r>
            <a:r>
              <a:rPr lang="ru-RU" dirty="0" err="1" smtClean="0"/>
              <a:t>Microsoft</a:t>
            </a:r>
            <a:r>
              <a:rPr lang="ru-RU" dirty="0" smtClean="0"/>
              <a:t> был выпущен как </a:t>
            </a:r>
            <a:r>
              <a:rPr lang="ru-RU" dirty="0" err="1" smtClean="0"/>
              <a:t>Microsoft</a:t>
            </a:r>
            <a:r>
              <a:rPr lang="ru-RU" dirty="0" smtClean="0"/>
              <a:t> </a:t>
            </a:r>
            <a:r>
              <a:rPr lang="ru-RU" dirty="0" err="1" smtClean="0"/>
              <a:t>Virtual</a:t>
            </a:r>
            <a:r>
              <a:rPr lang="ru-RU" dirty="0" smtClean="0"/>
              <a:t> PC 2004. Приобретая </a:t>
            </a:r>
            <a:r>
              <a:rPr lang="ru-RU" dirty="0" err="1" smtClean="0"/>
              <a:t>Virtual</a:t>
            </a:r>
            <a:r>
              <a:rPr lang="ru-RU" dirty="0" smtClean="0"/>
              <a:t> PC и компанию </a:t>
            </a:r>
            <a:r>
              <a:rPr lang="ru-RU" dirty="0" err="1" smtClean="0"/>
              <a:t>Connectix</a:t>
            </a:r>
            <a:r>
              <a:rPr lang="ru-RU" dirty="0" smtClean="0"/>
              <a:t>, компания </a:t>
            </a:r>
            <a:r>
              <a:rPr lang="ru-RU" dirty="0" err="1" smtClean="0"/>
              <a:t>Microsoft</a:t>
            </a:r>
            <a:r>
              <a:rPr lang="ru-RU" dirty="0" smtClean="0"/>
              <a:t> строила далеко идущие планы по обеспечению пользователей инструментом для облегчения миграции на следующую версию операционной системы </a:t>
            </a:r>
            <a:r>
              <a:rPr lang="ru-RU" dirty="0" err="1" smtClean="0"/>
              <a:t>Windows</a:t>
            </a:r>
            <a:r>
              <a:rPr lang="ru-RU" dirty="0" smtClean="0"/>
              <a:t>. Теперь </a:t>
            </a:r>
            <a:r>
              <a:rPr lang="ru-RU" dirty="0" err="1" smtClean="0"/>
              <a:t>Virtual</a:t>
            </a:r>
            <a:r>
              <a:rPr lang="ru-RU" dirty="0" smtClean="0"/>
              <a:t> PC 2007 бесплатен и доступен для поддержки настольных ОС в виртуальных машинах. </a:t>
            </a:r>
          </a:p>
          <a:p>
            <a:r>
              <a:rPr lang="ru-RU" b="1" dirty="0" err="1" smtClean="0"/>
              <a:t>Microsoft</a:t>
            </a:r>
            <a:r>
              <a:rPr lang="ru-RU" b="1" dirty="0" smtClean="0"/>
              <a:t> </a:t>
            </a:r>
            <a:r>
              <a:rPr lang="ru-RU" b="1" dirty="0" err="1" smtClean="0"/>
              <a:t>Hyper-V</a:t>
            </a:r>
            <a:r>
              <a:rPr lang="ru-RU" dirty="0" smtClean="0"/>
              <a:t>. Продукт </a:t>
            </a:r>
            <a:r>
              <a:rPr lang="ru-RU" dirty="0" err="1" smtClean="0"/>
              <a:t>Microsoft</a:t>
            </a:r>
            <a:r>
              <a:rPr lang="ru-RU" dirty="0" smtClean="0"/>
              <a:t> позиционируется как основной конкурент </a:t>
            </a:r>
            <a:r>
              <a:rPr lang="ru-RU" dirty="0" err="1" smtClean="0"/>
              <a:t>VMware</a:t>
            </a:r>
            <a:r>
              <a:rPr lang="ru-RU" dirty="0" smtClean="0"/>
              <a:t> ESX </a:t>
            </a:r>
            <a:r>
              <a:rPr lang="ru-RU" dirty="0" err="1" smtClean="0"/>
              <a:t>Server</a:t>
            </a:r>
            <a:r>
              <a:rPr lang="ru-RU" dirty="0" smtClean="0"/>
              <a:t> в области корпоративных платформ виртуализации. </a:t>
            </a:r>
            <a:r>
              <a:rPr lang="ru-RU" dirty="0" err="1" smtClean="0"/>
              <a:t>Microsoft</a:t>
            </a:r>
            <a:r>
              <a:rPr lang="ru-RU" dirty="0" smtClean="0"/>
              <a:t> </a:t>
            </a:r>
            <a:r>
              <a:rPr lang="ru-RU" dirty="0" err="1" smtClean="0"/>
              <a:t>Hyper-V</a:t>
            </a:r>
            <a:r>
              <a:rPr lang="ru-RU" dirty="0" smtClean="0"/>
              <a:t> представляет собой решение для виртуализации серверов на базе процессоров с архитектурой x64 в корпоративных средах. 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0" y="2362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01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0" y="2362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50177" name="Рисунок 1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699542"/>
            <a:ext cx="3752008" cy="3384376"/>
          </a:xfrm>
          <a:prstGeom prst="rect">
            <a:avLst/>
          </a:prstGeom>
          <a:noFill/>
        </p:spPr>
      </p:pic>
      <p:sp>
        <p:nvSpPr>
          <p:cNvPr id="50179" name="Rectangle 3"/>
          <p:cNvSpPr>
            <a:spLocks noChangeArrowheads="1"/>
          </p:cNvSpPr>
          <p:nvPr/>
        </p:nvSpPr>
        <p:spPr bwMode="auto">
          <a:xfrm>
            <a:off x="1691680" y="4299942"/>
            <a:ext cx="527522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492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rgbClr val="282828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Архитектура монолитного гипервизора 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01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0" y="2362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03" name="Rectangle 3"/>
          <p:cNvSpPr>
            <a:spLocks noChangeArrowheads="1"/>
          </p:cNvSpPr>
          <p:nvPr/>
        </p:nvSpPr>
        <p:spPr bwMode="auto">
          <a:xfrm>
            <a:off x="1763688" y="4227934"/>
            <a:ext cx="543719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492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rgbClr val="282828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Архитектура </a:t>
            </a:r>
            <a:r>
              <a:rPr kumimoji="0" lang="ru-RU" sz="2000" b="0" i="1" u="none" strike="noStrike" cap="none" normalizeH="0" baseline="0" dirty="0" err="1" smtClean="0">
                <a:ln>
                  <a:noFill/>
                </a:ln>
                <a:solidFill>
                  <a:srgbClr val="282828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микроядерного</a:t>
            </a: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rgbClr val="282828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гипервизора 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061" y="555525"/>
            <a:ext cx="4032448" cy="3753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601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0" y="2362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1619672" y="1491630"/>
            <a:ext cx="655272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Высокие накладные расходы:</a:t>
            </a:r>
            <a:r>
              <a:rPr lang="ru-RU" dirty="0"/>
              <a:t> Каждая ВМ потребляет много RAM, CPU и места на диске.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Медленный запуск:</a:t>
            </a:r>
            <a:r>
              <a:rPr lang="ru-RU" dirty="0"/>
              <a:t> Минуты на загрузку всей ОС.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Ограниченная плотность:</a:t>
            </a:r>
            <a:r>
              <a:rPr lang="ru-RU" dirty="0"/>
              <a:t> На одном сервере нельзя разместить очень много ВМ.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Сложность управления образами:</a:t>
            </a:r>
            <a:r>
              <a:rPr lang="ru-RU" dirty="0"/>
              <a:t> Большие размеры файлов.</a:t>
            </a:r>
          </a:p>
        </p:txBody>
      </p:sp>
    </p:spTree>
    <p:extLst>
      <p:ext uri="{BB962C8B-B14F-4D97-AF65-F5344CB8AC3E}">
        <p14:creationId xmlns:p14="http://schemas.microsoft.com/office/powerpoint/2010/main" val="340414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7324</TotalTime>
  <Words>911</Words>
  <Application>Microsoft Office PowerPoint</Application>
  <PresentationFormat>Экран (16:9)</PresentationFormat>
  <Paragraphs>72</Paragraphs>
  <Slides>25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6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pk</dc:creator>
  <cp:lastModifiedBy>Virger</cp:lastModifiedBy>
  <cp:revision>779</cp:revision>
  <cp:lastPrinted>2015-04-14T10:26:51Z</cp:lastPrinted>
  <dcterms:created xsi:type="dcterms:W3CDTF">2014-09-01T10:01:09Z</dcterms:created>
  <dcterms:modified xsi:type="dcterms:W3CDTF">2025-10-19T20:41:33Z</dcterms:modified>
</cp:coreProperties>
</file>