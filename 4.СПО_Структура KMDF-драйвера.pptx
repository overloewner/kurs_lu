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78" r:id="rId3"/>
    <p:sldId id="300" r:id="rId4"/>
    <p:sldId id="296" r:id="rId5"/>
    <p:sldId id="299" r:id="rId6"/>
    <p:sldId id="298" r:id="rId7"/>
    <p:sldId id="301" r:id="rId8"/>
    <p:sldId id="302" r:id="rId9"/>
    <p:sldId id="303" r:id="rId10"/>
    <p:sldId id="304" r:id="rId11"/>
    <p:sldId id="292" r:id="rId12"/>
    <p:sldId id="305" r:id="rId13"/>
    <p:sldId id="308" r:id="rId14"/>
    <p:sldId id="306" r:id="rId15"/>
    <p:sldId id="307" r:id="rId16"/>
    <p:sldId id="294" r:id="rId17"/>
    <p:sldId id="277" r:id="rId1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744" autoAdjust="0"/>
  </p:normalViewPr>
  <p:slideViewPr>
    <p:cSldViewPr>
      <p:cViewPr>
        <p:scale>
          <a:sx n="100" d="100"/>
          <a:sy n="100" d="100"/>
        </p:scale>
        <p:origin x="-72" y="6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3FE2C1-465A-416B-8CC2-AF50E799C5B8}" type="datetimeFigureOut">
              <a:rPr lang="ru-RU" smtClean="0"/>
              <a:t>02.12.2018</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10BFA2-AC21-45A4-8018-BB6FBBF60BBC}" type="slidenum">
              <a:rPr lang="ru-RU" smtClean="0"/>
              <a:t>‹#›</a:t>
            </a:fld>
            <a:endParaRPr lang="ru-RU"/>
          </a:p>
        </p:txBody>
      </p:sp>
    </p:spTree>
    <p:extLst>
      <p:ext uri="{BB962C8B-B14F-4D97-AF65-F5344CB8AC3E}">
        <p14:creationId xmlns:p14="http://schemas.microsoft.com/office/powerpoint/2010/main" val="1262898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3</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4</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5</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6</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7</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8</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9</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10</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11</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Font typeface="+mj-lt"/>
              <a:buAutoNum type="arabicPeriod"/>
            </a:pPr>
            <a:r>
              <a:rPr lang="en-US" sz="1200" b="0" i="0" kern="1200" dirty="0" smtClean="0">
                <a:solidFill>
                  <a:schemeClr val="tx1"/>
                </a:solidFill>
                <a:effectLst/>
                <a:latin typeface="+mn-lt"/>
                <a:ea typeface="+mn-ea"/>
                <a:cs typeface="+mn-cs"/>
              </a:rPr>
              <a:t>An application issues an I/O request by calling a Windows API function.</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pPr marL="228600" indent="-228600">
              <a:buFont typeface="+mj-lt"/>
              <a:buAutoNum type="arabicPeriod"/>
            </a:pPr>
            <a:r>
              <a:rPr lang="en-US" sz="1200" b="0" i="0" kern="1200" dirty="0" smtClean="0">
                <a:solidFill>
                  <a:schemeClr val="tx1"/>
                </a:solidFill>
                <a:effectLst/>
                <a:latin typeface="+mn-lt"/>
                <a:ea typeface="+mn-ea"/>
                <a:cs typeface="+mn-cs"/>
              </a:rPr>
              <a:t>The Windows API calls the kernel mode subsystems which call the corresponding I/O processing function of the I/O manager.</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pPr marL="228600" indent="-228600">
              <a:buFont typeface="+mj-lt"/>
              <a:buAutoNum type="arabicPeriod"/>
            </a:pPr>
            <a:r>
              <a:rPr lang="en-US" sz="1200" b="0" i="0" kern="1200" dirty="0" smtClean="0">
                <a:solidFill>
                  <a:schemeClr val="tx1"/>
                </a:solidFill>
                <a:effectLst/>
                <a:latin typeface="+mn-lt"/>
                <a:ea typeface="+mn-ea"/>
                <a:cs typeface="+mn-cs"/>
              </a:rPr>
              <a:t>The I/O manager builds an IRP that describes the I/O request and sends it to the top driver in the kernel mode device stack for the target device.</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pPr marL="228600" indent="-228600">
              <a:buFont typeface="+mj-lt"/>
              <a:buAutoNum type="arabicPeriod"/>
            </a:pPr>
            <a:r>
              <a:rPr lang="en-US" sz="1200" b="0" i="0" kern="1200" dirty="0" smtClean="0">
                <a:solidFill>
                  <a:schemeClr val="tx1"/>
                </a:solidFill>
                <a:effectLst/>
                <a:latin typeface="+mn-lt"/>
                <a:ea typeface="+mn-ea"/>
                <a:cs typeface="+mn-cs"/>
              </a:rPr>
              <a:t>If the IRP is not complete, the kernel mode driver sends it to the next lower driver in the device stack. The driver processes the IRP and, in turn, sends it to the next lower driver and so on down the device stack, until a driver completes the IRP.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Any driver that sends an IRP down the stack can register an I/O completion callback to have the opportunity to process the IRP again after lower drivers have completed it.</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Finally, the IRP reaches a driver that completes it.</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pPr marL="228600" indent="-228600">
              <a:buFont typeface="+mj-lt"/>
              <a:buAutoNum type="arabicPeriod"/>
            </a:pPr>
            <a:r>
              <a:rPr lang="en-US" sz="1200" b="0" i="0" kern="1200" dirty="0" smtClean="0">
                <a:solidFill>
                  <a:schemeClr val="tx1"/>
                </a:solidFill>
                <a:effectLst/>
                <a:latin typeface="+mn-lt"/>
                <a:ea typeface="+mn-ea"/>
                <a:cs typeface="+mn-cs"/>
              </a:rPr>
              <a:t>After the IRP is complete, the I/O manager calls the I/O completion callbacks that drivers set as the request passed down the device stack, in reverse order.</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The driver that completes the IRP doesn't require an I/O completion callback because it already knows that the request is complete and has completed its processing.</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pPr marL="228600" indent="-228600">
              <a:buFont typeface="+mj-lt"/>
              <a:buAutoNum type="arabicPeriod"/>
            </a:pPr>
            <a:r>
              <a:rPr lang="en-US" sz="1200" b="0" i="0" kern="1200" dirty="0" smtClean="0">
                <a:solidFill>
                  <a:schemeClr val="tx1"/>
                </a:solidFill>
                <a:effectLst/>
                <a:latin typeface="+mn-lt"/>
                <a:ea typeface="+mn-ea"/>
                <a:cs typeface="+mn-cs"/>
              </a:rPr>
              <a:t>The I/O manager retrieves the I/O status from the IRP, translates the status to a Windows error code, returns completion information and, if necessary, copies data to the requesting application's data buffer.</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pPr marL="228600" indent="-228600">
              <a:buFont typeface="+mj-lt"/>
              <a:buAutoNum type="arabicPeriod"/>
            </a:pPr>
            <a:r>
              <a:rPr lang="en-US" sz="1200" b="0" i="0" kern="1200" dirty="0" smtClean="0">
                <a:solidFill>
                  <a:schemeClr val="tx1"/>
                </a:solidFill>
                <a:effectLst/>
                <a:latin typeface="+mn-lt"/>
                <a:ea typeface="+mn-ea"/>
                <a:cs typeface="+mn-cs"/>
              </a:rPr>
              <a:t>The I/O manager then returns control to the Windows API.</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pPr marL="228600" indent="-228600">
              <a:buFont typeface="+mj-lt"/>
              <a:buAutoNum type="arabicPeriod"/>
            </a:pPr>
            <a:r>
              <a:rPr lang="en-US" sz="1200" b="0" i="0" kern="1200" dirty="0" smtClean="0">
                <a:solidFill>
                  <a:schemeClr val="tx1"/>
                </a:solidFill>
                <a:effectLst/>
                <a:latin typeface="+mn-lt"/>
                <a:ea typeface="+mn-ea"/>
                <a:cs typeface="+mn-cs"/>
              </a:rPr>
              <a:t>The Windows API returns the results of the operation to the requesting application.</a:t>
            </a:r>
            <a:endParaRPr lang="en-US" sz="1200" b="0" i="0" kern="1200" dirty="0">
              <a:solidFill>
                <a:schemeClr val="tx1"/>
              </a:solidFill>
              <a:effectLst/>
              <a:latin typeface="+mn-lt"/>
              <a:ea typeface="+mn-ea"/>
              <a:cs typeface="+mn-cs"/>
            </a:endParaRPr>
          </a:p>
        </p:txBody>
      </p:sp>
      <p:sp>
        <p:nvSpPr>
          <p:cNvPr id="4" name="Номер слайда 3"/>
          <p:cNvSpPr>
            <a:spLocks noGrp="1"/>
          </p:cNvSpPr>
          <p:nvPr>
            <p:ph type="sldNum" sz="quarter" idx="10"/>
          </p:nvPr>
        </p:nvSpPr>
        <p:spPr/>
        <p:txBody>
          <a:bodyPr/>
          <a:lstStyle/>
          <a:p>
            <a:fld id="{3210BFA2-AC21-45A4-8018-BB6FBBF60BBC}" type="slidenum">
              <a:rPr lang="ru-RU" smtClean="0"/>
              <a:t>12</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13</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14</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15</a:t>
            </a:fld>
            <a:endParaRPr lang="ru-RU"/>
          </a:p>
        </p:txBody>
      </p:sp>
    </p:spTree>
    <p:extLst>
      <p:ext uri="{BB962C8B-B14F-4D97-AF65-F5344CB8AC3E}">
        <p14:creationId xmlns:p14="http://schemas.microsoft.com/office/powerpoint/2010/main" val="37321061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endParaRPr lang="ru-RU" dirty="0"/>
          </a:p>
        </p:txBody>
      </p:sp>
      <p:sp>
        <p:nvSpPr>
          <p:cNvPr id="4" name="Номер слайда 3"/>
          <p:cNvSpPr>
            <a:spLocks noGrp="1"/>
          </p:cNvSpPr>
          <p:nvPr>
            <p:ph type="sldNum" sz="quarter" idx="10"/>
          </p:nvPr>
        </p:nvSpPr>
        <p:spPr/>
        <p:txBody>
          <a:bodyPr/>
          <a:lstStyle/>
          <a:p>
            <a:fld id="{3210BFA2-AC21-45A4-8018-BB6FBBF60BBC}" type="slidenum">
              <a:rPr lang="ru-RU" smtClean="0"/>
              <a:t>16</a:t>
            </a:fld>
            <a:endParaRPr lang="ru-RU"/>
          </a:p>
        </p:txBody>
      </p:sp>
    </p:spTree>
    <p:extLst>
      <p:ext uri="{BB962C8B-B14F-4D97-AF65-F5344CB8AC3E}">
        <p14:creationId xmlns:p14="http://schemas.microsoft.com/office/powerpoint/2010/main" val="3732106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969EB3E-9947-4A80-94DC-628EE4E137D1}" type="datetimeFigureOut">
              <a:rPr lang="ru-RU" smtClean="0"/>
              <a:pPr/>
              <a:t>02.12.2018</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C3A469-5E23-4218-AB08-12B9D064EBE9}" type="slidenum">
              <a:rPr lang="ru-RU" smtClean="0"/>
              <a:pPr/>
              <a:t>‹#›</a:t>
            </a:fld>
            <a:endParaRPr lang="ru-RU"/>
          </a:p>
        </p:txBody>
      </p:sp>
    </p:spTree>
    <p:extLst>
      <p:ext uri="{BB962C8B-B14F-4D97-AF65-F5344CB8AC3E}">
        <p14:creationId xmlns:p14="http://schemas.microsoft.com/office/powerpoint/2010/main" val="1751665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969EB3E-9947-4A80-94DC-628EE4E137D1}" type="datetimeFigureOut">
              <a:rPr lang="ru-RU" smtClean="0"/>
              <a:pPr/>
              <a:t>02.12.2018</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C3A469-5E23-4218-AB08-12B9D064EBE9}" type="slidenum">
              <a:rPr lang="ru-RU" smtClean="0"/>
              <a:pPr/>
              <a:t>‹#›</a:t>
            </a:fld>
            <a:endParaRPr lang="ru-RU"/>
          </a:p>
        </p:txBody>
      </p:sp>
    </p:spTree>
    <p:extLst>
      <p:ext uri="{BB962C8B-B14F-4D97-AF65-F5344CB8AC3E}">
        <p14:creationId xmlns:p14="http://schemas.microsoft.com/office/powerpoint/2010/main" val="3539159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969EB3E-9947-4A80-94DC-628EE4E137D1}" type="datetimeFigureOut">
              <a:rPr lang="ru-RU" smtClean="0"/>
              <a:pPr/>
              <a:t>02.12.2018</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C3A469-5E23-4218-AB08-12B9D064EBE9}" type="slidenum">
              <a:rPr lang="ru-RU" smtClean="0"/>
              <a:pPr/>
              <a:t>‹#›</a:t>
            </a:fld>
            <a:endParaRPr lang="ru-RU"/>
          </a:p>
        </p:txBody>
      </p:sp>
    </p:spTree>
    <p:extLst>
      <p:ext uri="{BB962C8B-B14F-4D97-AF65-F5344CB8AC3E}">
        <p14:creationId xmlns:p14="http://schemas.microsoft.com/office/powerpoint/2010/main" val="2692306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969EB3E-9947-4A80-94DC-628EE4E137D1}" type="datetimeFigureOut">
              <a:rPr lang="ru-RU" smtClean="0"/>
              <a:pPr/>
              <a:t>02.12.2018</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DC3A469-5E23-4218-AB08-12B9D064EBE9}" type="slidenum">
              <a:rPr lang="ru-RU" smtClean="0"/>
              <a:pPr/>
              <a:t>‹#›</a:t>
            </a:fld>
            <a:endParaRPr lang="ru-RU"/>
          </a:p>
        </p:txBody>
      </p:sp>
    </p:spTree>
    <p:extLst>
      <p:ext uri="{BB962C8B-B14F-4D97-AF65-F5344CB8AC3E}">
        <p14:creationId xmlns:p14="http://schemas.microsoft.com/office/powerpoint/2010/main" val="3503271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969EB3E-9947-4A80-94DC-628EE4E137D1}" type="datetimeFigureOut">
              <a:rPr lang="ru-RU" smtClean="0"/>
              <a:pPr/>
              <a:t>02.12.2018</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DC3A469-5E23-4218-AB08-12B9D064EBE9}" type="slidenum">
              <a:rPr lang="ru-RU" smtClean="0"/>
              <a:pPr/>
              <a:t>‹#›</a:t>
            </a:fld>
            <a:endParaRPr lang="ru-RU"/>
          </a:p>
        </p:txBody>
      </p:sp>
    </p:spTree>
    <p:extLst>
      <p:ext uri="{BB962C8B-B14F-4D97-AF65-F5344CB8AC3E}">
        <p14:creationId xmlns:p14="http://schemas.microsoft.com/office/powerpoint/2010/main" val="3157699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969EB3E-9947-4A80-94DC-628EE4E137D1}" type="datetimeFigureOut">
              <a:rPr lang="ru-RU" smtClean="0"/>
              <a:pPr/>
              <a:t>02.12.2018</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DC3A469-5E23-4218-AB08-12B9D064EBE9}" type="slidenum">
              <a:rPr lang="ru-RU" smtClean="0"/>
              <a:pPr/>
              <a:t>‹#›</a:t>
            </a:fld>
            <a:endParaRPr lang="ru-RU"/>
          </a:p>
        </p:txBody>
      </p:sp>
    </p:spTree>
    <p:extLst>
      <p:ext uri="{BB962C8B-B14F-4D97-AF65-F5344CB8AC3E}">
        <p14:creationId xmlns:p14="http://schemas.microsoft.com/office/powerpoint/2010/main" val="560778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969EB3E-9947-4A80-94DC-628EE4E137D1}" type="datetimeFigureOut">
              <a:rPr lang="ru-RU" smtClean="0"/>
              <a:pPr/>
              <a:t>02.12.2018</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DC3A469-5E23-4218-AB08-12B9D064EBE9}" type="slidenum">
              <a:rPr lang="ru-RU" smtClean="0"/>
              <a:pPr/>
              <a:t>‹#›</a:t>
            </a:fld>
            <a:endParaRPr lang="ru-RU"/>
          </a:p>
        </p:txBody>
      </p:sp>
    </p:spTree>
    <p:extLst>
      <p:ext uri="{BB962C8B-B14F-4D97-AF65-F5344CB8AC3E}">
        <p14:creationId xmlns:p14="http://schemas.microsoft.com/office/powerpoint/2010/main" val="117234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969EB3E-9947-4A80-94DC-628EE4E137D1}" type="datetimeFigureOut">
              <a:rPr lang="ru-RU" smtClean="0"/>
              <a:pPr/>
              <a:t>02.12.2018</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DC3A469-5E23-4218-AB08-12B9D064EBE9}" type="slidenum">
              <a:rPr lang="ru-RU" smtClean="0"/>
              <a:pPr/>
              <a:t>‹#›</a:t>
            </a:fld>
            <a:endParaRPr lang="ru-RU"/>
          </a:p>
        </p:txBody>
      </p:sp>
    </p:spTree>
    <p:extLst>
      <p:ext uri="{BB962C8B-B14F-4D97-AF65-F5344CB8AC3E}">
        <p14:creationId xmlns:p14="http://schemas.microsoft.com/office/powerpoint/2010/main" val="4267272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969EB3E-9947-4A80-94DC-628EE4E137D1}" type="datetimeFigureOut">
              <a:rPr lang="ru-RU" smtClean="0"/>
              <a:pPr/>
              <a:t>02.12.2018</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DC3A469-5E23-4218-AB08-12B9D064EBE9}" type="slidenum">
              <a:rPr lang="ru-RU" smtClean="0"/>
              <a:pPr/>
              <a:t>‹#›</a:t>
            </a:fld>
            <a:endParaRPr lang="ru-RU"/>
          </a:p>
        </p:txBody>
      </p:sp>
    </p:spTree>
    <p:extLst>
      <p:ext uri="{BB962C8B-B14F-4D97-AF65-F5344CB8AC3E}">
        <p14:creationId xmlns:p14="http://schemas.microsoft.com/office/powerpoint/2010/main" val="1376502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969EB3E-9947-4A80-94DC-628EE4E137D1}" type="datetimeFigureOut">
              <a:rPr lang="ru-RU" smtClean="0"/>
              <a:pPr/>
              <a:t>02.12.2018</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C3A469-5E23-4218-AB08-12B9D064EBE9}" type="slidenum">
              <a:rPr lang="ru-RU" smtClean="0"/>
              <a:pPr/>
              <a:t>‹#›</a:t>
            </a:fld>
            <a:endParaRPr lang="ru-RU"/>
          </a:p>
        </p:txBody>
      </p:sp>
    </p:spTree>
    <p:extLst>
      <p:ext uri="{BB962C8B-B14F-4D97-AF65-F5344CB8AC3E}">
        <p14:creationId xmlns:p14="http://schemas.microsoft.com/office/powerpoint/2010/main" val="3414200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969EB3E-9947-4A80-94DC-628EE4E137D1}" type="datetimeFigureOut">
              <a:rPr lang="ru-RU" smtClean="0"/>
              <a:pPr/>
              <a:t>02.12.2018</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C3A469-5E23-4218-AB08-12B9D064EBE9}" type="slidenum">
              <a:rPr lang="ru-RU" smtClean="0"/>
              <a:pPr/>
              <a:t>‹#›</a:t>
            </a:fld>
            <a:endParaRPr lang="ru-RU"/>
          </a:p>
        </p:txBody>
      </p:sp>
    </p:spTree>
    <p:extLst>
      <p:ext uri="{BB962C8B-B14F-4D97-AF65-F5344CB8AC3E}">
        <p14:creationId xmlns:p14="http://schemas.microsoft.com/office/powerpoint/2010/main" val="214481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69EB3E-9947-4A80-94DC-628EE4E137D1}" type="datetimeFigureOut">
              <a:rPr lang="ru-RU" smtClean="0"/>
              <a:pPr/>
              <a:t>02.12.2018</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3A469-5E23-4218-AB08-12B9D064EBE9}" type="slidenum">
              <a:rPr lang="ru-RU" smtClean="0"/>
              <a:pPr/>
              <a:t>‹#›</a:t>
            </a:fld>
            <a:endParaRPr lang="ru-RU"/>
          </a:p>
        </p:txBody>
      </p:sp>
    </p:spTree>
    <p:extLst>
      <p:ext uri="{BB962C8B-B14F-4D97-AF65-F5344CB8AC3E}">
        <p14:creationId xmlns:p14="http://schemas.microsoft.com/office/powerpoint/2010/main" val="1814287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1172435" y="2132856"/>
            <a:ext cx="735806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СИСТЕМНОЕ  ПРОГРАММНОЕ  ОБЕСПЕЧЕНИЕ</a:t>
            </a:r>
          </a:p>
          <a:p>
            <a:pPr algn="ctr"/>
            <a:endParaRPr lang="ru-RU" sz="2000" b="1" dirty="0" smtClean="0">
              <a:solidFill>
                <a:srgbClr val="003399"/>
              </a:solidFill>
              <a:latin typeface="Times New Roman" pitchFamily="18" charset="0"/>
              <a:cs typeface="Times New Roman" pitchFamily="18" charset="0"/>
            </a:endParaRPr>
          </a:p>
          <a:p>
            <a:pPr algn="ctr"/>
            <a:r>
              <a:rPr lang="ru-RU" sz="2000" b="1" dirty="0" smtClean="0">
                <a:solidFill>
                  <a:srgbClr val="003399"/>
                </a:solidFill>
                <a:latin typeface="Times New Roman" pitchFamily="18" charset="0"/>
                <a:cs typeface="Times New Roman" pitchFamily="18" charset="0"/>
              </a:rPr>
              <a:t>БЛОК 2</a:t>
            </a: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a:spLocks noChangeArrowheads="1"/>
          </p:cNvSpPr>
          <p:nvPr/>
        </p:nvSpPr>
        <p:spPr bwMode="auto">
          <a:xfrm>
            <a:off x="6227503" y="4437112"/>
            <a:ext cx="267177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ru-RU" sz="2000" b="1" dirty="0" err="1" smtClean="0">
                <a:solidFill>
                  <a:srgbClr val="003399"/>
                </a:solidFill>
                <a:latin typeface="Times New Roman" pitchFamily="18" charset="0"/>
                <a:cs typeface="Times New Roman" pitchFamily="18" charset="0"/>
              </a:rPr>
              <a:t>Ляхманов</a:t>
            </a:r>
            <a:r>
              <a:rPr lang="ru-RU" sz="2000" b="1" dirty="0" smtClean="0">
                <a:solidFill>
                  <a:srgbClr val="003399"/>
                </a:solidFill>
                <a:latin typeface="Times New Roman" pitchFamily="18" charset="0"/>
                <a:cs typeface="Times New Roman" pitchFamily="18" charset="0"/>
              </a:rPr>
              <a:t> Д.А.</a:t>
            </a:r>
          </a:p>
          <a:p>
            <a:r>
              <a:rPr lang="ru-RU" dirty="0" smtClean="0">
                <a:solidFill>
                  <a:srgbClr val="003399"/>
                </a:solidFill>
                <a:latin typeface="Times New Roman" pitchFamily="18" charset="0"/>
                <a:cs typeface="Times New Roman" pitchFamily="18" charset="0"/>
              </a:rPr>
              <a:t>к.т.н., доцент каф. ИСУ</a:t>
            </a:r>
          </a:p>
        </p:txBody>
      </p:sp>
      <p:sp>
        <p:nvSpPr>
          <p:cNvPr id="9" name="TextBox 8"/>
          <p:cNvSpPr txBox="1">
            <a:spLocks noChangeArrowheads="1"/>
          </p:cNvSpPr>
          <p:nvPr/>
        </p:nvSpPr>
        <p:spPr bwMode="auto">
          <a:xfrm>
            <a:off x="3707904" y="6309320"/>
            <a:ext cx="26717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i="1" dirty="0" smtClean="0">
                <a:solidFill>
                  <a:srgbClr val="003399"/>
                </a:solidFill>
                <a:latin typeface="Times New Roman" pitchFamily="18" charset="0"/>
                <a:cs typeface="Times New Roman" pitchFamily="18" charset="0"/>
              </a:rPr>
              <a:t>2018г.</a:t>
            </a:r>
            <a:endParaRPr lang="ru-RU" i="1" dirty="0" smtClean="0">
              <a:solidFill>
                <a:srgbClr val="003399"/>
              </a:solidFill>
              <a:latin typeface="Times New Roman" pitchFamily="18" charset="0"/>
              <a:cs typeface="Times New Roman" pitchFamily="18" charset="0"/>
            </a:endParaRPr>
          </a:p>
        </p:txBody>
      </p:sp>
    </p:spTree>
    <p:extLst>
      <p:ext uri="{BB962C8B-B14F-4D97-AF65-F5344CB8AC3E}">
        <p14:creationId xmlns:p14="http://schemas.microsoft.com/office/powerpoint/2010/main" val="42571074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1172435" y="2701369"/>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СТРУКТУРА </a:t>
            </a:r>
            <a:r>
              <a:rPr lang="en-US" sz="2000" b="1" dirty="0" smtClean="0">
                <a:solidFill>
                  <a:srgbClr val="003399"/>
                </a:solidFill>
                <a:latin typeface="Times New Roman" pitchFamily="18" charset="0"/>
                <a:cs typeface="Times New Roman" pitchFamily="18" charset="0"/>
              </a:rPr>
              <a:t>KMDF-</a:t>
            </a:r>
            <a:r>
              <a:rPr lang="ru-RU" sz="2000" b="1" dirty="0" smtClean="0">
                <a:solidFill>
                  <a:srgbClr val="003399"/>
                </a:solidFill>
                <a:latin typeface="Times New Roman" pitchFamily="18" charset="0"/>
                <a:cs typeface="Times New Roman" pitchFamily="18" charset="0"/>
              </a:rPr>
              <a:t>ДРАЙВЕРА</a:t>
            </a: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58410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РЕАЛИЗАЦИЯ  </a:t>
            </a:r>
            <a:r>
              <a:rPr lang="en-US" sz="2000" b="1" dirty="0" smtClean="0">
                <a:solidFill>
                  <a:srgbClr val="003399"/>
                </a:solidFill>
                <a:latin typeface="Times New Roman" pitchFamily="18" charset="0"/>
                <a:cs typeface="Times New Roman" pitchFamily="18" charset="0"/>
              </a:rPr>
              <a:t>PNP</a:t>
            </a:r>
            <a:r>
              <a:rPr lang="ru-RU" sz="2000" b="1" dirty="0" smtClean="0">
                <a:solidFill>
                  <a:srgbClr val="003399"/>
                </a:solidFill>
                <a:latin typeface="Times New Roman" pitchFamily="18" charset="0"/>
                <a:cs typeface="Times New Roman" pitchFamily="18" charset="0"/>
              </a:rPr>
              <a:t>-ДЕРЕВА</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0" name="Прямоугольник 9"/>
          <p:cNvSpPr/>
          <p:nvPr/>
        </p:nvSpPr>
        <p:spPr>
          <a:xfrm>
            <a:off x="2425315" y="1412776"/>
            <a:ext cx="2232248" cy="136815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p:cNvSpPr txBox="1"/>
          <p:nvPr/>
        </p:nvSpPr>
        <p:spPr>
          <a:xfrm>
            <a:off x="2550142" y="1449592"/>
            <a:ext cx="1982594" cy="369332"/>
          </a:xfrm>
          <a:prstGeom prst="rect">
            <a:avLst/>
          </a:prstGeom>
          <a:noFill/>
        </p:spPr>
        <p:txBody>
          <a:bodyPr wrap="none" rtlCol="0">
            <a:spAutoFit/>
          </a:bodyPr>
          <a:lstStyle/>
          <a:p>
            <a:r>
              <a:rPr lang="ru-RU" b="1" dirty="0" smtClean="0"/>
              <a:t>_</a:t>
            </a:r>
            <a:r>
              <a:rPr lang="en-US" b="1" dirty="0" smtClean="0"/>
              <a:t>DEVICE_OBJECT 1</a:t>
            </a:r>
            <a:endParaRPr lang="ru-RU" b="1" dirty="0"/>
          </a:p>
        </p:txBody>
      </p:sp>
      <p:cxnSp>
        <p:nvCxnSpPr>
          <p:cNvPr id="14" name="Прямая соединительная линия 13"/>
          <p:cNvCxnSpPr/>
          <p:nvPr/>
        </p:nvCxnSpPr>
        <p:spPr>
          <a:xfrm>
            <a:off x="2425315" y="1890932"/>
            <a:ext cx="223224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924911" y="2313688"/>
            <a:ext cx="1249958" cy="369332"/>
          </a:xfrm>
          <a:prstGeom prst="rect">
            <a:avLst/>
          </a:prstGeom>
          <a:noFill/>
        </p:spPr>
        <p:txBody>
          <a:bodyPr wrap="none" rtlCol="0">
            <a:spAutoFit/>
          </a:bodyPr>
          <a:lstStyle/>
          <a:p>
            <a:r>
              <a:rPr lang="en-US" i="1" dirty="0" err="1" smtClean="0"/>
              <a:t>NextDevice</a:t>
            </a:r>
            <a:endParaRPr lang="ru-RU" i="1" dirty="0"/>
          </a:p>
        </p:txBody>
      </p:sp>
      <p:sp>
        <p:nvSpPr>
          <p:cNvPr id="16" name="TextBox 15"/>
          <p:cNvSpPr txBox="1"/>
          <p:nvPr/>
        </p:nvSpPr>
        <p:spPr>
          <a:xfrm>
            <a:off x="2929371" y="1962940"/>
            <a:ext cx="1358064" cy="369332"/>
          </a:xfrm>
          <a:prstGeom prst="rect">
            <a:avLst/>
          </a:prstGeom>
          <a:noFill/>
        </p:spPr>
        <p:txBody>
          <a:bodyPr wrap="none" rtlCol="0">
            <a:spAutoFit/>
          </a:bodyPr>
          <a:lstStyle/>
          <a:p>
            <a:r>
              <a:rPr lang="en-US" i="1" dirty="0" err="1" smtClean="0"/>
              <a:t>DriverObject</a:t>
            </a:r>
            <a:endParaRPr lang="ru-RU" i="1" dirty="0"/>
          </a:p>
        </p:txBody>
      </p:sp>
      <p:sp>
        <p:nvSpPr>
          <p:cNvPr id="17" name="Прямоугольник 16"/>
          <p:cNvSpPr/>
          <p:nvPr/>
        </p:nvSpPr>
        <p:spPr>
          <a:xfrm>
            <a:off x="2411760" y="3140968"/>
            <a:ext cx="2232248" cy="136815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p:cNvSpPr txBox="1"/>
          <p:nvPr/>
        </p:nvSpPr>
        <p:spPr>
          <a:xfrm>
            <a:off x="2536587" y="3177784"/>
            <a:ext cx="1982594" cy="369332"/>
          </a:xfrm>
          <a:prstGeom prst="rect">
            <a:avLst/>
          </a:prstGeom>
          <a:noFill/>
        </p:spPr>
        <p:txBody>
          <a:bodyPr wrap="none" rtlCol="0">
            <a:spAutoFit/>
          </a:bodyPr>
          <a:lstStyle/>
          <a:p>
            <a:r>
              <a:rPr lang="ru-RU" b="1" dirty="0" smtClean="0"/>
              <a:t>_</a:t>
            </a:r>
            <a:r>
              <a:rPr lang="en-US" b="1" dirty="0" smtClean="0"/>
              <a:t>DEVICE_OBJECT 2</a:t>
            </a:r>
            <a:endParaRPr lang="ru-RU" b="1" dirty="0"/>
          </a:p>
        </p:txBody>
      </p:sp>
      <p:cxnSp>
        <p:nvCxnSpPr>
          <p:cNvPr id="19" name="Прямая соединительная линия 18"/>
          <p:cNvCxnSpPr/>
          <p:nvPr/>
        </p:nvCxnSpPr>
        <p:spPr>
          <a:xfrm>
            <a:off x="2411760" y="3619124"/>
            <a:ext cx="223224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911356" y="4041880"/>
            <a:ext cx="1249958" cy="369332"/>
          </a:xfrm>
          <a:prstGeom prst="rect">
            <a:avLst/>
          </a:prstGeom>
          <a:noFill/>
        </p:spPr>
        <p:txBody>
          <a:bodyPr wrap="none" rtlCol="0">
            <a:spAutoFit/>
          </a:bodyPr>
          <a:lstStyle/>
          <a:p>
            <a:r>
              <a:rPr lang="en-US" i="1" dirty="0" err="1" smtClean="0"/>
              <a:t>NextDevice</a:t>
            </a:r>
            <a:endParaRPr lang="ru-RU" i="1" dirty="0"/>
          </a:p>
        </p:txBody>
      </p:sp>
      <p:sp>
        <p:nvSpPr>
          <p:cNvPr id="21" name="TextBox 20"/>
          <p:cNvSpPr txBox="1"/>
          <p:nvPr/>
        </p:nvSpPr>
        <p:spPr>
          <a:xfrm>
            <a:off x="2915816" y="3691132"/>
            <a:ext cx="1358064" cy="369332"/>
          </a:xfrm>
          <a:prstGeom prst="rect">
            <a:avLst/>
          </a:prstGeom>
          <a:noFill/>
        </p:spPr>
        <p:txBody>
          <a:bodyPr wrap="none" rtlCol="0">
            <a:spAutoFit/>
          </a:bodyPr>
          <a:lstStyle/>
          <a:p>
            <a:r>
              <a:rPr lang="en-US" i="1" dirty="0" err="1" smtClean="0"/>
              <a:t>DriverObject</a:t>
            </a:r>
            <a:endParaRPr lang="ru-RU" i="1" dirty="0"/>
          </a:p>
        </p:txBody>
      </p:sp>
      <p:sp>
        <p:nvSpPr>
          <p:cNvPr id="22" name="Прямоугольник 21"/>
          <p:cNvSpPr/>
          <p:nvPr/>
        </p:nvSpPr>
        <p:spPr>
          <a:xfrm>
            <a:off x="2411760" y="4869160"/>
            <a:ext cx="2232248" cy="136815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TextBox 22"/>
          <p:cNvSpPr txBox="1"/>
          <p:nvPr/>
        </p:nvSpPr>
        <p:spPr>
          <a:xfrm>
            <a:off x="2536587" y="4905976"/>
            <a:ext cx="1982594" cy="369332"/>
          </a:xfrm>
          <a:prstGeom prst="rect">
            <a:avLst/>
          </a:prstGeom>
          <a:noFill/>
        </p:spPr>
        <p:txBody>
          <a:bodyPr wrap="none" rtlCol="0">
            <a:spAutoFit/>
          </a:bodyPr>
          <a:lstStyle/>
          <a:p>
            <a:r>
              <a:rPr lang="ru-RU" b="1" dirty="0" smtClean="0"/>
              <a:t>_</a:t>
            </a:r>
            <a:r>
              <a:rPr lang="en-US" b="1" dirty="0" smtClean="0"/>
              <a:t>DEVICE_OBJECT 2</a:t>
            </a:r>
            <a:endParaRPr lang="ru-RU" b="1" dirty="0"/>
          </a:p>
        </p:txBody>
      </p:sp>
      <p:cxnSp>
        <p:nvCxnSpPr>
          <p:cNvPr id="24" name="Прямая соединительная линия 23"/>
          <p:cNvCxnSpPr/>
          <p:nvPr/>
        </p:nvCxnSpPr>
        <p:spPr>
          <a:xfrm>
            <a:off x="2411760" y="5347316"/>
            <a:ext cx="223224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911356" y="5770072"/>
            <a:ext cx="1249958" cy="369332"/>
          </a:xfrm>
          <a:prstGeom prst="rect">
            <a:avLst/>
          </a:prstGeom>
          <a:noFill/>
        </p:spPr>
        <p:txBody>
          <a:bodyPr wrap="none" rtlCol="0">
            <a:spAutoFit/>
          </a:bodyPr>
          <a:lstStyle/>
          <a:p>
            <a:r>
              <a:rPr lang="en-US" i="1" dirty="0" err="1" smtClean="0"/>
              <a:t>NextDevice</a:t>
            </a:r>
            <a:endParaRPr lang="ru-RU" i="1" dirty="0"/>
          </a:p>
        </p:txBody>
      </p:sp>
      <p:sp>
        <p:nvSpPr>
          <p:cNvPr id="26" name="TextBox 25"/>
          <p:cNvSpPr txBox="1"/>
          <p:nvPr/>
        </p:nvSpPr>
        <p:spPr>
          <a:xfrm>
            <a:off x="2915816" y="5419324"/>
            <a:ext cx="1358064" cy="369332"/>
          </a:xfrm>
          <a:prstGeom prst="rect">
            <a:avLst/>
          </a:prstGeom>
          <a:noFill/>
        </p:spPr>
        <p:txBody>
          <a:bodyPr wrap="none" rtlCol="0">
            <a:spAutoFit/>
          </a:bodyPr>
          <a:lstStyle/>
          <a:p>
            <a:r>
              <a:rPr lang="en-US" i="1" dirty="0" err="1" smtClean="0"/>
              <a:t>DriverObject</a:t>
            </a:r>
            <a:endParaRPr lang="ru-RU" i="1" dirty="0"/>
          </a:p>
        </p:txBody>
      </p:sp>
      <p:cxnSp>
        <p:nvCxnSpPr>
          <p:cNvPr id="28" name="Прямая со стрелкой 27"/>
          <p:cNvCxnSpPr/>
          <p:nvPr/>
        </p:nvCxnSpPr>
        <p:spPr>
          <a:xfrm>
            <a:off x="3561191" y="2683020"/>
            <a:ext cx="0" cy="45794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p:cNvCxnSpPr/>
          <p:nvPr/>
        </p:nvCxnSpPr>
        <p:spPr>
          <a:xfrm>
            <a:off x="3594848" y="4411212"/>
            <a:ext cx="0" cy="45794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31"/>
          <p:cNvCxnSpPr>
            <a:stCxn id="16" idx="3"/>
          </p:cNvCxnSpPr>
          <p:nvPr/>
        </p:nvCxnSpPr>
        <p:spPr>
          <a:xfrm>
            <a:off x="4287435" y="2147606"/>
            <a:ext cx="1292677"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3" name="Прямоугольник 32"/>
          <p:cNvSpPr/>
          <p:nvPr/>
        </p:nvSpPr>
        <p:spPr>
          <a:xfrm>
            <a:off x="5580112" y="1468710"/>
            <a:ext cx="2232248" cy="136815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TextBox 33"/>
          <p:cNvSpPr txBox="1"/>
          <p:nvPr/>
        </p:nvSpPr>
        <p:spPr>
          <a:xfrm>
            <a:off x="5704939" y="1505526"/>
            <a:ext cx="2008242" cy="369332"/>
          </a:xfrm>
          <a:prstGeom prst="rect">
            <a:avLst/>
          </a:prstGeom>
          <a:noFill/>
        </p:spPr>
        <p:txBody>
          <a:bodyPr wrap="none" rtlCol="0">
            <a:spAutoFit/>
          </a:bodyPr>
          <a:lstStyle/>
          <a:p>
            <a:r>
              <a:rPr lang="ru-RU" b="1" dirty="0" smtClean="0"/>
              <a:t>_</a:t>
            </a:r>
            <a:r>
              <a:rPr lang="en-US" b="1" dirty="0" smtClean="0"/>
              <a:t>DRIVER_OBJECT 1</a:t>
            </a:r>
            <a:endParaRPr lang="ru-RU" b="1" dirty="0"/>
          </a:p>
        </p:txBody>
      </p:sp>
      <p:cxnSp>
        <p:nvCxnSpPr>
          <p:cNvPr id="35" name="Прямая соединительная линия 34"/>
          <p:cNvCxnSpPr/>
          <p:nvPr/>
        </p:nvCxnSpPr>
        <p:spPr>
          <a:xfrm>
            <a:off x="5580112" y="1946866"/>
            <a:ext cx="223224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115046" y="1989111"/>
            <a:ext cx="1555426" cy="369332"/>
          </a:xfrm>
          <a:prstGeom prst="rect">
            <a:avLst/>
          </a:prstGeom>
          <a:noFill/>
        </p:spPr>
        <p:txBody>
          <a:bodyPr wrap="none" rtlCol="0">
            <a:spAutoFit/>
          </a:bodyPr>
          <a:lstStyle/>
          <a:p>
            <a:r>
              <a:rPr lang="en-US" i="1" dirty="0" err="1" smtClean="0"/>
              <a:t>MajorFunction</a:t>
            </a:r>
            <a:endParaRPr lang="ru-RU" i="1" dirty="0"/>
          </a:p>
        </p:txBody>
      </p:sp>
      <p:sp>
        <p:nvSpPr>
          <p:cNvPr id="37" name="TextBox 36"/>
          <p:cNvSpPr txBox="1"/>
          <p:nvPr/>
        </p:nvSpPr>
        <p:spPr>
          <a:xfrm>
            <a:off x="6084168" y="2332272"/>
            <a:ext cx="1404808" cy="369332"/>
          </a:xfrm>
          <a:prstGeom prst="rect">
            <a:avLst/>
          </a:prstGeom>
          <a:noFill/>
        </p:spPr>
        <p:txBody>
          <a:bodyPr wrap="none" rtlCol="0">
            <a:spAutoFit/>
          </a:bodyPr>
          <a:lstStyle/>
          <a:p>
            <a:r>
              <a:rPr lang="en-US" i="1" dirty="0" err="1" smtClean="0"/>
              <a:t>DeviceObject</a:t>
            </a:r>
            <a:endParaRPr lang="ru-RU" i="1" dirty="0"/>
          </a:p>
        </p:txBody>
      </p:sp>
      <p:cxnSp>
        <p:nvCxnSpPr>
          <p:cNvPr id="38" name="Прямая со стрелкой 37"/>
          <p:cNvCxnSpPr>
            <a:stCxn id="37" idx="1"/>
          </p:cNvCxnSpPr>
          <p:nvPr/>
        </p:nvCxnSpPr>
        <p:spPr>
          <a:xfrm flipH="1">
            <a:off x="4657563" y="2516938"/>
            <a:ext cx="1426605"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p:cNvCxnSpPr/>
          <p:nvPr/>
        </p:nvCxnSpPr>
        <p:spPr>
          <a:xfrm>
            <a:off x="4300259" y="3870618"/>
            <a:ext cx="1292677"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2" name="Прямоугольник 41"/>
          <p:cNvSpPr/>
          <p:nvPr/>
        </p:nvSpPr>
        <p:spPr>
          <a:xfrm>
            <a:off x="5592936" y="3191722"/>
            <a:ext cx="2232248" cy="136815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TextBox 42"/>
          <p:cNvSpPr txBox="1"/>
          <p:nvPr/>
        </p:nvSpPr>
        <p:spPr>
          <a:xfrm>
            <a:off x="5717763" y="3228538"/>
            <a:ext cx="2008242" cy="369332"/>
          </a:xfrm>
          <a:prstGeom prst="rect">
            <a:avLst/>
          </a:prstGeom>
          <a:noFill/>
        </p:spPr>
        <p:txBody>
          <a:bodyPr wrap="none" rtlCol="0">
            <a:spAutoFit/>
          </a:bodyPr>
          <a:lstStyle/>
          <a:p>
            <a:r>
              <a:rPr lang="ru-RU" b="1" dirty="0" smtClean="0"/>
              <a:t>_</a:t>
            </a:r>
            <a:r>
              <a:rPr lang="en-US" b="1" dirty="0" smtClean="0"/>
              <a:t>DRIVER_OBJECT 2</a:t>
            </a:r>
            <a:endParaRPr lang="ru-RU" b="1" dirty="0"/>
          </a:p>
        </p:txBody>
      </p:sp>
      <p:cxnSp>
        <p:nvCxnSpPr>
          <p:cNvPr id="44" name="Прямая соединительная линия 43"/>
          <p:cNvCxnSpPr/>
          <p:nvPr/>
        </p:nvCxnSpPr>
        <p:spPr>
          <a:xfrm>
            <a:off x="5592936" y="3669878"/>
            <a:ext cx="223224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127870" y="3712123"/>
            <a:ext cx="1555426" cy="369332"/>
          </a:xfrm>
          <a:prstGeom prst="rect">
            <a:avLst/>
          </a:prstGeom>
          <a:noFill/>
        </p:spPr>
        <p:txBody>
          <a:bodyPr wrap="none" rtlCol="0">
            <a:spAutoFit/>
          </a:bodyPr>
          <a:lstStyle/>
          <a:p>
            <a:r>
              <a:rPr lang="en-US" i="1" dirty="0" err="1" smtClean="0"/>
              <a:t>MajorFunction</a:t>
            </a:r>
            <a:endParaRPr lang="ru-RU" i="1" dirty="0"/>
          </a:p>
        </p:txBody>
      </p:sp>
      <p:sp>
        <p:nvSpPr>
          <p:cNvPr id="46" name="TextBox 45"/>
          <p:cNvSpPr txBox="1"/>
          <p:nvPr/>
        </p:nvSpPr>
        <p:spPr>
          <a:xfrm>
            <a:off x="6096992" y="4055284"/>
            <a:ext cx="1404808" cy="369332"/>
          </a:xfrm>
          <a:prstGeom prst="rect">
            <a:avLst/>
          </a:prstGeom>
          <a:noFill/>
        </p:spPr>
        <p:txBody>
          <a:bodyPr wrap="none" rtlCol="0">
            <a:spAutoFit/>
          </a:bodyPr>
          <a:lstStyle/>
          <a:p>
            <a:r>
              <a:rPr lang="en-US" i="1" dirty="0" err="1" smtClean="0"/>
              <a:t>DeviceObject</a:t>
            </a:r>
            <a:endParaRPr lang="ru-RU" i="1" dirty="0"/>
          </a:p>
        </p:txBody>
      </p:sp>
      <p:cxnSp>
        <p:nvCxnSpPr>
          <p:cNvPr id="47" name="Прямая со стрелкой 46"/>
          <p:cNvCxnSpPr>
            <a:stCxn id="46" idx="1"/>
          </p:cNvCxnSpPr>
          <p:nvPr/>
        </p:nvCxnSpPr>
        <p:spPr>
          <a:xfrm flipH="1">
            <a:off x="4670387" y="4239950"/>
            <a:ext cx="1426605"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p:cNvCxnSpPr/>
          <p:nvPr/>
        </p:nvCxnSpPr>
        <p:spPr>
          <a:xfrm>
            <a:off x="4297947" y="5598810"/>
            <a:ext cx="1292677"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9" name="Прямоугольник 48"/>
          <p:cNvSpPr/>
          <p:nvPr/>
        </p:nvSpPr>
        <p:spPr>
          <a:xfrm>
            <a:off x="5590624" y="4919914"/>
            <a:ext cx="2232248" cy="136815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TextBox 49"/>
          <p:cNvSpPr txBox="1"/>
          <p:nvPr/>
        </p:nvSpPr>
        <p:spPr>
          <a:xfrm>
            <a:off x="5715451" y="4956730"/>
            <a:ext cx="2008242" cy="369332"/>
          </a:xfrm>
          <a:prstGeom prst="rect">
            <a:avLst/>
          </a:prstGeom>
          <a:noFill/>
        </p:spPr>
        <p:txBody>
          <a:bodyPr wrap="none" rtlCol="0">
            <a:spAutoFit/>
          </a:bodyPr>
          <a:lstStyle/>
          <a:p>
            <a:r>
              <a:rPr lang="ru-RU" b="1" dirty="0" smtClean="0"/>
              <a:t>_</a:t>
            </a:r>
            <a:r>
              <a:rPr lang="en-US" b="1" dirty="0" smtClean="0"/>
              <a:t>DRIVER_OBJECT 3</a:t>
            </a:r>
            <a:endParaRPr lang="ru-RU" b="1" dirty="0"/>
          </a:p>
        </p:txBody>
      </p:sp>
      <p:cxnSp>
        <p:nvCxnSpPr>
          <p:cNvPr id="51" name="Прямая соединительная линия 50"/>
          <p:cNvCxnSpPr/>
          <p:nvPr/>
        </p:nvCxnSpPr>
        <p:spPr>
          <a:xfrm>
            <a:off x="5590624" y="5398070"/>
            <a:ext cx="223224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6125558" y="5440315"/>
            <a:ext cx="1555426" cy="369332"/>
          </a:xfrm>
          <a:prstGeom prst="rect">
            <a:avLst/>
          </a:prstGeom>
          <a:noFill/>
        </p:spPr>
        <p:txBody>
          <a:bodyPr wrap="none" rtlCol="0">
            <a:spAutoFit/>
          </a:bodyPr>
          <a:lstStyle/>
          <a:p>
            <a:r>
              <a:rPr lang="en-US" i="1" dirty="0" err="1" smtClean="0"/>
              <a:t>MajorFunction</a:t>
            </a:r>
            <a:endParaRPr lang="ru-RU" i="1" dirty="0"/>
          </a:p>
        </p:txBody>
      </p:sp>
      <p:sp>
        <p:nvSpPr>
          <p:cNvPr id="53" name="TextBox 52"/>
          <p:cNvSpPr txBox="1"/>
          <p:nvPr/>
        </p:nvSpPr>
        <p:spPr>
          <a:xfrm>
            <a:off x="6094680" y="5783476"/>
            <a:ext cx="1404808" cy="369332"/>
          </a:xfrm>
          <a:prstGeom prst="rect">
            <a:avLst/>
          </a:prstGeom>
          <a:noFill/>
        </p:spPr>
        <p:txBody>
          <a:bodyPr wrap="none" rtlCol="0">
            <a:spAutoFit/>
          </a:bodyPr>
          <a:lstStyle/>
          <a:p>
            <a:r>
              <a:rPr lang="en-US" i="1" dirty="0" err="1" smtClean="0"/>
              <a:t>DeviceObject</a:t>
            </a:r>
            <a:endParaRPr lang="ru-RU" i="1" dirty="0"/>
          </a:p>
        </p:txBody>
      </p:sp>
      <p:cxnSp>
        <p:nvCxnSpPr>
          <p:cNvPr id="54" name="Прямая со стрелкой 53"/>
          <p:cNvCxnSpPr>
            <a:stCxn id="53" idx="1"/>
          </p:cNvCxnSpPr>
          <p:nvPr/>
        </p:nvCxnSpPr>
        <p:spPr>
          <a:xfrm flipH="1">
            <a:off x="4668075" y="5968142"/>
            <a:ext cx="1426605"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55" name="Прямоугольник 54"/>
          <p:cNvSpPr/>
          <p:nvPr/>
        </p:nvSpPr>
        <p:spPr>
          <a:xfrm>
            <a:off x="2051720" y="714375"/>
            <a:ext cx="3024336" cy="57389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TextBox 55"/>
          <p:cNvSpPr txBox="1"/>
          <p:nvPr/>
        </p:nvSpPr>
        <p:spPr>
          <a:xfrm>
            <a:off x="2110076" y="714375"/>
            <a:ext cx="1638590" cy="369332"/>
          </a:xfrm>
          <a:prstGeom prst="rect">
            <a:avLst/>
          </a:prstGeom>
          <a:noFill/>
        </p:spPr>
        <p:txBody>
          <a:bodyPr wrap="none" rtlCol="0">
            <a:spAutoFit/>
          </a:bodyPr>
          <a:lstStyle/>
          <a:p>
            <a:r>
              <a:rPr lang="en-US" b="1" dirty="0" smtClean="0"/>
              <a:t>_PNP_NODE  N</a:t>
            </a:r>
            <a:endParaRPr lang="ru-RU" b="1" dirty="0"/>
          </a:p>
        </p:txBody>
      </p:sp>
    </p:spTree>
    <p:extLst>
      <p:ext uri="{BB962C8B-B14F-4D97-AF65-F5344CB8AC3E}">
        <p14:creationId xmlns:p14="http://schemas.microsoft.com/office/powerpoint/2010/main" val="98596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СТРУКТУРА  </a:t>
            </a:r>
            <a:r>
              <a:rPr lang="en-US" sz="2000" b="1" dirty="0" smtClean="0">
                <a:solidFill>
                  <a:srgbClr val="003399"/>
                </a:solidFill>
                <a:latin typeface="Times New Roman" pitchFamily="18" charset="0"/>
                <a:cs typeface="Times New Roman" pitchFamily="18" charset="0"/>
              </a:rPr>
              <a:t>DRIVER_OBJECT</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1246385" y="980728"/>
            <a:ext cx="7358063" cy="5355312"/>
          </a:xfrm>
          <a:prstGeom prst="rect">
            <a:avLst/>
          </a:prstGeom>
        </p:spPr>
        <p:txBody>
          <a:bodyPr wrap="square">
            <a:spAutoFit/>
          </a:bodyPr>
          <a:lstStyle/>
          <a:p>
            <a:r>
              <a:rPr lang="en-US" i="1" dirty="0" err="1">
                <a:latin typeface="Courier New" pitchFamily="49" charset="0"/>
                <a:cs typeface="Courier New" pitchFamily="49" charset="0"/>
              </a:rPr>
              <a:t>typedef</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struct</a:t>
            </a:r>
            <a:r>
              <a:rPr lang="en-US" i="1" dirty="0">
                <a:latin typeface="Courier New" pitchFamily="49" charset="0"/>
                <a:cs typeface="Courier New" pitchFamily="49" charset="0"/>
              </a:rPr>
              <a:t> </a:t>
            </a:r>
            <a:r>
              <a:rPr lang="en-US" b="1" i="1" dirty="0">
                <a:latin typeface="Courier New" pitchFamily="49" charset="0"/>
                <a:cs typeface="Courier New" pitchFamily="49" charset="0"/>
              </a:rPr>
              <a:t>_</a:t>
            </a:r>
            <a:r>
              <a:rPr lang="en-US" b="1" i="1" dirty="0" smtClean="0">
                <a:latin typeface="Courier New" pitchFamily="49" charset="0"/>
                <a:cs typeface="Courier New" pitchFamily="49" charset="0"/>
              </a:rPr>
              <a:t>DRIVER_OBJECT</a:t>
            </a:r>
            <a:endParaRPr lang="ru-RU" b="1" i="1" dirty="0" smtClean="0">
              <a:latin typeface="Courier New" pitchFamily="49" charset="0"/>
              <a:cs typeface="Courier New" pitchFamily="49" charset="0"/>
            </a:endParaRPr>
          </a:p>
          <a:p>
            <a:r>
              <a:rPr lang="en-US" i="1" dirty="0" smtClean="0">
                <a:latin typeface="Courier New" pitchFamily="49" charset="0"/>
                <a:cs typeface="Courier New" pitchFamily="49" charset="0"/>
              </a:rPr>
              <a:t> </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CSHORT </a:t>
            </a:r>
            <a:r>
              <a:rPr lang="en-US" i="1" dirty="0">
                <a:latin typeface="Courier New" pitchFamily="49" charset="0"/>
                <a:cs typeface="Courier New" pitchFamily="49" charset="0"/>
              </a:rPr>
              <a:t>Type;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CSHORT </a:t>
            </a:r>
            <a:r>
              <a:rPr lang="en-US" i="1" dirty="0">
                <a:latin typeface="Courier New" pitchFamily="49" charset="0"/>
                <a:cs typeface="Courier New" pitchFamily="49" charset="0"/>
              </a:rPr>
              <a:t>Size;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PDEVICE_OBJECT </a:t>
            </a:r>
            <a:r>
              <a:rPr lang="en-US" b="1" i="1" dirty="0" err="1">
                <a:latin typeface="Courier New" pitchFamily="49" charset="0"/>
                <a:cs typeface="Courier New" pitchFamily="49" charset="0"/>
              </a:rPr>
              <a:t>DeviceObject</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ULONG </a:t>
            </a:r>
            <a:r>
              <a:rPr lang="en-US" i="1" dirty="0">
                <a:latin typeface="Courier New" pitchFamily="49" charset="0"/>
                <a:cs typeface="Courier New" pitchFamily="49" charset="0"/>
              </a:rPr>
              <a:t>Flags;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PVOID </a:t>
            </a:r>
            <a:r>
              <a:rPr lang="en-US" i="1" dirty="0" err="1">
                <a:latin typeface="Courier New" pitchFamily="49" charset="0"/>
                <a:cs typeface="Courier New" pitchFamily="49" charset="0"/>
              </a:rPr>
              <a:t>DriverStart</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ULONG </a:t>
            </a:r>
            <a:r>
              <a:rPr lang="en-US" i="1" dirty="0" err="1">
                <a:latin typeface="Courier New" pitchFamily="49" charset="0"/>
                <a:cs typeface="Courier New" pitchFamily="49" charset="0"/>
              </a:rPr>
              <a:t>DriverSize</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PVOID </a:t>
            </a:r>
            <a:r>
              <a:rPr lang="en-US" i="1" dirty="0" err="1">
                <a:latin typeface="Courier New" pitchFamily="49" charset="0"/>
                <a:cs typeface="Courier New" pitchFamily="49" charset="0"/>
              </a:rPr>
              <a:t>DriverSection</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PDRIVER_EXTENSION </a:t>
            </a:r>
            <a:r>
              <a:rPr lang="en-US" b="1" i="1" dirty="0" err="1">
                <a:latin typeface="Courier New" pitchFamily="49" charset="0"/>
                <a:cs typeface="Courier New" pitchFamily="49" charset="0"/>
              </a:rPr>
              <a:t>DriverExtension</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UNICODE_STRING </a:t>
            </a:r>
            <a:r>
              <a:rPr lang="en-US" i="1" dirty="0" err="1">
                <a:latin typeface="Courier New" pitchFamily="49" charset="0"/>
                <a:cs typeface="Courier New" pitchFamily="49" charset="0"/>
              </a:rPr>
              <a:t>DriverName</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PUNICODE_STRING </a:t>
            </a:r>
            <a:r>
              <a:rPr lang="en-US" i="1" dirty="0" err="1">
                <a:latin typeface="Courier New" pitchFamily="49" charset="0"/>
                <a:cs typeface="Courier New" pitchFamily="49" charset="0"/>
              </a:rPr>
              <a:t>HardwareDatabase</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PFAST_IO_DISPATCH </a:t>
            </a:r>
            <a:r>
              <a:rPr lang="en-US" i="1" dirty="0" err="1">
                <a:latin typeface="Courier New" pitchFamily="49" charset="0"/>
                <a:cs typeface="Courier New" pitchFamily="49" charset="0"/>
              </a:rPr>
              <a:t>FastIoDispatch</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PDRIVER_INITIALIZE </a:t>
            </a:r>
            <a:r>
              <a:rPr lang="en-US" i="1" dirty="0" err="1">
                <a:latin typeface="Courier New" pitchFamily="49" charset="0"/>
                <a:cs typeface="Courier New" pitchFamily="49" charset="0"/>
              </a:rPr>
              <a:t>DriverInit</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PDRIVER_STARTIO </a:t>
            </a:r>
            <a:r>
              <a:rPr lang="en-US" i="1" dirty="0" err="1">
                <a:latin typeface="Courier New" pitchFamily="49" charset="0"/>
                <a:cs typeface="Courier New" pitchFamily="49" charset="0"/>
              </a:rPr>
              <a:t>DriverStartIo</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PDRIVER_UNLOAD </a:t>
            </a:r>
            <a:r>
              <a:rPr lang="en-US" b="1" i="1" dirty="0" err="1">
                <a:latin typeface="Courier New" pitchFamily="49" charset="0"/>
                <a:cs typeface="Courier New" pitchFamily="49" charset="0"/>
              </a:rPr>
              <a:t>DriverUnload</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446088"/>
            <a:r>
              <a:rPr lang="en-US" i="1" dirty="0" smtClean="0">
                <a:latin typeface="Courier New" pitchFamily="49" charset="0"/>
                <a:cs typeface="Courier New" pitchFamily="49" charset="0"/>
              </a:rPr>
              <a:t>PDRIVER_DISPATCH </a:t>
            </a:r>
            <a:r>
              <a:rPr lang="en-US" b="1" i="1" dirty="0" err="1">
                <a:latin typeface="Courier New" pitchFamily="49" charset="0"/>
                <a:cs typeface="Courier New" pitchFamily="49" charset="0"/>
              </a:rPr>
              <a:t>MajorFunction</a:t>
            </a:r>
            <a:r>
              <a:rPr lang="en-US" b="1" i="1" dirty="0">
                <a:latin typeface="Courier New" pitchFamily="49" charset="0"/>
                <a:cs typeface="Courier New" pitchFamily="49" charset="0"/>
              </a:rPr>
              <a:t>[IRP_MJ_MAXIMUM_FUNCTION + 1]; </a:t>
            </a:r>
            <a:endParaRPr lang="ru-RU" b="1" i="1" dirty="0" smtClean="0">
              <a:latin typeface="Courier New" pitchFamily="49" charset="0"/>
              <a:cs typeface="Courier New" pitchFamily="49" charset="0"/>
            </a:endParaRPr>
          </a:p>
          <a:p>
            <a:r>
              <a:rPr lang="en-US" i="1" dirty="0" smtClean="0">
                <a:latin typeface="Courier New" pitchFamily="49" charset="0"/>
                <a:cs typeface="Courier New" pitchFamily="49" charset="0"/>
              </a:rPr>
              <a:t>} ;</a:t>
            </a:r>
            <a:endParaRPr lang="ru-RU" i="1" dirty="0">
              <a:latin typeface="Courier New" pitchFamily="49" charset="0"/>
              <a:cs typeface="Courier New" pitchFamily="49" charset="0"/>
            </a:endParaRPr>
          </a:p>
        </p:txBody>
      </p:sp>
      <p:sp>
        <p:nvSpPr>
          <p:cNvPr id="11" name="Прямоугольник 10"/>
          <p:cNvSpPr/>
          <p:nvPr/>
        </p:nvSpPr>
        <p:spPr>
          <a:xfrm>
            <a:off x="1115567" y="908720"/>
            <a:ext cx="7128842" cy="5544616"/>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8877557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СТРУКТУРА  </a:t>
            </a:r>
            <a:r>
              <a:rPr lang="en-US" sz="2000" b="1" dirty="0" smtClean="0">
                <a:solidFill>
                  <a:srgbClr val="003399"/>
                </a:solidFill>
                <a:latin typeface="Times New Roman" pitchFamily="18" charset="0"/>
                <a:cs typeface="Times New Roman" pitchFamily="18" charset="0"/>
              </a:rPr>
              <a:t>DEVICE_OBJECT</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739780"/>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827585" y="764704"/>
            <a:ext cx="7776864" cy="5909310"/>
          </a:xfrm>
          <a:prstGeom prst="rect">
            <a:avLst/>
          </a:prstGeom>
        </p:spPr>
        <p:txBody>
          <a:bodyPr wrap="square">
            <a:spAutoFit/>
          </a:bodyPr>
          <a:lstStyle/>
          <a:p>
            <a:r>
              <a:rPr lang="en-US" i="1" dirty="0" err="1">
                <a:latin typeface="Courier New" pitchFamily="49" charset="0"/>
                <a:cs typeface="Courier New" pitchFamily="49" charset="0"/>
              </a:rPr>
              <a:t>typedef</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struct</a:t>
            </a:r>
            <a:r>
              <a:rPr lang="en-US" i="1" dirty="0">
                <a:latin typeface="Courier New" pitchFamily="49" charset="0"/>
                <a:cs typeface="Courier New" pitchFamily="49" charset="0"/>
              </a:rPr>
              <a:t> </a:t>
            </a:r>
            <a:r>
              <a:rPr lang="en-US" b="1" i="1" dirty="0">
                <a:latin typeface="Courier New" pitchFamily="49" charset="0"/>
                <a:cs typeface="Courier New" pitchFamily="49" charset="0"/>
              </a:rPr>
              <a:t>_DEVICE_OBJECT </a:t>
            </a:r>
            <a:endParaRPr lang="ru-RU" b="1" i="1" dirty="0" smtClean="0">
              <a:latin typeface="Courier New" pitchFamily="49" charset="0"/>
              <a:cs typeface="Courier New" pitchFamily="49" charset="0"/>
            </a:endParaRPr>
          </a:p>
          <a:p>
            <a:r>
              <a:rPr lang="en-US" i="1" dirty="0" smtClean="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CSHORT </a:t>
            </a:r>
            <a:r>
              <a:rPr lang="en-US" i="1" dirty="0">
                <a:latin typeface="Courier New" pitchFamily="49" charset="0"/>
                <a:cs typeface="Courier New" pitchFamily="49" charset="0"/>
              </a:rPr>
              <a:t>                     Type;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USHORT </a:t>
            </a:r>
            <a:r>
              <a:rPr lang="en-US" i="1" dirty="0">
                <a:latin typeface="Courier New" pitchFamily="49" charset="0"/>
                <a:cs typeface="Courier New" pitchFamily="49" charset="0"/>
              </a:rPr>
              <a:t>                     Size;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LONG </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ReferenceCount</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err="1" smtClean="0">
                <a:latin typeface="Courier New" pitchFamily="49" charset="0"/>
                <a:cs typeface="Courier New" pitchFamily="49" charset="0"/>
              </a:rPr>
              <a:t>struct</a:t>
            </a:r>
            <a:r>
              <a:rPr lang="en-US" i="1" dirty="0" smtClean="0">
                <a:latin typeface="Courier New" pitchFamily="49" charset="0"/>
                <a:cs typeface="Courier New" pitchFamily="49" charset="0"/>
              </a:rPr>
              <a:t> </a:t>
            </a:r>
            <a:r>
              <a:rPr lang="en-US" i="1" dirty="0">
                <a:latin typeface="Courier New" pitchFamily="49" charset="0"/>
                <a:cs typeface="Courier New" pitchFamily="49" charset="0"/>
              </a:rPr>
              <a:t>_DRIVER_OBJECT  </a:t>
            </a:r>
            <a:r>
              <a:rPr lang="ru-RU" i="1" dirty="0" smtClean="0">
                <a:latin typeface="Courier New" pitchFamily="49" charset="0"/>
                <a:cs typeface="Courier New" pitchFamily="49" charset="0"/>
              </a:rPr>
              <a:t>	</a:t>
            </a:r>
            <a:r>
              <a:rPr lang="en-US" i="1" dirty="0" smtClean="0">
                <a:latin typeface="Courier New" pitchFamily="49" charset="0"/>
                <a:cs typeface="Courier New" pitchFamily="49" charset="0"/>
              </a:rPr>
              <a:t>*</a:t>
            </a:r>
            <a:r>
              <a:rPr lang="en-US" i="1" dirty="0" err="1">
                <a:latin typeface="Courier New" pitchFamily="49" charset="0"/>
                <a:cs typeface="Courier New" pitchFamily="49" charset="0"/>
              </a:rPr>
              <a:t>DriverObject</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err="1" smtClean="0">
                <a:latin typeface="Courier New" pitchFamily="49" charset="0"/>
                <a:cs typeface="Courier New" pitchFamily="49" charset="0"/>
              </a:rPr>
              <a:t>struct</a:t>
            </a:r>
            <a:r>
              <a:rPr lang="en-US" i="1" dirty="0" smtClean="0">
                <a:latin typeface="Courier New" pitchFamily="49" charset="0"/>
                <a:cs typeface="Courier New" pitchFamily="49" charset="0"/>
              </a:rPr>
              <a:t> </a:t>
            </a:r>
            <a:r>
              <a:rPr lang="en-US" i="1" dirty="0">
                <a:latin typeface="Courier New" pitchFamily="49" charset="0"/>
                <a:cs typeface="Courier New" pitchFamily="49" charset="0"/>
              </a:rPr>
              <a:t>_DEVICE_OBJECT  </a:t>
            </a:r>
            <a:r>
              <a:rPr lang="ru-RU" i="1" dirty="0" smtClean="0">
                <a:latin typeface="Courier New" pitchFamily="49" charset="0"/>
                <a:cs typeface="Courier New" pitchFamily="49" charset="0"/>
              </a:rPr>
              <a:t>	</a:t>
            </a:r>
            <a:r>
              <a:rPr lang="en-US" i="1" dirty="0" smtClean="0">
                <a:latin typeface="Courier New" pitchFamily="49" charset="0"/>
                <a:cs typeface="Courier New" pitchFamily="49" charset="0"/>
              </a:rPr>
              <a:t>*</a:t>
            </a:r>
            <a:r>
              <a:rPr lang="en-US" i="1" dirty="0" err="1">
                <a:latin typeface="Courier New" pitchFamily="49" charset="0"/>
                <a:cs typeface="Courier New" pitchFamily="49" charset="0"/>
              </a:rPr>
              <a:t>NextDevice</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err="1" smtClean="0">
                <a:latin typeface="Courier New" pitchFamily="49" charset="0"/>
                <a:cs typeface="Courier New" pitchFamily="49" charset="0"/>
              </a:rPr>
              <a:t>struct</a:t>
            </a:r>
            <a:r>
              <a:rPr lang="en-US" i="1" dirty="0" smtClean="0">
                <a:latin typeface="Courier New" pitchFamily="49" charset="0"/>
                <a:cs typeface="Courier New" pitchFamily="49" charset="0"/>
              </a:rPr>
              <a:t> </a:t>
            </a:r>
            <a:r>
              <a:rPr lang="en-US" i="1" dirty="0">
                <a:latin typeface="Courier New" pitchFamily="49" charset="0"/>
                <a:cs typeface="Courier New" pitchFamily="49" charset="0"/>
              </a:rPr>
              <a:t>_DEVICE_OBJECT  </a:t>
            </a:r>
            <a:r>
              <a:rPr lang="ru-RU" i="1" dirty="0" smtClean="0">
                <a:latin typeface="Courier New" pitchFamily="49" charset="0"/>
                <a:cs typeface="Courier New" pitchFamily="49" charset="0"/>
              </a:rPr>
              <a:t>	</a:t>
            </a:r>
            <a:r>
              <a:rPr lang="en-US" i="1" dirty="0" smtClean="0">
                <a:latin typeface="Courier New" pitchFamily="49" charset="0"/>
                <a:cs typeface="Courier New" pitchFamily="49" charset="0"/>
              </a:rPr>
              <a:t>*</a:t>
            </a:r>
            <a:r>
              <a:rPr lang="en-US" i="1" dirty="0" err="1">
                <a:latin typeface="Courier New" pitchFamily="49" charset="0"/>
                <a:cs typeface="Courier New" pitchFamily="49" charset="0"/>
              </a:rPr>
              <a:t>AttachedDevice</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err="1" smtClean="0">
                <a:latin typeface="Courier New" pitchFamily="49" charset="0"/>
                <a:cs typeface="Courier New" pitchFamily="49" charset="0"/>
              </a:rPr>
              <a:t>struct</a:t>
            </a:r>
            <a:r>
              <a:rPr lang="en-US" i="1" dirty="0" smtClean="0">
                <a:latin typeface="Courier New" pitchFamily="49" charset="0"/>
                <a:cs typeface="Courier New" pitchFamily="49" charset="0"/>
              </a:rPr>
              <a:t> </a:t>
            </a:r>
            <a:r>
              <a:rPr lang="en-US" i="1" dirty="0">
                <a:latin typeface="Courier New" pitchFamily="49" charset="0"/>
                <a:cs typeface="Courier New" pitchFamily="49" charset="0"/>
              </a:rPr>
              <a:t>_IRP  </a:t>
            </a:r>
            <a:r>
              <a:rPr lang="ru-RU" i="1" dirty="0" smtClean="0">
                <a:latin typeface="Courier New" pitchFamily="49" charset="0"/>
                <a:cs typeface="Courier New" pitchFamily="49" charset="0"/>
              </a:rPr>
              <a:t>		</a:t>
            </a:r>
            <a:r>
              <a:rPr lang="en-US" i="1" dirty="0" smtClean="0">
                <a:latin typeface="Courier New" pitchFamily="49" charset="0"/>
                <a:cs typeface="Courier New" pitchFamily="49" charset="0"/>
              </a:rPr>
              <a:t>*</a:t>
            </a:r>
            <a:r>
              <a:rPr lang="en-US" i="1" dirty="0" err="1">
                <a:latin typeface="Courier New" pitchFamily="49" charset="0"/>
                <a:cs typeface="Courier New" pitchFamily="49" charset="0"/>
              </a:rPr>
              <a:t>CurrentIrp</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PIO_TIMER </a:t>
            </a:r>
            <a:r>
              <a:rPr lang="en-US" i="1" dirty="0">
                <a:latin typeface="Courier New" pitchFamily="49" charset="0"/>
                <a:cs typeface="Courier New" pitchFamily="49" charset="0"/>
              </a:rPr>
              <a:t>                  Timer;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ULONG </a:t>
            </a:r>
            <a:r>
              <a:rPr lang="en-US" i="1" dirty="0">
                <a:latin typeface="Courier New" pitchFamily="49" charset="0"/>
                <a:cs typeface="Courier New" pitchFamily="49" charset="0"/>
              </a:rPr>
              <a:t>                      Flags;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ULONG </a:t>
            </a:r>
            <a:r>
              <a:rPr lang="en-US" i="1" dirty="0">
                <a:latin typeface="Courier New" pitchFamily="49" charset="0"/>
                <a:cs typeface="Courier New" pitchFamily="49" charset="0"/>
              </a:rPr>
              <a:t>                      Characteristics;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__</a:t>
            </a:r>
            <a:r>
              <a:rPr lang="en-US" i="1" dirty="0">
                <a:latin typeface="Courier New" pitchFamily="49" charset="0"/>
                <a:cs typeface="Courier New" pitchFamily="49" charset="0"/>
              </a:rPr>
              <a:t>volatile PVPB             </a:t>
            </a:r>
            <a:r>
              <a:rPr lang="en-US" i="1" dirty="0" err="1">
                <a:latin typeface="Courier New" pitchFamily="49" charset="0"/>
                <a:cs typeface="Courier New" pitchFamily="49" charset="0"/>
              </a:rPr>
              <a:t>Vpb</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PVOID </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DeviceExtension</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DEVICE_TYPE </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DeviceType</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CCHAR </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StackSize</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union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 </a:t>
            </a:r>
            <a:endParaRPr lang="ru-RU" i="1" dirty="0" smtClean="0">
              <a:latin typeface="Courier New" pitchFamily="49" charset="0"/>
              <a:cs typeface="Courier New" pitchFamily="49" charset="0"/>
            </a:endParaRPr>
          </a:p>
          <a:p>
            <a:pPr marL="711200"/>
            <a:r>
              <a:rPr lang="en-US" i="1" dirty="0" smtClean="0">
                <a:latin typeface="Courier New" pitchFamily="49" charset="0"/>
                <a:cs typeface="Courier New" pitchFamily="49" charset="0"/>
              </a:rPr>
              <a:t>LIST_ENTRY </a:t>
            </a:r>
            <a:r>
              <a:rPr lang="en-US" i="1" dirty="0">
                <a:latin typeface="Courier New" pitchFamily="49" charset="0"/>
                <a:cs typeface="Courier New" pitchFamily="49" charset="0"/>
              </a:rPr>
              <a:t>        </a:t>
            </a:r>
            <a:r>
              <a:rPr lang="ru-RU" i="1" dirty="0" smtClean="0">
                <a:latin typeface="Courier New" pitchFamily="49" charset="0"/>
                <a:cs typeface="Courier New" pitchFamily="49" charset="0"/>
              </a:rPr>
              <a:t>	</a:t>
            </a:r>
            <a:r>
              <a:rPr lang="en-US" i="1" dirty="0" err="1" smtClean="0">
                <a:latin typeface="Courier New" pitchFamily="49" charset="0"/>
                <a:cs typeface="Courier New" pitchFamily="49" charset="0"/>
              </a:rPr>
              <a:t>ListEntry</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711200"/>
            <a:r>
              <a:rPr lang="en-US" i="1" dirty="0" smtClean="0">
                <a:latin typeface="Courier New" pitchFamily="49" charset="0"/>
                <a:cs typeface="Courier New" pitchFamily="49" charset="0"/>
              </a:rPr>
              <a:t>WAIT_CONTEXT_</a:t>
            </a:r>
            <a:r>
              <a:rPr lang="ru-RU" i="1" dirty="0" smtClean="0">
                <a:latin typeface="Courier New" pitchFamily="49" charset="0"/>
                <a:cs typeface="Courier New" pitchFamily="49" charset="0"/>
              </a:rPr>
              <a:t>		</a:t>
            </a:r>
            <a:r>
              <a:rPr lang="en-US" i="1" dirty="0" smtClean="0">
                <a:latin typeface="Courier New" pitchFamily="49" charset="0"/>
                <a:cs typeface="Courier New" pitchFamily="49" charset="0"/>
              </a:rPr>
              <a:t>BLOCK </a:t>
            </a:r>
            <a:r>
              <a:rPr lang="en-US" i="1" dirty="0" err="1">
                <a:latin typeface="Courier New" pitchFamily="49" charset="0"/>
                <a:cs typeface="Courier New" pitchFamily="49" charset="0"/>
              </a:rPr>
              <a:t>Wcb</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a:t>
            </a:r>
            <a:r>
              <a:rPr lang="en-US" i="1" dirty="0">
                <a:latin typeface="Courier New" pitchFamily="49" charset="0"/>
                <a:cs typeface="Courier New" pitchFamily="49" charset="0"/>
              </a:rPr>
              <a:t> </a:t>
            </a:r>
            <a:r>
              <a:rPr lang="en-US" i="1" dirty="0" smtClean="0">
                <a:latin typeface="Courier New" pitchFamily="49" charset="0"/>
                <a:cs typeface="Courier New" pitchFamily="49" charset="0"/>
              </a:rPr>
              <a:t>Queue</a:t>
            </a:r>
            <a:r>
              <a:rPr lang="en-US" sz="1600" i="1" dirty="0">
                <a:latin typeface="Courier New" pitchFamily="49" charset="0"/>
                <a:cs typeface="Courier New" pitchFamily="49" charset="0"/>
              </a:rPr>
              <a:t>; </a:t>
            </a:r>
            <a:endParaRPr lang="ru-RU" sz="1600" i="1" dirty="0" smtClean="0">
              <a:latin typeface="Courier New" pitchFamily="49" charset="0"/>
              <a:cs typeface="Courier New" pitchFamily="49" charset="0"/>
            </a:endParaRPr>
          </a:p>
        </p:txBody>
      </p:sp>
      <p:sp>
        <p:nvSpPr>
          <p:cNvPr id="11" name="Прямоугольник 10"/>
          <p:cNvSpPr/>
          <p:nvPr/>
        </p:nvSpPr>
        <p:spPr>
          <a:xfrm>
            <a:off x="611560" y="692696"/>
            <a:ext cx="8208912" cy="598131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010279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СТРУКТУРА  ОБЪЕКТА  УСТРОЙСТВА</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827585" y="980728"/>
            <a:ext cx="7776864" cy="3139321"/>
          </a:xfrm>
          <a:prstGeom prst="rect">
            <a:avLst/>
          </a:prstGeom>
        </p:spPr>
        <p:txBody>
          <a:bodyPr wrap="square">
            <a:spAutoFit/>
          </a:bodyPr>
          <a:lstStyle/>
          <a:p>
            <a:pPr marL="363538"/>
            <a:r>
              <a:rPr lang="en-US" i="1" dirty="0" smtClean="0">
                <a:latin typeface="Courier New" pitchFamily="49" charset="0"/>
                <a:cs typeface="Courier New" pitchFamily="49" charset="0"/>
              </a:rPr>
              <a:t>ULONG </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AlignmentRequirement</a:t>
            </a:r>
            <a:r>
              <a:rPr lang="en-US" i="1" dirty="0">
                <a:latin typeface="Courier New" pitchFamily="49" charset="0"/>
                <a:cs typeface="Courier New" pitchFamily="49" charset="0"/>
              </a:rPr>
              <a:t>; KDEVICE_QUEUE               </a:t>
            </a:r>
            <a:r>
              <a:rPr lang="en-US" i="1" dirty="0" err="1">
                <a:latin typeface="Courier New" pitchFamily="49" charset="0"/>
                <a:cs typeface="Courier New" pitchFamily="49" charset="0"/>
              </a:rPr>
              <a:t>DeviceQueue</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KDPC </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Dpc</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ULONG </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ActiveThreadCount</a:t>
            </a:r>
            <a:r>
              <a:rPr lang="en-US" i="1" dirty="0">
                <a:latin typeface="Courier New" pitchFamily="49" charset="0"/>
                <a:cs typeface="Courier New" pitchFamily="49" charset="0"/>
              </a:rPr>
              <a:t>; PSECURITY_DESCRIPTOR        </a:t>
            </a:r>
            <a:r>
              <a:rPr lang="en-US" i="1" dirty="0" err="1">
                <a:latin typeface="Courier New" pitchFamily="49" charset="0"/>
                <a:cs typeface="Courier New" pitchFamily="49" charset="0"/>
              </a:rPr>
              <a:t>SecurityDescriptor</a:t>
            </a:r>
            <a:r>
              <a:rPr lang="en-US" i="1" dirty="0" smtClean="0">
                <a:latin typeface="Courier New" pitchFamily="49" charset="0"/>
                <a:cs typeface="Courier New" pitchFamily="49" charset="0"/>
              </a:rPr>
              <a:t>;</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KEVENT </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DeviceLock</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USHORT </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SectorSize</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pPr marL="363538"/>
            <a:r>
              <a:rPr lang="en-US" i="1" dirty="0" smtClean="0">
                <a:latin typeface="Courier New" pitchFamily="49" charset="0"/>
                <a:cs typeface="Courier New" pitchFamily="49" charset="0"/>
              </a:rPr>
              <a:t>USHORT </a:t>
            </a:r>
            <a:r>
              <a:rPr lang="en-US" i="1" dirty="0">
                <a:latin typeface="Courier New" pitchFamily="49" charset="0"/>
                <a:cs typeface="Courier New" pitchFamily="49" charset="0"/>
              </a:rPr>
              <a:t>                     Spare1; </a:t>
            </a:r>
            <a:endParaRPr lang="ru-RU" i="1" dirty="0" smtClean="0">
              <a:latin typeface="Courier New" pitchFamily="49" charset="0"/>
              <a:cs typeface="Courier New" pitchFamily="49" charset="0"/>
            </a:endParaRPr>
          </a:p>
          <a:p>
            <a:pPr marL="363538"/>
            <a:r>
              <a:rPr lang="en-US" i="1" dirty="0" err="1" smtClean="0">
                <a:latin typeface="Courier New" pitchFamily="49" charset="0"/>
                <a:cs typeface="Courier New" pitchFamily="49" charset="0"/>
              </a:rPr>
              <a:t>struct</a:t>
            </a:r>
            <a:r>
              <a:rPr lang="en-US" i="1" dirty="0" smtClean="0">
                <a:latin typeface="Courier New" pitchFamily="49" charset="0"/>
                <a:cs typeface="Courier New" pitchFamily="49" charset="0"/>
              </a:rPr>
              <a:t> </a:t>
            </a:r>
            <a:r>
              <a:rPr lang="en-US" i="1" dirty="0">
                <a:latin typeface="Courier New" pitchFamily="49" charset="0"/>
                <a:cs typeface="Courier New" pitchFamily="49" charset="0"/>
              </a:rPr>
              <a:t>_DEVOBJ_EXTENSION *  </a:t>
            </a:r>
            <a:r>
              <a:rPr lang="en-US" i="1" dirty="0" err="1">
                <a:latin typeface="Courier New" pitchFamily="49" charset="0"/>
                <a:cs typeface="Courier New" pitchFamily="49" charset="0"/>
              </a:rPr>
              <a:t>DeviceObjectExtension</a:t>
            </a:r>
            <a:r>
              <a:rPr lang="en-US" i="1" dirty="0">
                <a:latin typeface="Courier New" pitchFamily="49" charset="0"/>
                <a:cs typeface="Courier New" pitchFamily="49" charset="0"/>
              </a:rPr>
              <a:t>; PVOID                       Reserved; </a:t>
            </a:r>
            <a:endParaRPr lang="ru-RU" i="1" dirty="0" smtClean="0">
              <a:latin typeface="Courier New" pitchFamily="49" charset="0"/>
              <a:cs typeface="Courier New" pitchFamily="49" charset="0"/>
            </a:endParaRPr>
          </a:p>
          <a:p>
            <a:r>
              <a:rPr lang="en-US" i="1" dirty="0" smtClean="0">
                <a:latin typeface="Courier New" pitchFamily="49" charset="0"/>
                <a:cs typeface="Courier New" pitchFamily="49" charset="0"/>
              </a:rPr>
              <a:t>} </a:t>
            </a:r>
            <a:r>
              <a:rPr lang="en-US" i="1" dirty="0">
                <a:latin typeface="Courier New" pitchFamily="49" charset="0"/>
                <a:cs typeface="Courier New" pitchFamily="49" charset="0"/>
              </a:rPr>
              <a:t>DEVICE_OBJECT, *PDEVICE_OBJECT;</a:t>
            </a:r>
            <a:endParaRPr lang="ru-RU" i="1" dirty="0">
              <a:latin typeface="Courier New" pitchFamily="49" charset="0"/>
              <a:cs typeface="Courier New" pitchFamily="49" charset="0"/>
            </a:endParaRPr>
          </a:p>
        </p:txBody>
      </p:sp>
      <p:sp>
        <p:nvSpPr>
          <p:cNvPr id="11" name="Прямоугольник 10"/>
          <p:cNvSpPr/>
          <p:nvPr/>
        </p:nvSpPr>
        <p:spPr>
          <a:xfrm>
            <a:off x="611560" y="908720"/>
            <a:ext cx="8208912" cy="5544616"/>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9512168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ОБЯЗАТЕЛЬНЫЕ  ФУНКЦИИ </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1246384" y="1700808"/>
            <a:ext cx="6854007" cy="923330"/>
          </a:xfrm>
          <a:prstGeom prst="rect">
            <a:avLst/>
          </a:prstGeom>
        </p:spPr>
        <p:txBody>
          <a:bodyPr wrap="square">
            <a:spAutoFit/>
          </a:bodyPr>
          <a:lstStyle/>
          <a:p>
            <a:r>
              <a:rPr lang="en-US" i="1" dirty="0">
                <a:latin typeface="Courier New" pitchFamily="49" charset="0"/>
                <a:cs typeface="Courier New" pitchFamily="49" charset="0"/>
              </a:rPr>
              <a:t>NTSTATUS </a:t>
            </a:r>
            <a:r>
              <a:rPr lang="en-US" b="1" i="1" dirty="0" err="1">
                <a:latin typeface="Courier New" pitchFamily="49" charset="0"/>
                <a:cs typeface="Courier New" pitchFamily="49" charset="0"/>
              </a:rPr>
              <a:t>DriverEntry</a:t>
            </a:r>
            <a:r>
              <a:rPr lang="en-US" i="1" dirty="0">
                <a:latin typeface="Courier New" pitchFamily="49" charset="0"/>
                <a:cs typeface="Courier New" pitchFamily="49" charset="0"/>
              </a:rPr>
              <a:t>( </a:t>
            </a:r>
            <a:endParaRPr lang="en-US" i="1" dirty="0" smtClean="0">
              <a:latin typeface="Courier New" pitchFamily="49" charset="0"/>
              <a:cs typeface="Courier New" pitchFamily="49" charset="0"/>
            </a:endParaRPr>
          </a:p>
          <a:p>
            <a:pPr lvl="1"/>
            <a:r>
              <a:rPr lang="en-US" i="1" dirty="0" smtClean="0">
                <a:latin typeface="Courier New" pitchFamily="49" charset="0"/>
                <a:cs typeface="Courier New" pitchFamily="49" charset="0"/>
              </a:rPr>
              <a:t>_</a:t>
            </a:r>
            <a:r>
              <a:rPr lang="en-US" i="1" dirty="0">
                <a:latin typeface="Courier New" pitchFamily="49" charset="0"/>
                <a:cs typeface="Courier New" pitchFamily="49" charset="0"/>
              </a:rPr>
              <a:t>In_ </a:t>
            </a:r>
            <a:r>
              <a:rPr lang="en-US" i="1" dirty="0" err="1">
                <a:latin typeface="Courier New" pitchFamily="49" charset="0"/>
                <a:cs typeface="Courier New" pitchFamily="49" charset="0"/>
              </a:rPr>
              <a:t>struct</a:t>
            </a:r>
            <a:r>
              <a:rPr lang="en-US" i="1" dirty="0">
                <a:latin typeface="Courier New" pitchFamily="49" charset="0"/>
                <a:cs typeface="Courier New" pitchFamily="49" charset="0"/>
              </a:rPr>
              <a:t> _DRIVER_OBJECT *</a:t>
            </a:r>
            <a:r>
              <a:rPr lang="en-US" i="1" dirty="0" err="1">
                <a:latin typeface="Courier New" pitchFamily="49" charset="0"/>
                <a:cs typeface="Courier New" pitchFamily="49" charset="0"/>
              </a:rPr>
              <a:t>DriverObject</a:t>
            </a:r>
            <a:r>
              <a:rPr lang="en-US" i="1" dirty="0">
                <a:latin typeface="Courier New" pitchFamily="49" charset="0"/>
                <a:cs typeface="Courier New" pitchFamily="49" charset="0"/>
              </a:rPr>
              <a:t>, _In_ PUNICODE_STRING       </a:t>
            </a:r>
            <a:r>
              <a:rPr lang="en-US" i="1" dirty="0" err="1">
                <a:latin typeface="Courier New" pitchFamily="49" charset="0"/>
                <a:cs typeface="Courier New" pitchFamily="49" charset="0"/>
              </a:rPr>
              <a:t>RegistryPath</a:t>
            </a:r>
            <a:r>
              <a:rPr lang="en-US" i="1" dirty="0">
                <a:latin typeface="Courier New" pitchFamily="49" charset="0"/>
                <a:cs typeface="Courier New" pitchFamily="49" charset="0"/>
              </a:rPr>
              <a:t> );</a:t>
            </a:r>
            <a:endParaRPr lang="ru-RU" i="1" dirty="0">
              <a:latin typeface="Courier New" pitchFamily="49" charset="0"/>
              <a:cs typeface="Courier New" pitchFamily="49" charset="0"/>
            </a:endParaRPr>
          </a:p>
        </p:txBody>
      </p:sp>
      <p:sp>
        <p:nvSpPr>
          <p:cNvPr id="11" name="Прямоугольник 10"/>
          <p:cNvSpPr/>
          <p:nvPr/>
        </p:nvSpPr>
        <p:spPr>
          <a:xfrm>
            <a:off x="1115566" y="1628800"/>
            <a:ext cx="7128842" cy="108012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Box 1"/>
          <p:cNvSpPr txBox="1"/>
          <p:nvPr/>
        </p:nvSpPr>
        <p:spPr>
          <a:xfrm>
            <a:off x="719548" y="836712"/>
            <a:ext cx="7920880" cy="646331"/>
          </a:xfrm>
          <a:prstGeom prst="rect">
            <a:avLst/>
          </a:prstGeom>
          <a:noFill/>
        </p:spPr>
        <p:txBody>
          <a:bodyPr wrap="square" rtlCol="0">
            <a:spAutoFit/>
          </a:bodyPr>
          <a:lstStyle/>
          <a:p>
            <a:r>
              <a:rPr lang="ru-RU" dirty="0" smtClean="0"/>
              <a:t>Точка входа – функция, которая вызывается каждый раз при инициализации драйвера:</a:t>
            </a:r>
            <a:endParaRPr lang="ru-RU" dirty="0"/>
          </a:p>
        </p:txBody>
      </p:sp>
      <p:sp>
        <p:nvSpPr>
          <p:cNvPr id="3" name="TextBox 2"/>
          <p:cNvSpPr txBox="1"/>
          <p:nvPr/>
        </p:nvSpPr>
        <p:spPr>
          <a:xfrm>
            <a:off x="827584" y="3212976"/>
            <a:ext cx="7812844" cy="1477328"/>
          </a:xfrm>
          <a:prstGeom prst="rect">
            <a:avLst/>
          </a:prstGeom>
          <a:noFill/>
        </p:spPr>
        <p:txBody>
          <a:bodyPr wrap="square" rtlCol="0">
            <a:spAutoFit/>
          </a:bodyPr>
          <a:lstStyle/>
          <a:p>
            <a:pPr algn="just"/>
            <a:r>
              <a:rPr lang="en-US" i="1" dirty="0" err="1" smtClean="0">
                <a:latin typeface="Courier New" pitchFamily="49" charset="0"/>
                <a:cs typeface="Courier New" pitchFamily="49" charset="0"/>
              </a:rPr>
              <a:t>DriverObject</a:t>
            </a:r>
            <a:r>
              <a:rPr lang="ru-RU" i="1" dirty="0" smtClean="0">
                <a:latin typeface="Courier New" pitchFamily="49" charset="0"/>
                <a:cs typeface="Courier New" pitchFamily="49" charset="0"/>
              </a:rPr>
              <a:t> – </a:t>
            </a:r>
            <a:r>
              <a:rPr lang="ru-RU" dirty="0" smtClean="0">
                <a:cs typeface="Courier New" pitchFamily="49" charset="0"/>
              </a:rPr>
              <a:t>объект драйвера, который содержит обработчики всех событий и </a:t>
            </a:r>
            <a:r>
              <a:rPr lang="ru-RU" dirty="0">
                <a:cs typeface="Courier New" pitchFamily="49" charset="0"/>
              </a:rPr>
              <a:t>будет регистрироваться в </a:t>
            </a:r>
            <a:r>
              <a:rPr lang="ru-RU" dirty="0" smtClean="0">
                <a:cs typeface="Courier New" pitchFamily="49" charset="0"/>
              </a:rPr>
              <a:t>системе;</a:t>
            </a:r>
          </a:p>
          <a:p>
            <a:pPr algn="just"/>
            <a:endParaRPr lang="ru-RU" dirty="0">
              <a:cs typeface="Courier New" pitchFamily="49" charset="0"/>
            </a:endParaRPr>
          </a:p>
          <a:p>
            <a:pPr algn="just"/>
            <a:r>
              <a:rPr lang="en-US" i="1" dirty="0" err="1" smtClean="0">
                <a:latin typeface="Courier New" pitchFamily="49" charset="0"/>
                <a:cs typeface="Courier New" pitchFamily="49" charset="0"/>
              </a:rPr>
              <a:t>RegistryPath</a:t>
            </a:r>
            <a:r>
              <a:rPr lang="ru-RU" i="1" dirty="0" smtClean="0">
                <a:latin typeface="Courier New" pitchFamily="49" charset="0"/>
                <a:cs typeface="Courier New" pitchFamily="49" charset="0"/>
              </a:rPr>
              <a:t> – </a:t>
            </a:r>
            <a:r>
              <a:rPr lang="ru-RU" dirty="0" smtClean="0">
                <a:cs typeface="Courier New" pitchFamily="49" charset="0"/>
              </a:rPr>
              <a:t>строка, содержащая полный путь до ключа реестра, на основании которого регистрируется драйвер</a:t>
            </a:r>
            <a:endParaRPr lang="ru-RU" dirty="0"/>
          </a:p>
        </p:txBody>
      </p:sp>
    </p:spTree>
    <p:extLst>
      <p:ext uri="{BB962C8B-B14F-4D97-AF65-F5344CB8AC3E}">
        <p14:creationId xmlns:p14="http://schemas.microsoft.com/office/powerpoint/2010/main" val="42369130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ОБЯЗАТЕЛЬНЫЕ  ФУНКЦИИ </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1246384" y="1700808"/>
            <a:ext cx="6854007" cy="923330"/>
          </a:xfrm>
          <a:prstGeom prst="rect">
            <a:avLst/>
          </a:prstGeom>
        </p:spPr>
        <p:txBody>
          <a:bodyPr wrap="square">
            <a:spAutoFit/>
          </a:bodyPr>
          <a:lstStyle/>
          <a:p>
            <a:r>
              <a:rPr lang="en-US" i="1" dirty="0">
                <a:latin typeface="Courier New" pitchFamily="49" charset="0"/>
                <a:cs typeface="Courier New" pitchFamily="49" charset="0"/>
              </a:rPr>
              <a:t>VOID </a:t>
            </a:r>
            <a:r>
              <a:rPr lang="en-US" b="1" i="1" dirty="0">
                <a:latin typeface="Courier New" pitchFamily="49" charset="0"/>
                <a:cs typeface="Courier New" pitchFamily="49" charset="0"/>
              </a:rPr>
              <a:t>Unload</a:t>
            </a:r>
            <a:r>
              <a:rPr lang="en-US" i="1" dirty="0">
                <a:latin typeface="Courier New" pitchFamily="49" charset="0"/>
                <a:cs typeface="Courier New" pitchFamily="49" charset="0"/>
              </a:rPr>
              <a:t>( </a:t>
            </a:r>
            <a:endParaRPr lang="ru-RU" i="1" dirty="0" smtClean="0">
              <a:latin typeface="Courier New" pitchFamily="49" charset="0"/>
              <a:cs typeface="Courier New" pitchFamily="49" charset="0"/>
            </a:endParaRPr>
          </a:p>
          <a:p>
            <a:r>
              <a:rPr lang="en-US" i="1" dirty="0" smtClean="0">
                <a:latin typeface="Courier New" pitchFamily="49" charset="0"/>
                <a:cs typeface="Courier New" pitchFamily="49" charset="0"/>
              </a:rPr>
              <a:t>_</a:t>
            </a:r>
            <a:r>
              <a:rPr lang="en-US" i="1" dirty="0">
                <a:latin typeface="Courier New" pitchFamily="49" charset="0"/>
                <a:cs typeface="Courier New" pitchFamily="49" charset="0"/>
              </a:rPr>
              <a:t>In_ </a:t>
            </a:r>
            <a:r>
              <a:rPr lang="en-US" i="1" dirty="0" err="1">
                <a:latin typeface="Courier New" pitchFamily="49" charset="0"/>
                <a:cs typeface="Courier New" pitchFamily="49" charset="0"/>
              </a:rPr>
              <a:t>struct</a:t>
            </a:r>
            <a:r>
              <a:rPr lang="en-US" i="1" dirty="0">
                <a:latin typeface="Courier New" pitchFamily="49" charset="0"/>
                <a:cs typeface="Courier New" pitchFamily="49" charset="0"/>
              </a:rPr>
              <a:t> _DRIVER_OBJECT *</a:t>
            </a:r>
            <a:r>
              <a:rPr lang="en-US" i="1" dirty="0" err="1">
                <a:latin typeface="Courier New" pitchFamily="49" charset="0"/>
                <a:cs typeface="Courier New" pitchFamily="49" charset="0"/>
              </a:rPr>
              <a:t>DriverObject</a:t>
            </a:r>
            <a:r>
              <a:rPr lang="en-US" i="1" dirty="0">
                <a:latin typeface="Courier New" pitchFamily="49" charset="0"/>
                <a:cs typeface="Courier New" pitchFamily="49" charset="0"/>
              </a:rPr>
              <a:t> </a:t>
            </a:r>
            <a:r>
              <a:rPr lang="en-US" i="1" dirty="0" smtClean="0">
                <a:latin typeface="Courier New" pitchFamily="49" charset="0"/>
                <a:cs typeface="Courier New" pitchFamily="49" charset="0"/>
              </a:rPr>
              <a:t>) </a:t>
            </a:r>
            <a:endParaRPr lang="ru-RU" i="1" dirty="0" smtClean="0">
              <a:latin typeface="Courier New" pitchFamily="49" charset="0"/>
              <a:cs typeface="Courier New" pitchFamily="49" charset="0"/>
            </a:endParaRPr>
          </a:p>
          <a:p>
            <a:r>
              <a:rPr lang="en-US" i="1" dirty="0" smtClean="0">
                <a:latin typeface="Courier New" pitchFamily="49" charset="0"/>
                <a:cs typeface="Courier New" pitchFamily="49" charset="0"/>
              </a:rPr>
              <a:t>{ </a:t>
            </a:r>
            <a:r>
              <a:rPr lang="en-US" i="1" dirty="0">
                <a:latin typeface="Courier New" pitchFamily="49" charset="0"/>
                <a:cs typeface="Courier New" pitchFamily="49" charset="0"/>
              </a:rPr>
              <a:t>... }</a:t>
            </a:r>
            <a:endParaRPr lang="ru-RU" i="1" dirty="0">
              <a:latin typeface="Courier New" pitchFamily="49" charset="0"/>
              <a:cs typeface="Courier New" pitchFamily="49" charset="0"/>
            </a:endParaRPr>
          </a:p>
        </p:txBody>
      </p:sp>
      <p:sp>
        <p:nvSpPr>
          <p:cNvPr id="11" name="Прямоугольник 10"/>
          <p:cNvSpPr/>
          <p:nvPr/>
        </p:nvSpPr>
        <p:spPr>
          <a:xfrm>
            <a:off x="1115566" y="1628800"/>
            <a:ext cx="7128842" cy="108012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Box 1"/>
          <p:cNvSpPr txBox="1"/>
          <p:nvPr/>
        </p:nvSpPr>
        <p:spPr>
          <a:xfrm>
            <a:off x="719548" y="836712"/>
            <a:ext cx="7920880" cy="646331"/>
          </a:xfrm>
          <a:prstGeom prst="rect">
            <a:avLst/>
          </a:prstGeom>
          <a:noFill/>
        </p:spPr>
        <p:txBody>
          <a:bodyPr wrap="square" rtlCol="0">
            <a:spAutoFit/>
          </a:bodyPr>
          <a:lstStyle/>
          <a:p>
            <a:r>
              <a:rPr lang="ru-RU" dirty="0" smtClean="0"/>
              <a:t>Функция завершения драйвера вызывается, когда драйвер выгружается из оперативной памяти (напр. при отключении устройства):</a:t>
            </a:r>
            <a:endParaRPr lang="ru-RU" dirty="0"/>
          </a:p>
        </p:txBody>
      </p:sp>
      <p:sp>
        <p:nvSpPr>
          <p:cNvPr id="3" name="TextBox 2"/>
          <p:cNvSpPr txBox="1"/>
          <p:nvPr/>
        </p:nvSpPr>
        <p:spPr>
          <a:xfrm>
            <a:off x="827584" y="3212976"/>
            <a:ext cx="7812844" cy="369332"/>
          </a:xfrm>
          <a:prstGeom prst="rect">
            <a:avLst/>
          </a:prstGeom>
          <a:noFill/>
        </p:spPr>
        <p:txBody>
          <a:bodyPr wrap="square" rtlCol="0">
            <a:spAutoFit/>
          </a:bodyPr>
          <a:lstStyle/>
          <a:p>
            <a:pPr algn="just"/>
            <a:r>
              <a:rPr lang="en-US" i="1" dirty="0" err="1" smtClean="0">
                <a:latin typeface="Courier New" pitchFamily="49" charset="0"/>
                <a:cs typeface="Courier New" pitchFamily="49" charset="0"/>
              </a:rPr>
              <a:t>DriverObject</a:t>
            </a:r>
            <a:r>
              <a:rPr lang="ru-RU" i="1" dirty="0" smtClean="0">
                <a:latin typeface="Courier New" pitchFamily="49" charset="0"/>
                <a:cs typeface="Courier New" pitchFamily="49" charset="0"/>
              </a:rPr>
              <a:t> </a:t>
            </a:r>
            <a:r>
              <a:rPr lang="ru-RU" i="1" dirty="0" smtClean="0">
                <a:cs typeface="Courier New" pitchFamily="49" charset="0"/>
              </a:rPr>
              <a:t>– </a:t>
            </a:r>
            <a:r>
              <a:rPr lang="ru-RU" dirty="0" smtClean="0">
                <a:cs typeface="Courier New" pitchFamily="49" charset="0"/>
              </a:rPr>
              <a:t>зарегистрированный</a:t>
            </a:r>
            <a:r>
              <a:rPr lang="ru-RU" i="1" dirty="0" smtClean="0">
                <a:cs typeface="Courier New" pitchFamily="49" charset="0"/>
              </a:rPr>
              <a:t> </a:t>
            </a:r>
            <a:r>
              <a:rPr lang="ru-RU" dirty="0" smtClean="0">
                <a:cs typeface="Courier New" pitchFamily="49" charset="0"/>
              </a:rPr>
              <a:t>объект драйвера устройства</a:t>
            </a:r>
          </a:p>
        </p:txBody>
      </p:sp>
    </p:spTree>
    <p:extLst>
      <p:ext uri="{BB962C8B-B14F-4D97-AF65-F5344CB8AC3E}">
        <p14:creationId xmlns:p14="http://schemas.microsoft.com/office/powerpoint/2010/main" val="3645934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ОБЯЗАТЕЛЬНЫЕ  ФУНКЦИИ </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1043608" y="1700808"/>
            <a:ext cx="7416824" cy="1200329"/>
          </a:xfrm>
          <a:prstGeom prst="rect">
            <a:avLst/>
          </a:prstGeom>
        </p:spPr>
        <p:txBody>
          <a:bodyPr wrap="square">
            <a:spAutoFit/>
          </a:bodyPr>
          <a:lstStyle/>
          <a:p>
            <a:r>
              <a:rPr lang="en-US" dirty="0">
                <a:latin typeface="Courier New" pitchFamily="49" charset="0"/>
                <a:cs typeface="Courier New" pitchFamily="49" charset="0"/>
              </a:rPr>
              <a:t>NTSTATUS </a:t>
            </a:r>
            <a:r>
              <a:rPr lang="en-US" b="1" dirty="0" err="1">
                <a:latin typeface="Courier New" pitchFamily="49" charset="0"/>
                <a:cs typeface="Courier New" pitchFamily="49" charset="0"/>
              </a:rPr>
              <a:t>AddDevice</a:t>
            </a:r>
            <a:r>
              <a:rPr lang="en-US" dirty="0">
                <a:latin typeface="Courier New" pitchFamily="49" charset="0"/>
                <a:cs typeface="Courier New" pitchFamily="49" charset="0"/>
              </a:rPr>
              <a:t>( </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_</a:t>
            </a:r>
            <a:r>
              <a:rPr lang="en-US" dirty="0">
                <a:latin typeface="Courier New" pitchFamily="49" charset="0"/>
                <a:cs typeface="Courier New" pitchFamily="49" charset="0"/>
              </a:rPr>
              <a:t>In_ </a:t>
            </a:r>
            <a:r>
              <a:rPr lang="en-US" dirty="0" err="1">
                <a:latin typeface="Courier New" pitchFamily="49" charset="0"/>
                <a:cs typeface="Courier New" pitchFamily="49" charset="0"/>
              </a:rPr>
              <a:t>struct</a:t>
            </a:r>
            <a:r>
              <a:rPr lang="en-US" dirty="0">
                <a:latin typeface="Courier New" pitchFamily="49" charset="0"/>
                <a:cs typeface="Courier New" pitchFamily="49" charset="0"/>
              </a:rPr>
              <a:t> _DRIVER_OBJECT *</a:t>
            </a:r>
            <a:r>
              <a:rPr lang="en-US" dirty="0" err="1">
                <a:latin typeface="Courier New" pitchFamily="49" charset="0"/>
                <a:cs typeface="Courier New" pitchFamily="49" charset="0"/>
              </a:rPr>
              <a:t>DriverObject</a:t>
            </a:r>
            <a:r>
              <a:rPr lang="en-US" dirty="0">
                <a:latin typeface="Courier New" pitchFamily="49" charset="0"/>
                <a:cs typeface="Courier New" pitchFamily="49" charset="0"/>
              </a:rPr>
              <a:t>, </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_</a:t>
            </a:r>
            <a:r>
              <a:rPr lang="en-US" dirty="0">
                <a:latin typeface="Courier New" pitchFamily="49" charset="0"/>
                <a:cs typeface="Courier New" pitchFamily="49" charset="0"/>
              </a:rPr>
              <a:t>In_ </a:t>
            </a:r>
            <a:r>
              <a:rPr lang="en-US" dirty="0" err="1">
                <a:latin typeface="Courier New" pitchFamily="49" charset="0"/>
                <a:cs typeface="Courier New" pitchFamily="49" charset="0"/>
              </a:rPr>
              <a:t>struct</a:t>
            </a:r>
            <a:r>
              <a:rPr lang="en-US" dirty="0">
                <a:latin typeface="Courier New" pitchFamily="49" charset="0"/>
                <a:cs typeface="Courier New" pitchFamily="49" charset="0"/>
              </a:rPr>
              <a:t> _DEVICE_OBJECT *</a:t>
            </a:r>
            <a:r>
              <a:rPr lang="en-US" dirty="0" err="1">
                <a:latin typeface="Courier New" pitchFamily="49" charset="0"/>
                <a:cs typeface="Courier New" pitchFamily="49" charset="0"/>
              </a:rPr>
              <a:t>PhysicalDeviceObject</a:t>
            </a:r>
            <a:r>
              <a:rPr lang="en-US" dirty="0">
                <a:latin typeface="Courier New" pitchFamily="49" charset="0"/>
                <a:cs typeface="Courier New" pitchFamily="49" charset="0"/>
              </a:rPr>
              <a:t> ) </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 </a:t>
            </a:r>
            <a:r>
              <a:rPr lang="en-US" dirty="0">
                <a:latin typeface="Courier New" pitchFamily="49" charset="0"/>
                <a:cs typeface="Courier New" pitchFamily="49" charset="0"/>
              </a:rPr>
              <a:t>... }</a:t>
            </a:r>
            <a:endParaRPr lang="ru-RU" i="1" dirty="0">
              <a:latin typeface="Courier New" pitchFamily="49" charset="0"/>
              <a:cs typeface="Courier New" pitchFamily="49" charset="0"/>
            </a:endParaRPr>
          </a:p>
        </p:txBody>
      </p:sp>
      <p:sp>
        <p:nvSpPr>
          <p:cNvPr id="11" name="Прямоугольник 10"/>
          <p:cNvSpPr/>
          <p:nvPr/>
        </p:nvSpPr>
        <p:spPr>
          <a:xfrm>
            <a:off x="827584" y="1628800"/>
            <a:ext cx="7812844" cy="151216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Box 1"/>
          <p:cNvSpPr txBox="1"/>
          <p:nvPr/>
        </p:nvSpPr>
        <p:spPr>
          <a:xfrm>
            <a:off x="719548" y="836712"/>
            <a:ext cx="7920880" cy="646331"/>
          </a:xfrm>
          <a:prstGeom prst="rect">
            <a:avLst/>
          </a:prstGeom>
          <a:noFill/>
        </p:spPr>
        <p:txBody>
          <a:bodyPr wrap="square" rtlCol="0">
            <a:spAutoFit/>
          </a:bodyPr>
          <a:lstStyle/>
          <a:p>
            <a:r>
              <a:rPr lang="ru-RU" dirty="0" smtClean="0"/>
              <a:t>Функция </a:t>
            </a:r>
            <a:r>
              <a:rPr lang="en-US" dirty="0" err="1" smtClean="0"/>
              <a:t>AddDevice</a:t>
            </a:r>
            <a:r>
              <a:rPr lang="en-US" dirty="0" smtClean="0"/>
              <a:t> </a:t>
            </a:r>
            <a:r>
              <a:rPr lang="ru-RU" dirty="0" smtClean="0"/>
              <a:t>вызывается каждый раз, когда к </a:t>
            </a:r>
            <a:r>
              <a:rPr lang="en-US" dirty="0" smtClean="0"/>
              <a:t>PnP</a:t>
            </a:r>
            <a:r>
              <a:rPr lang="ru-RU" dirty="0" smtClean="0"/>
              <a:t>-дереву добавляется новое устройство:</a:t>
            </a:r>
            <a:endParaRPr lang="ru-RU" dirty="0"/>
          </a:p>
        </p:txBody>
      </p:sp>
      <p:sp>
        <p:nvSpPr>
          <p:cNvPr id="3" name="TextBox 2"/>
          <p:cNvSpPr txBox="1"/>
          <p:nvPr/>
        </p:nvSpPr>
        <p:spPr>
          <a:xfrm>
            <a:off x="827584" y="3463840"/>
            <a:ext cx="7812844" cy="1477328"/>
          </a:xfrm>
          <a:prstGeom prst="rect">
            <a:avLst/>
          </a:prstGeom>
          <a:noFill/>
        </p:spPr>
        <p:txBody>
          <a:bodyPr wrap="square" rtlCol="0">
            <a:spAutoFit/>
          </a:bodyPr>
          <a:lstStyle/>
          <a:p>
            <a:pPr algn="just"/>
            <a:r>
              <a:rPr lang="en-US" i="1" dirty="0" err="1" smtClean="0">
                <a:latin typeface="Courier New" pitchFamily="49" charset="0"/>
                <a:cs typeface="Courier New" pitchFamily="49" charset="0"/>
              </a:rPr>
              <a:t>DriverObject</a:t>
            </a:r>
            <a:r>
              <a:rPr lang="ru-RU" i="1" dirty="0" smtClean="0">
                <a:latin typeface="Courier New" pitchFamily="49" charset="0"/>
                <a:cs typeface="Courier New" pitchFamily="49" charset="0"/>
              </a:rPr>
              <a:t> – </a:t>
            </a:r>
            <a:r>
              <a:rPr lang="ru-RU" dirty="0" smtClean="0">
                <a:cs typeface="Courier New" pitchFamily="49" charset="0"/>
              </a:rPr>
              <a:t>объект драйвера, который регистрируется в системе и содержит обработчики всех событий;</a:t>
            </a:r>
          </a:p>
          <a:p>
            <a:pPr algn="just"/>
            <a:endParaRPr lang="ru-RU" dirty="0">
              <a:cs typeface="Courier New" pitchFamily="49" charset="0"/>
            </a:endParaRPr>
          </a:p>
          <a:p>
            <a:pPr algn="just"/>
            <a:r>
              <a:rPr lang="en-US" dirty="0" err="1">
                <a:latin typeface="Courier New" pitchFamily="49" charset="0"/>
                <a:cs typeface="Courier New" pitchFamily="49" charset="0"/>
              </a:rPr>
              <a:t>PhysicalDeviceObject</a:t>
            </a:r>
            <a:r>
              <a:rPr lang="ru-RU" i="1" dirty="0" smtClean="0">
                <a:latin typeface="Courier New" pitchFamily="49" charset="0"/>
                <a:cs typeface="Courier New" pitchFamily="49" charset="0"/>
              </a:rPr>
              <a:t>– </a:t>
            </a:r>
            <a:r>
              <a:rPr lang="ru-RU" dirty="0" smtClean="0">
                <a:cs typeface="Courier New" pitchFamily="49" charset="0"/>
              </a:rPr>
              <a:t>объект родительского устройства (</a:t>
            </a:r>
            <a:r>
              <a:rPr lang="en-US" dirty="0" smtClean="0">
                <a:cs typeface="Courier New" pitchFamily="49" charset="0"/>
              </a:rPr>
              <a:t>PDO</a:t>
            </a:r>
            <a:r>
              <a:rPr lang="ru-RU" dirty="0" smtClean="0">
                <a:cs typeface="Courier New" pitchFamily="49" charset="0"/>
              </a:rPr>
              <a:t>), созданный нижележащим драйвером</a:t>
            </a:r>
            <a:endParaRPr lang="ru-RU" dirty="0"/>
          </a:p>
        </p:txBody>
      </p:sp>
    </p:spTree>
    <p:extLst>
      <p:ext uri="{BB962C8B-B14F-4D97-AF65-F5344CB8AC3E}">
        <p14:creationId xmlns:p14="http://schemas.microsoft.com/office/powerpoint/2010/main" val="21485437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ПРИМЕР  РЕАЛИЗАЦИИ  ФУНКЦИИ  </a:t>
            </a:r>
            <a:r>
              <a:rPr lang="en-US" sz="2000" b="1" dirty="0" smtClean="0">
                <a:solidFill>
                  <a:srgbClr val="003399"/>
                </a:solidFill>
                <a:latin typeface="Times New Roman" pitchFamily="18" charset="0"/>
                <a:cs typeface="Times New Roman" pitchFamily="18" charset="0"/>
              </a:rPr>
              <a:t>DRIVERENTRY</a:t>
            </a:r>
            <a:r>
              <a:rPr lang="ru-RU" sz="2000" b="1" dirty="0" smtClean="0">
                <a:solidFill>
                  <a:srgbClr val="003399"/>
                </a:solidFill>
                <a:latin typeface="Times New Roman" pitchFamily="18" charset="0"/>
                <a:cs typeface="Times New Roman" pitchFamily="18" charset="0"/>
              </a:rPr>
              <a:t> </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357188" y="992917"/>
            <a:ext cx="8572500" cy="4524315"/>
          </a:xfrm>
          <a:prstGeom prst="rect">
            <a:avLst/>
          </a:prstGeom>
          <a:ln w="12700">
            <a:solidFill>
              <a:schemeClr val="tx1"/>
            </a:solidFill>
          </a:ln>
        </p:spPr>
        <p:txBody>
          <a:bodyPr wrap="square">
            <a:spAutoFit/>
          </a:bodyPr>
          <a:lstStyle/>
          <a:p>
            <a:r>
              <a:rPr lang="en-US" i="1" dirty="0">
                <a:latin typeface="Courier New" pitchFamily="49" charset="0"/>
                <a:cs typeface="Courier New" pitchFamily="49" charset="0"/>
              </a:rPr>
              <a:t>NTSTATUS </a:t>
            </a:r>
            <a:r>
              <a:rPr lang="en-US" b="1" i="1" dirty="0" err="1" smtClean="0">
                <a:latin typeface="Courier New" pitchFamily="49" charset="0"/>
                <a:cs typeface="Courier New" pitchFamily="49" charset="0"/>
              </a:rPr>
              <a:t>DriverEntry</a:t>
            </a:r>
            <a:r>
              <a:rPr lang="en-US" i="1" dirty="0">
                <a:latin typeface="Courier New" pitchFamily="49" charset="0"/>
                <a:cs typeface="Courier New" pitchFamily="49" charset="0"/>
              </a:rPr>
              <a:t>(</a:t>
            </a:r>
          </a:p>
          <a:p>
            <a:r>
              <a:rPr lang="en-US" i="1" dirty="0">
                <a:latin typeface="Courier New" pitchFamily="49" charset="0"/>
                <a:cs typeface="Courier New" pitchFamily="49" charset="0"/>
              </a:rPr>
              <a:t>	_In_ PDRIVER_OBJECT  </a:t>
            </a:r>
            <a:r>
              <a:rPr lang="en-US" i="1" dirty="0" err="1">
                <a:latin typeface="Courier New" pitchFamily="49" charset="0"/>
                <a:cs typeface="Courier New" pitchFamily="49" charset="0"/>
              </a:rPr>
              <a:t>pDriverObject</a:t>
            </a:r>
            <a:r>
              <a:rPr lang="en-US" i="1" dirty="0">
                <a:latin typeface="Courier New" pitchFamily="49" charset="0"/>
                <a:cs typeface="Courier New" pitchFamily="49" charset="0"/>
              </a:rPr>
              <a:t>,</a:t>
            </a:r>
          </a:p>
          <a:p>
            <a:r>
              <a:rPr lang="en-US" i="1" dirty="0">
                <a:latin typeface="Courier New" pitchFamily="49" charset="0"/>
                <a:cs typeface="Courier New" pitchFamily="49" charset="0"/>
              </a:rPr>
              <a:t>	_In_ PUNICODE_STRING </a:t>
            </a:r>
            <a:r>
              <a:rPr lang="en-US" i="1" dirty="0" err="1" smtClean="0">
                <a:latin typeface="Courier New" pitchFamily="49" charset="0"/>
                <a:cs typeface="Courier New" pitchFamily="49" charset="0"/>
              </a:rPr>
              <a:t>RegistryPath</a:t>
            </a:r>
            <a:r>
              <a:rPr lang="en-US" i="1" dirty="0" smtClean="0">
                <a:latin typeface="Courier New" pitchFamily="49" charset="0"/>
                <a:cs typeface="Courier New" pitchFamily="49" charset="0"/>
              </a:rPr>
              <a:t>)</a:t>
            </a:r>
            <a:endParaRPr lang="en-US" i="1" dirty="0">
              <a:latin typeface="Courier New" pitchFamily="49" charset="0"/>
              <a:cs typeface="Courier New" pitchFamily="49" charset="0"/>
            </a:endParaRPr>
          </a:p>
          <a:p>
            <a:r>
              <a:rPr lang="en-US" i="1" dirty="0" smtClean="0">
                <a:latin typeface="Courier New" pitchFamily="49" charset="0"/>
                <a:cs typeface="Courier New" pitchFamily="49" charset="0"/>
              </a:rPr>
              <a:t>{</a:t>
            </a:r>
          </a:p>
          <a:p>
            <a:r>
              <a:rPr lang="ru-RU" i="1" dirty="0" smtClean="0">
                <a:latin typeface="Courier New" pitchFamily="49" charset="0"/>
                <a:cs typeface="Courier New" pitchFamily="49" charset="0"/>
              </a:rPr>
              <a:t>    </a:t>
            </a:r>
            <a:r>
              <a:rPr lang="en-US" i="1" dirty="0" smtClean="0">
                <a:latin typeface="Courier New" pitchFamily="49" charset="0"/>
                <a:cs typeface="Courier New" pitchFamily="49" charset="0"/>
              </a:rPr>
              <a:t>for </a:t>
            </a:r>
            <a:r>
              <a:rPr lang="en-US" i="1" dirty="0">
                <a:latin typeface="Courier New" pitchFamily="49" charset="0"/>
                <a:cs typeface="Courier New" pitchFamily="49" charset="0"/>
              </a:rPr>
              <a:t>(</a:t>
            </a:r>
            <a:r>
              <a:rPr lang="en-US" i="1" dirty="0" err="1">
                <a:latin typeface="Courier New" pitchFamily="49" charset="0"/>
                <a:cs typeface="Courier New" pitchFamily="49" charset="0"/>
              </a:rPr>
              <a:t>int</a:t>
            </a:r>
            <a:r>
              <a:rPr lang="en-US" i="1" dirty="0">
                <a:latin typeface="Courier New" pitchFamily="49" charset="0"/>
                <a:cs typeface="Courier New" pitchFamily="49" charset="0"/>
              </a:rPr>
              <a:t> i = 0; i &lt; IRP_MJ_MAXIMUM_FUNCTION; i</a:t>
            </a:r>
            <a:r>
              <a:rPr lang="en-US" i="1" dirty="0" smtClean="0">
                <a:latin typeface="Courier New" pitchFamily="49" charset="0"/>
                <a:cs typeface="Courier New" pitchFamily="49" charset="0"/>
              </a:rPr>
              <a:t>++)</a:t>
            </a:r>
            <a:endParaRPr lang="en-US" i="1" dirty="0">
              <a:latin typeface="Courier New" pitchFamily="49" charset="0"/>
              <a:cs typeface="Courier New" pitchFamily="49" charset="0"/>
            </a:endParaRPr>
          </a:p>
          <a:p>
            <a:r>
              <a:rPr lang="en-US" i="1" dirty="0" smtClean="0">
                <a:latin typeface="Courier New" pitchFamily="49" charset="0"/>
                <a:cs typeface="Courier New" pitchFamily="49" charset="0"/>
              </a:rPr>
              <a:t>         </a:t>
            </a:r>
            <a:r>
              <a:rPr lang="en-US" i="1" dirty="0" err="1" smtClean="0">
                <a:latin typeface="Courier New" pitchFamily="49" charset="0"/>
                <a:cs typeface="Courier New" pitchFamily="49" charset="0"/>
              </a:rPr>
              <a:t>pDriverObject</a:t>
            </a:r>
            <a:r>
              <a:rPr lang="en-US" i="1" dirty="0" smtClean="0">
                <a:latin typeface="Courier New" pitchFamily="49" charset="0"/>
                <a:cs typeface="Courier New" pitchFamily="49" charset="0"/>
              </a:rPr>
              <a:t>-</a:t>
            </a:r>
            <a:r>
              <a:rPr lang="en-US" i="1" dirty="0">
                <a:latin typeface="Courier New" pitchFamily="49" charset="0"/>
                <a:cs typeface="Courier New" pitchFamily="49" charset="0"/>
              </a:rPr>
              <a:t>&gt;</a:t>
            </a:r>
            <a:r>
              <a:rPr lang="en-US" i="1" dirty="0" err="1">
                <a:latin typeface="Courier New" pitchFamily="49" charset="0"/>
                <a:cs typeface="Courier New" pitchFamily="49" charset="0"/>
              </a:rPr>
              <a:t>MajorFunction</a:t>
            </a:r>
            <a:r>
              <a:rPr lang="en-US" i="1" dirty="0">
                <a:latin typeface="Courier New" pitchFamily="49" charset="0"/>
                <a:cs typeface="Courier New" pitchFamily="49" charset="0"/>
              </a:rPr>
              <a:t>[i] = </a:t>
            </a:r>
            <a:r>
              <a:rPr lang="en-US" b="1" i="1" dirty="0" err="1">
                <a:latin typeface="Courier New" pitchFamily="49" charset="0"/>
                <a:cs typeface="Courier New" pitchFamily="49" charset="0"/>
              </a:rPr>
              <a:t>DispatchPassDown</a:t>
            </a:r>
            <a:r>
              <a:rPr lang="en-US" i="1" dirty="0" smtClean="0">
                <a:latin typeface="Courier New" pitchFamily="49" charset="0"/>
                <a:cs typeface="Courier New" pitchFamily="49" charset="0"/>
              </a:rPr>
              <a:t>;</a:t>
            </a:r>
            <a:endParaRPr lang="en-US" i="1" dirty="0">
              <a:latin typeface="Courier New" pitchFamily="49" charset="0"/>
              <a:cs typeface="Courier New" pitchFamily="49" charset="0"/>
            </a:endParaRPr>
          </a:p>
          <a:p>
            <a:endParaRPr lang="en-US" i="1" dirty="0" smtClean="0">
              <a:latin typeface="Courier New" pitchFamily="49" charset="0"/>
              <a:cs typeface="Courier New" pitchFamily="49" charset="0"/>
            </a:endParaRPr>
          </a:p>
          <a:p>
            <a:r>
              <a:rPr lang="en-US" i="1" dirty="0" smtClean="0">
                <a:latin typeface="Courier New" pitchFamily="49" charset="0"/>
                <a:cs typeface="Courier New" pitchFamily="49" charset="0"/>
              </a:rPr>
              <a:t>    </a:t>
            </a:r>
            <a:r>
              <a:rPr lang="en-US" i="1" dirty="0" err="1" smtClean="0">
                <a:latin typeface="Courier New" pitchFamily="49" charset="0"/>
                <a:cs typeface="Courier New" pitchFamily="49" charset="0"/>
              </a:rPr>
              <a:t>pDriverObject</a:t>
            </a:r>
            <a:r>
              <a:rPr lang="en-US" i="1" dirty="0" smtClean="0">
                <a:latin typeface="Courier New" pitchFamily="49" charset="0"/>
                <a:cs typeface="Courier New" pitchFamily="49" charset="0"/>
              </a:rPr>
              <a:t>-</a:t>
            </a:r>
            <a:r>
              <a:rPr lang="en-US" i="1" dirty="0">
                <a:latin typeface="Courier New" pitchFamily="49" charset="0"/>
                <a:cs typeface="Courier New" pitchFamily="49" charset="0"/>
              </a:rPr>
              <a:t>&gt;</a:t>
            </a:r>
            <a:r>
              <a:rPr lang="en-US" i="1" dirty="0" err="1">
                <a:latin typeface="Courier New" pitchFamily="49" charset="0"/>
                <a:cs typeface="Courier New" pitchFamily="49" charset="0"/>
              </a:rPr>
              <a:t>MajorFunction</a:t>
            </a:r>
            <a:r>
              <a:rPr lang="en-US" i="1" dirty="0">
                <a:latin typeface="Courier New" pitchFamily="49" charset="0"/>
                <a:cs typeface="Courier New" pitchFamily="49" charset="0"/>
              </a:rPr>
              <a:t>[IRP_MJ_READ] = </a:t>
            </a:r>
            <a:r>
              <a:rPr lang="en-US" b="1" i="1" dirty="0" err="1">
                <a:latin typeface="Courier New" pitchFamily="49" charset="0"/>
                <a:cs typeface="Courier New" pitchFamily="49" charset="0"/>
              </a:rPr>
              <a:t>DispatchRead</a:t>
            </a:r>
            <a:r>
              <a:rPr lang="en-US" i="1" dirty="0">
                <a:latin typeface="Courier New" pitchFamily="49" charset="0"/>
                <a:cs typeface="Courier New" pitchFamily="49" charset="0"/>
              </a:rPr>
              <a:t>;</a:t>
            </a:r>
          </a:p>
          <a:p>
            <a:r>
              <a:rPr lang="en-US" i="1" dirty="0" smtClean="0">
                <a:latin typeface="Courier New" pitchFamily="49" charset="0"/>
                <a:cs typeface="Courier New" pitchFamily="49" charset="0"/>
              </a:rPr>
              <a:t>    </a:t>
            </a:r>
            <a:r>
              <a:rPr lang="en-US" i="1" dirty="0" err="1" smtClean="0">
                <a:latin typeface="Courier New" pitchFamily="49" charset="0"/>
                <a:cs typeface="Courier New" pitchFamily="49" charset="0"/>
              </a:rPr>
              <a:t>pDriverObject</a:t>
            </a:r>
            <a:r>
              <a:rPr lang="en-US" i="1" dirty="0" smtClean="0">
                <a:latin typeface="Courier New" pitchFamily="49" charset="0"/>
                <a:cs typeface="Courier New" pitchFamily="49" charset="0"/>
              </a:rPr>
              <a:t>-</a:t>
            </a:r>
            <a:r>
              <a:rPr lang="en-US" i="1" dirty="0">
                <a:latin typeface="Courier New" pitchFamily="49" charset="0"/>
                <a:cs typeface="Courier New" pitchFamily="49" charset="0"/>
              </a:rPr>
              <a:t>&gt;</a:t>
            </a:r>
            <a:r>
              <a:rPr lang="en-US" i="1" dirty="0" err="1">
                <a:latin typeface="Courier New" pitchFamily="49" charset="0"/>
                <a:cs typeface="Courier New" pitchFamily="49" charset="0"/>
              </a:rPr>
              <a:t>DriverUnload</a:t>
            </a:r>
            <a:r>
              <a:rPr lang="en-US" i="1" dirty="0">
                <a:latin typeface="Courier New" pitchFamily="49" charset="0"/>
                <a:cs typeface="Courier New" pitchFamily="49" charset="0"/>
              </a:rPr>
              <a:t> = </a:t>
            </a:r>
            <a:r>
              <a:rPr lang="en-US" b="1" i="1" dirty="0">
                <a:latin typeface="Courier New" pitchFamily="49" charset="0"/>
                <a:cs typeface="Courier New" pitchFamily="49" charset="0"/>
              </a:rPr>
              <a:t>Unload</a:t>
            </a:r>
            <a:r>
              <a:rPr lang="en-US" i="1" dirty="0" smtClean="0">
                <a:latin typeface="Courier New" pitchFamily="49" charset="0"/>
                <a:cs typeface="Courier New" pitchFamily="49" charset="0"/>
              </a:rPr>
              <a:t>;</a:t>
            </a:r>
          </a:p>
          <a:p>
            <a:endParaRPr lang="en-US" i="1" dirty="0">
              <a:latin typeface="Courier New" pitchFamily="49" charset="0"/>
              <a:cs typeface="Courier New" pitchFamily="49" charset="0"/>
            </a:endParaRPr>
          </a:p>
          <a:p>
            <a:r>
              <a:rPr lang="en-US" i="1" dirty="0">
                <a:latin typeface="Courier New" pitchFamily="49" charset="0"/>
                <a:cs typeface="Courier New" pitchFamily="49" charset="0"/>
              </a:rPr>
              <a:t> </a:t>
            </a:r>
            <a:r>
              <a:rPr lang="en-US" i="1" dirty="0" smtClean="0">
                <a:latin typeface="Courier New" pitchFamily="49" charset="0"/>
                <a:cs typeface="Courier New" pitchFamily="49" charset="0"/>
              </a:rPr>
              <a:t>   #</a:t>
            </a:r>
            <a:r>
              <a:rPr lang="en-US" i="1" dirty="0" err="1">
                <a:latin typeface="Courier New" pitchFamily="49" charset="0"/>
                <a:cs typeface="Courier New" pitchFamily="49" charset="0"/>
              </a:rPr>
              <a:t>ifdef</a:t>
            </a:r>
            <a:r>
              <a:rPr lang="en-US" i="1" dirty="0">
                <a:latin typeface="Courier New" pitchFamily="49" charset="0"/>
                <a:cs typeface="Courier New" pitchFamily="49" charset="0"/>
              </a:rPr>
              <a:t> DEBUG</a:t>
            </a:r>
          </a:p>
          <a:p>
            <a:r>
              <a:rPr lang="en-US" i="1" dirty="0">
                <a:latin typeface="Courier New" pitchFamily="49" charset="0"/>
                <a:cs typeface="Courier New" pitchFamily="49" charset="0"/>
              </a:rPr>
              <a:t>	</a:t>
            </a:r>
            <a:r>
              <a:rPr lang="en-US" i="1" dirty="0" err="1">
                <a:latin typeface="Courier New" pitchFamily="49" charset="0"/>
                <a:cs typeface="Courier New" pitchFamily="49" charset="0"/>
              </a:rPr>
              <a:t>DbgPrint</a:t>
            </a:r>
            <a:r>
              <a:rPr lang="en-US" i="1" dirty="0">
                <a:latin typeface="Courier New" pitchFamily="49" charset="0"/>
                <a:cs typeface="Courier New" pitchFamily="49" charset="0"/>
              </a:rPr>
              <a:t>("Set </a:t>
            </a:r>
            <a:r>
              <a:rPr lang="en-US" i="1" dirty="0" err="1">
                <a:latin typeface="Courier New" pitchFamily="49" charset="0"/>
                <a:cs typeface="Courier New" pitchFamily="49" charset="0"/>
              </a:rPr>
              <a:t>DriverUnload</a:t>
            </a:r>
            <a:r>
              <a:rPr lang="en-US" i="1" dirty="0">
                <a:latin typeface="Courier New" pitchFamily="49" charset="0"/>
                <a:cs typeface="Courier New" pitchFamily="49" charset="0"/>
              </a:rPr>
              <a:t> function pointer...\n");</a:t>
            </a:r>
          </a:p>
          <a:p>
            <a:r>
              <a:rPr lang="en-US" i="1" dirty="0" smtClean="0">
                <a:latin typeface="Courier New" pitchFamily="49" charset="0"/>
                <a:cs typeface="Courier New" pitchFamily="49" charset="0"/>
              </a:rPr>
              <a:t>    #</a:t>
            </a:r>
            <a:r>
              <a:rPr lang="en-US" i="1" dirty="0" err="1" smtClean="0">
                <a:latin typeface="Courier New" pitchFamily="49" charset="0"/>
                <a:cs typeface="Courier New" pitchFamily="49" charset="0"/>
              </a:rPr>
              <a:t>endif</a:t>
            </a:r>
            <a:endParaRPr lang="en-US" i="1" dirty="0" smtClean="0">
              <a:latin typeface="Courier New" pitchFamily="49" charset="0"/>
              <a:cs typeface="Courier New" pitchFamily="49" charset="0"/>
            </a:endParaRPr>
          </a:p>
          <a:p>
            <a:endParaRPr lang="en-US" i="1" dirty="0">
              <a:latin typeface="Courier New" pitchFamily="49" charset="0"/>
              <a:cs typeface="Courier New" pitchFamily="49" charset="0"/>
            </a:endParaRPr>
          </a:p>
          <a:p>
            <a:r>
              <a:rPr lang="en-US" i="1" dirty="0" smtClean="0">
                <a:latin typeface="Courier New" pitchFamily="49" charset="0"/>
                <a:cs typeface="Courier New" pitchFamily="49" charset="0"/>
              </a:rPr>
              <a:t>    return </a:t>
            </a:r>
            <a:r>
              <a:rPr lang="en-US" i="1" dirty="0">
                <a:latin typeface="Courier New" pitchFamily="49" charset="0"/>
                <a:cs typeface="Courier New" pitchFamily="49" charset="0"/>
              </a:rPr>
              <a:t>STATUS_SUCCESS;</a:t>
            </a:r>
          </a:p>
          <a:p>
            <a:r>
              <a:rPr lang="en-US" i="1" dirty="0">
                <a:latin typeface="Courier New" pitchFamily="49" charset="0"/>
                <a:cs typeface="Courier New" pitchFamily="49" charset="0"/>
              </a:rPr>
              <a:t>}</a:t>
            </a:r>
            <a:endParaRPr lang="ru-RU" i="1" dirty="0">
              <a:latin typeface="Courier New" pitchFamily="49" charset="0"/>
              <a:cs typeface="Courier New" pitchFamily="49" charset="0"/>
            </a:endParaRPr>
          </a:p>
        </p:txBody>
      </p:sp>
    </p:spTree>
    <p:extLst>
      <p:ext uri="{BB962C8B-B14F-4D97-AF65-F5344CB8AC3E}">
        <p14:creationId xmlns:p14="http://schemas.microsoft.com/office/powerpoint/2010/main" val="38131293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ТАБЛИЦА  ВЕКТОРОВ  ОБЪЕКТА  УСТРОЙСТВА</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646" y="922361"/>
            <a:ext cx="7802810" cy="5553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02222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ОБРАБОТКА  ЗАПРОСОВ</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https://4.bp.blogspot.com/-5j9ZVweN6UE/WRAV1UGE_YI/AAAAAAAAIRE/Ur3sZMa5yRYFXbuM_eHOY7klH-qVTKGvQCPcB/s1600/IORequestFlo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885019"/>
            <a:ext cx="5760640" cy="5621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524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ОБРАБОТЧИК  </a:t>
            </a:r>
            <a:r>
              <a:rPr lang="en-US" sz="2000" b="1" dirty="0" smtClean="0">
                <a:solidFill>
                  <a:srgbClr val="003399"/>
                </a:solidFill>
                <a:latin typeface="Times New Roman" pitchFamily="18" charset="0"/>
                <a:cs typeface="Times New Roman" pitchFamily="18" charset="0"/>
              </a:rPr>
              <a:t>IRP</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1043608" y="1700808"/>
            <a:ext cx="7416824" cy="1200329"/>
          </a:xfrm>
          <a:prstGeom prst="rect">
            <a:avLst/>
          </a:prstGeom>
        </p:spPr>
        <p:txBody>
          <a:bodyPr wrap="square">
            <a:spAutoFit/>
          </a:bodyPr>
          <a:lstStyle/>
          <a:p>
            <a:r>
              <a:rPr lang="en-US" dirty="0" smtClean="0">
                <a:latin typeface="Courier New" pitchFamily="49" charset="0"/>
                <a:cs typeface="Courier New" pitchFamily="49" charset="0"/>
              </a:rPr>
              <a:t>NTSTATUS</a:t>
            </a:r>
            <a:r>
              <a:rPr lang="ru-RU" dirty="0" smtClean="0">
                <a:latin typeface="Courier New" pitchFamily="49" charset="0"/>
                <a:cs typeface="Courier New" pitchFamily="49" charset="0"/>
              </a:rPr>
              <a:t> </a:t>
            </a:r>
            <a:r>
              <a:rPr lang="en-US" dirty="0" err="1" smtClean="0">
                <a:latin typeface="Courier New" pitchFamily="49" charset="0"/>
                <a:cs typeface="Courier New" pitchFamily="49" charset="0"/>
              </a:rPr>
              <a:t>DispatchIRP</a:t>
            </a: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a:p>
            <a:r>
              <a:rPr lang="en-US" dirty="0">
                <a:latin typeface="Courier New" pitchFamily="49" charset="0"/>
                <a:cs typeface="Courier New" pitchFamily="49" charset="0"/>
              </a:rPr>
              <a:t>	_In_ PDEVICE_OBJECT </a:t>
            </a:r>
            <a:r>
              <a:rPr lang="en-US" dirty="0" err="1">
                <a:latin typeface="Courier New" pitchFamily="49" charset="0"/>
                <a:cs typeface="Courier New" pitchFamily="49" charset="0"/>
              </a:rPr>
              <a:t>pDeviceObject</a:t>
            </a:r>
            <a:r>
              <a:rPr lang="en-US" dirty="0">
                <a:latin typeface="Courier New" pitchFamily="49" charset="0"/>
                <a:cs typeface="Courier New" pitchFamily="49" charset="0"/>
              </a:rPr>
              <a:t>,</a:t>
            </a:r>
          </a:p>
          <a:p>
            <a:r>
              <a:rPr lang="en-US" dirty="0">
                <a:latin typeface="Courier New" pitchFamily="49" charset="0"/>
                <a:cs typeface="Courier New" pitchFamily="49" charset="0"/>
              </a:rPr>
              <a:t>	_In_ PIRP </a:t>
            </a:r>
            <a:r>
              <a:rPr lang="en-US" dirty="0" err="1">
                <a:latin typeface="Courier New" pitchFamily="49" charset="0"/>
                <a:cs typeface="Courier New" pitchFamily="49" charset="0"/>
              </a:rPr>
              <a:t>pIrp</a:t>
            </a:r>
            <a:endParaRPr lang="en-US" dirty="0">
              <a:latin typeface="Courier New" pitchFamily="49" charset="0"/>
              <a:cs typeface="Courier New" pitchFamily="49" charset="0"/>
            </a:endParaRPr>
          </a:p>
          <a:p>
            <a:r>
              <a:rPr lang="en-US" dirty="0">
                <a:latin typeface="Courier New" pitchFamily="49" charset="0"/>
                <a:cs typeface="Courier New" pitchFamily="49" charset="0"/>
              </a:rPr>
              <a:t>){ ... }</a:t>
            </a:r>
            <a:endParaRPr lang="ru-RU" i="1" dirty="0">
              <a:latin typeface="Courier New" pitchFamily="49" charset="0"/>
              <a:cs typeface="Courier New" pitchFamily="49" charset="0"/>
            </a:endParaRPr>
          </a:p>
        </p:txBody>
      </p:sp>
      <p:sp>
        <p:nvSpPr>
          <p:cNvPr id="11" name="Прямоугольник 10"/>
          <p:cNvSpPr/>
          <p:nvPr/>
        </p:nvSpPr>
        <p:spPr>
          <a:xfrm>
            <a:off x="827584" y="1628800"/>
            <a:ext cx="7812844" cy="151216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Box 1"/>
          <p:cNvSpPr txBox="1"/>
          <p:nvPr/>
        </p:nvSpPr>
        <p:spPr>
          <a:xfrm>
            <a:off x="719548" y="836712"/>
            <a:ext cx="7920880" cy="646331"/>
          </a:xfrm>
          <a:prstGeom prst="rect">
            <a:avLst/>
          </a:prstGeom>
          <a:noFill/>
        </p:spPr>
        <p:txBody>
          <a:bodyPr wrap="square" rtlCol="0">
            <a:spAutoFit/>
          </a:bodyPr>
          <a:lstStyle/>
          <a:p>
            <a:r>
              <a:rPr lang="ru-RU" dirty="0" smtClean="0"/>
              <a:t>Функция </a:t>
            </a:r>
            <a:r>
              <a:rPr lang="en-US" dirty="0" err="1" smtClean="0"/>
              <a:t>AddDevice</a:t>
            </a:r>
            <a:r>
              <a:rPr lang="en-US" dirty="0" smtClean="0"/>
              <a:t> </a:t>
            </a:r>
            <a:r>
              <a:rPr lang="ru-RU" dirty="0" smtClean="0"/>
              <a:t>вызывается каждый раз, когда к </a:t>
            </a:r>
            <a:r>
              <a:rPr lang="en-US" dirty="0" smtClean="0"/>
              <a:t>PnP</a:t>
            </a:r>
            <a:r>
              <a:rPr lang="ru-RU" dirty="0" smtClean="0"/>
              <a:t>-дереву добавляется новое устройство:</a:t>
            </a:r>
            <a:endParaRPr lang="ru-RU" dirty="0"/>
          </a:p>
        </p:txBody>
      </p:sp>
      <p:sp>
        <p:nvSpPr>
          <p:cNvPr id="3" name="TextBox 2"/>
          <p:cNvSpPr txBox="1"/>
          <p:nvPr/>
        </p:nvSpPr>
        <p:spPr>
          <a:xfrm>
            <a:off x="827584" y="3463840"/>
            <a:ext cx="7812844" cy="1200329"/>
          </a:xfrm>
          <a:prstGeom prst="rect">
            <a:avLst/>
          </a:prstGeom>
          <a:noFill/>
        </p:spPr>
        <p:txBody>
          <a:bodyPr wrap="square" rtlCol="0">
            <a:spAutoFit/>
          </a:bodyPr>
          <a:lstStyle/>
          <a:p>
            <a:pPr algn="just"/>
            <a:r>
              <a:rPr lang="en-US" i="1" dirty="0" err="1" smtClean="0">
                <a:latin typeface="Courier New" pitchFamily="49" charset="0"/>
                <a:cs typeface="Courier New" pitchFamily="49" charset="0"/>
              </a:rPr>
              <a:t>pDriverObject</a:t>
            </a:r>
            <a:r>
              <a:rPr lang="ru-RU" i="1" dirty="0" smtClean="0">
                <a:latin typeface="Courier New" pitchFamily="49" charset="0"/>
                <a:cs typeface="Courier New" pitchFamily="49" charset="0"/>
              </a:rPr>
              <a:t> – </a:t>
            </a:r>
            <a:r>
              <a:rPr lang="ru-RU" dirty="0" smtClean="0">
                <a:cs typeface="Times New Roman" pitchFamily="18" charset="0"/>
              </a:rPr>
              <a:t>указатель на </a:t>
            </a:r>
            <a:r>
              <a:rPr lang="ru-RU" dirty="0" smtClean="0">
                <a:cs typeface="Courier New" pitchFamily="49" charset="0"/>
              </a:rPr>
              <a:t>объект драйвера, который регистрируется в системе и содержит обработчики всех событий;</a:t>
            </a:r>
          </a:p>
          <a:p>
            <a:pPr algn="just"/>
            <a:endParaRPr lang="ru-RU" dirty="0">
              <a:cs typeface="Courier New" pitchFamily="49" charset="0"/>
            </a:endParaRPr>
          </a:p>
          <a:p>
            <a:pPr algn="just"/>
            <a:r>
              <a:rPr lang="en-US" dirty="0" err="1" smtClean="0">
                <a:latin typeface="Courier New" pitchFamily="49" charset="0"/>
                <a:cs typeface="Courier New" pitchFamily="49" charset="0"/>
              </a:rPr>
              <a:t>pIrp</a:t>
            </a:r>
            <a:r>
              <a:rPr lang="ru-RU" dirty="0" smtClean="0">
                <a:latin typeface="Courier New" pitchFamily="49" charset="0"/>
                <a:cs typeface="Courier New" pitchFamily="49" charset="0"/>
              </a:rPr>
              <a:t> </a:t>
            </a:r>
            <a:r>
              <a:rPr lang="ru-RU" i="1" dirty="0" smtClean="0">
                <a:latin typeface="Courier New" pitchFamily="49" charset="0"/>
                <a:cs typeface="Courier New" pitchFamily="49" charset="0"/>
              </a:rPr>
              <a:t>– </a:t>
            </a:r>
            <a:r>
              <a:rPr lang="ru-RU" dirty="0" smtClean="0">
                <a:cs typeface="Times New Roman" pitchFamily="18" charset="0"/>
              </a:rPr>
              <a:t>указатель на структуру </a:t>
            </a:r>
            <a:r>
              <a:rPr lang="en-US" dirty="0" smtClean="0">
                <a:cs typeface="Times New Roman" pitchFamily="18" charset="0"/>
              </a:rPr>
              <a:t>IRP</a:t>
            </a:r>
            <a:r>
              <a:rPr lang="ru-RU" dirty="0" smtClean="0">
                <a:cs typeface="Times New Roman" pitchFamily="18" charset="0"/>
              </a:rPr>
              <a:t>, содержащей данные для обработки</a:t>
            </a:r>
            <a:endParaRPr lang="ru-RU" dirty="0">
              <a:cs typeface="Times New Roman" pitchFamily="18" charset="0"/>
            </a:endParaRPr>
          </a:p>
        </p:txBody>
      </p:sp>
    </p:spTree>
    <p:extLst>
      <p:ext uri="{BB962C8B-B14F-4D97-AF65-F5344CB8AC3E}">
        <p14:creationId xmlns:p14="http://schemas.microsoft.com/office/powerpoint/2010/main" val="4784412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СТРУКТУРА  </a:t>
            </a:r>
            <a:r>
              <a:rPr lang="en-US" sz="2000" b="1" dirty="0" smtClean="0">
                <a:solidFill>
                  <a:srgbClr val="003399"/>
                </a:solidFill>
                <a:latin typeface="Times New Roman" pitchFamily="18" charset="0"/>
                <a:cs typeface="Times New Roman" pitchFamily="18" charset="0"/>
              </a:rPr>
              <a:t>IRP</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739780"/>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827585" y="764704"/>
            <a:ext cx="7776864" cy="5355312"/>
          </a:xfrm>
          <a:prstGeom prst="rect">
            <a:avLst/>
          </a:prstGeom>
        </p:spPr>
        <p:txBody>
          <a:bodyPr wrap="square">
            <a:spAutoFit/>
          </a:bodyPr>
          <a:lstStyle/>
          <a:p>
            <a:endParaRPr lang="en-US" dirty="0" smtClean="0">
              <a:latin typeface="Courier New" pitchFamily="49" charset="0"/>
              <a:cs typeface="Courier New" pitchFamily="49" charset="0"/>
            </a:endParaRPr>
          </a:p>
          <a:p>
            <a:r>
              <a:rPr lang="en-US" dirty="0" err="1" smtClean="0">
                <a:latin typeface="Courier New" pitchFamily="49" charset="0"/>
                <a:cs typeface="Courier New" pitchFamily="49" charset="0"/>
              </a:rPr>
              <a:t>typedef</a:t>
            </a:r>
            <a:r>
              <a:rPr lang="en-US" dirty="0" smtClean="0">
                <a:latin typeface="Courier New" pitchFamily="49" charset="0"/>
                <a:cs typeface="Courier New" pitchFamily="49" charset="0"/>
              </a:rPr>
              <a:t> </a:t>
            </a:r>
            <a:r>
              <a:rPr lang="en-US" dirty="0" err="1">
                <a:latin typeface="Courier New" pitchFamily="49" charset="0"/>
                <a:cs typeface="Courier New" pitchFamily="49" charset="0"/>
              </a:rPr>
              <a:t>struct</a:t>
            </a:r>
            <a:r>
              <a:rPr lang="en-US" dirty="0">
                <a:latin typeface="Courier New" pitchFamily="49" charset="0"/>
                <a:cs typeface="Courier New" pitchFamily="49" charset="0"/>
              </a:rPr>
              <a:t> _IRP </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 </a:t>
            </a:r>
          </a:p>
          <a:p>
            <a:pPr lvl="1"/>
            <a:r>
              <a:rPr lang="en-US" dirty="0" smtClean="0">
                <a:latin typeface="Courier New" pitchFamily="49" charset="0"/>
                <a:cs typeface="Courier New" pitchFamily="49" charset="0"/>
              </a:rPr>
              <a:t>PMDL </a:t>
            </a:r>
            <a:r>
              <a:rPr lang="en-US" dirty="0">
                <a:latin typeface="Courier New" pitchFamily="49" charset="0"/>
                <a:cs typeface="Courier New" pitchFamily="49" charset="0"/>
              </a:rPr>
              <a:t>           </a:t>
            </a:r>
            <a:r>
              <a:rPr lang="en-US" dirty="0" err="1">
                <a:latin typeface="Courier New" pitchFamily="49" charset="0"/>
                <a:cs typeface="Courier New" pitchFamily="49" charset="0"/>
              </a:rPr>
              <a:t>MdlAddress</a:t>
            </a:r>
            <a:r>
              <a:rPr lang="en-US" dirty="0">
                <a:latin typeface="Courier New" pitchFamily="49" charset="0"/>
                <a:cs typeface="Courier New" pitchFamily="49" charset="0"/>
              </a:rPr>
              <a:t>; </a:t>
            </a:r>
            <a:endParaRPr lang="en-US" dirty="0" smtClean="0">
              <a:latin typeface="Courier New" pitchFamily="49" charset="0"/>
              <a:cs typeface="Courier New" pitchFamily="49" charset="0"/>
            </a:endParaRPr>
          </a:p>
          <a:p>
            <a:pPr lvl="1"/>
            <a:r>
              <a:rPr lang="en-US" dirty="0" smtClean="0">
                <a:latin typeface="Courier New" pitchFamily="49" charset="0"/>
                <a:cs typeface="Courier New" pitchFamily="49" charset="0"/>
              </a:rPr>
              <a:t>ULONG </a:t>
            </a:r>
            <a:r>
              <a:rPr lang="en-US" dirty="0">
                <a:latin typeface="Courier New" pitchFamily="49" charset="0"/>
                <a:cs typeface="Courier New" pitchFamily="49" charset="0"/>
              </a:rPr>
              <a:t>          Flags; </a:t>
            </a:r>
            <a:endParaRPr lang="en-US" dirty="0" smtClean="0">
              <a:latin typeface="Courier New" pitchFamily="49" charset="0"/>
              <a:cs typeface="Courier New" pitchFamily="49" charset="0"/>
            </a:endParaRPr>
          </a:p>
          <a:p>
            <a:pPr lvl="1"/>
            <a:endParaRPr lang="en-US" dirty="0" smtClean="0">
              <a:latin typeface="Courier New" pitchFamily="49" charset="0"/>
              <a:cs typeface="Courier New" pitchFamily="49" charset="0"/>
            </a:endParaRPr>
          </a:p>
          <a:p>
            <a:pPr lvl="1"/>
            <a:r>
              <a:rPr lang="en-US" dirty="0" smtClean="0">
                <a:latin typeface="Courier New" pitchFamily="49" charset="0"/>
                <a:cs typeface="Courier New" pitchFamily="49" charset="0"/>
              </a:rPr>
              <a:t>union </a:t>
            </a:r>
          </a:p>
          <a:p>
            <a:pPr lvl="1"/>
            <a:r>
              <a:rPr lang="en-US" dirty="0" smtClean="0">
                <a:latin typeface="Courier New" pitchFamily="49" charset="0"/>
                <a:cs typeface="Courier New" pitchFamily="49" charset="0"/>
              </a:rPr>
              <a:t>{ </a:t>
            </a:r>
          </a:p>
          <a:p>
            <a:pPr lvl="2"/>
            <a:r>
              <a:rPr lang="en-US" dirty="0" err="1" smtClean="0">
                <a:latin typeface="Courier New" pitchFamily="49" charset="0"/>
                <a:cs typeface="Courier New" pitchFamily="49" charset="0"/>
              </a:rPr>
              <a:t>struct</a:t>
            </a:r>
            <a:r>
              <a:rPr lang="en-US" dirty="0" smtClean="0">
                <a:latin typeface="Courier New" pitchFamily="49" charset="0"/>
                <a:cs typeface="Courier New" pitchFamily="49" charset="0"/>
              </a:rPr>
              <a:t> </a:t>
            </a:r>
            <a:r>
              <a:rPr lang="en-US" dirty="0">
                <a:latin typeface="Courier New" pitchFamily="49" charset="0"/>
                <a:cs typeface="Courier New" pitchFamily="49" charset="0"/>
              </a:rPr>
              <a:t>_IRP </a:t>
            </a:r>
            <a:r>
              <a:rPr lang="en-US" dirty="0" smtClean="0">
                <a:latin typeface="Courier New" pitchFamily="49" charset="0"/>
                <a:cs typeface="Courier New" pitchFamily="49" charset="0"/>
              </a:rPr>
              <a:t>*</a:t>
            </a:r>
            <a:r>
              <a:rPr lang="en-US" dirty="0" err="1">
                <a:latin typeface="Courier New" pitchFamily="49" charset="0"/>
                <a:cs typeface="Courier New" pitchFamily="49" charset="0"/>
              </a:rPr>
              <a:t>MasterIrp</a:t>
            </a:r>
            <a:r>
              <a:rPr lang="en-US" dirty="0">
                <a:latin typeface="Courier New" pitchFamily="49" charset="0"/>
                <a:cs typeface="Courier New" pitchFamily="49" charset="0"/>
              </a:rPr>
              <a:t>; </a:t>
            </a:r>
            <a:endParaRPr lang="en-US" dirty="0" smtClean="0">
              <a:latin typeface="Courier New" pitchFamily="49" charset="0"/>
              <a:cs typeface="Courier New" pitchFamily="49" charset="0"/>
            </a:endParaRPr>
          </a:p>
          <a:p>
            <a:pPr lvl="2"/>
            <a:r>
              <a:rPr lang="en-US" dirty="0" smtClean="0">
                <a:latin typeface="Courier New" pitchFamily="49" charset="0"/>
                <a:cs typeface="Courier New" pitchFamily="49" charset="0"/>
              </a:rPr>
              <a:t>PVOID </a:t>
            </a:r>
            <a:r>
              <a:rPr lang="en-US" dirty="0">
                <a:latin typeface="Courier New" pitchFamily="49" charset="0"/>
                <a:cs typeface="Courier New" pitchFamily="49" charset="0"/>
              </a:rPr>
              <a:t>      </a:t>
            </a:r>
            <a:r>
              <a:rPr lang="en-US" dirty="0" err="1">
                <a:latin typeface="Courier New" pitchFamily="49" charset="0"/>
                <a:cs typeface="Courier New" pitchFamily="49" charset="0"/>
              </a:rPr>
              <a:t>SystemBuffer</a:t>
            </a:r>
            <a:r>
              <a:rPr lang="en-US" dirty="0">
                <a:latin typeface="Courier New" pitchFamily="49" charset="0"/>
                <a:cs typeface="Courier New" pitchFamily="49" charset="0"/>
              </a:rPr>
              <a:t>; </a:t>
            </a:r>
            <a:endParaRPr lang="en-US" dirty="0" smtClean="0">
              <a:latin typeface="Courier New" pitchFamily="49" charset="0"/>
              <a:cs typeface="Courier New" pitchFamily="49" charset="0"/>
            </a:endParaRPr>
          </a:p>
          <a:p>
            <a:pPr lvl="1"/>
            <a:r>
              <a:rPr lang="en-US" dirty="0" smtClean="0">
                <a:latin typeface="Courier New" pitchFamily="49" charset="0"/>
                <a:cs typeface="Courier New" pitchFamily="49" charset="0"/>
              </a:rPr>
              <a:t>}</a:t>
            </a:r>
            <a:r>
              <a:rPr lang="en-US" dirty="0">
                <a:latin typeface="Courier New" pitchFamily="49" charset="0"/>
                <a:cs typeface="Courier New" pitchFamily="49" charset="0"/>
              </a:rPr>
              <a:t> </a:t>
            </a:r>
            <a:r>
              <a:rPr lang="en-US" dirty="0" err="1">
                <a:latin typeface="Courier New" pitchFamily="49" charset="0"/>
                <a:cs typeface="Courier New" pitchFamily="49" charset="0"/>
              </a:rPr>
              <a:t>AssociatedIrp</a:t>
            </a:r>
            <a:r>
              <a:rPr lang="en-US" dirty="0">
                <a:latin typeface="Courier New" pitchFamily="49" charset="0"/>
                <a:cs typeface="Courier New" pitchFamily="49" charset="0"/>
              </a:rPr>
              <a:t>; </a:t>
            </a:r>
            <a:endParaRPr lang="en-US" dirty="0" smtClean="0">
              <a:latin typeface="Courier New" pitchFamily="49" charset="0"/>
              <a:cs typeface="Courier New" pitchFamily="49" charset="0"/>
            </a:endParaRPr>
          </a:p>
          <a:p>
            <a:pPr lvl="1"/>
            <a:endParaRPr lang="en-US" dirty="0" smtClean="0">
              <a:latin typeface="Courier New" pitchFamily="49" charset="0"/>
              <a:cs typeface="Courier New" pitchFamily="49" charset="0"/>
            </a:endParaRPr>
          </a:p>
          <a:p>
            <a:pPr lvl="1"/>
            <a:r>
              <a:rPr lang="en-US" dirty="0" smtClean="0">
                <a:latin typeface="Courier New" pitchFamily="49" charset="0"/>
                <a:cs typeface="Courier New" pitchFamily="49" charset="0"/>
              </a:rPr>
              <a:t>IO_STATUS_BLOCK </a:t>
            </a:r>
            <a:r>
              <a:rPr lang="en-US" dirty="0" err="1">
                <a:latin typeface="Courier New" pitchFamily="49" charset="0"/>
                <a:cs typeface="Courier New" pitchFamily="49" charset="0"/>
              </a:rPr>
              <a:t>IoStatus</a:t>
            </a:r>
            <a:r>
              <a:rPr lang="en-US" dirty="0">
                <a:latin typeface="Courier New" pitchFamily="49" charset="0"/>
                <a:cs typeface="Courier New" pitchFamily="49" charset="0"/>
              </a:rPr>
              <a:t>; </a:t>
            </a:r>
            <a:endParaRPr lang="en-US" dirty="0" smtClean="0">
              <a:latin typeface="Courier New" pitchFamily="49" charset="0"/>
              <a:cs typeface="Courier New" pitchFamily="49" charset="0"/>
            </a:endParaRPr>
          </a:p>
          <a:p>
            <a:pPr lvl="1"/>
            <a:r>
              <a:rPr lang="en-US" dirty="0" smtClean="0">
                <a:latin typeface="Courier New" pitchFamily="49" charset="0"/>
                <a:cs typeface="Courier New" pitchFamily="49" charset="0"/>
              </a:rPr>
              <a:t>KPROCESSOR_MODE </a:t>
            </a:r>
            <a:r>
              <a:rPr lang="en-US" dirty="0" err="1">
                <a:latin typeface="Courier New" pitchFamily="49" charset="0"/>
                <a:cs typeface="Courier New" pitchFamily="49" charset="0"/>
              </a:rPr>
              <a:t>RequestorMode</a:t>
            </a:r>
            <a:r>
              <a:rPr lang="en-US" dirty="0">
                <a:latin typeface="Courier New" pitchFamily="49" charset="0"/>
                <a:cs typeface="Courier New" pitchFamily="49" charset="0"/>
              </a:rPr>
              <a:t>; BOOLEAN         </a:t>
            </a:r>
            <a:r>
              <a:rPr lang="en-US" dirty="0" err="1">
                <a:latin typeface="Courier New" pitchFamily="49" charset="0"/>
                <a:cs typeface="Courier New" pitchFamily="49" charset="0"/>
              </a:rPr>
              <a:t>PendingReturned</a:t>
            </a:r>
            <a:r>
              <a:rPr lang="en-US" dirty="0">
                <a:latin typeface="Courier New" pitchFamily="49" charset="0"/>
                <a:cs typeface="Courier New" pitchFamily="49" charset="0"/>
              </a:rPr>
              <a:t>; BOOLEAN         Cancel; </a:t>
            </a:r>
            <a:endParaRPr lang="en-US" dirty="0" smtClean="0">
              <a:latin typeface="Courier New" pitchFamily="49" charset="0"/>
              <a:cs typeface="Courier New" pitchFamily="49" charset="0"/>
            </a:endParaRPr>
          </a:p>
          <a:p>
            <a:pPr lvl="1"/>
            <a:r>
              <a:rPr lang="en-US" dirty="0" smtClean="0">
                <a:latin typeface="Courier New" pitchFamily="49" charset="0"/>
                <a:cs typeface="Courier New" pitchFamily="49" charset="0"/>
              </a:rPr>
              <a:t>KIRQL </a:t>
            </a:r>
            <a:r>
              <a:rPr lang="en-US" dirty="0">
                <a:latin typeface="Courier New" pitchFamily="49" charset="0"/>
                <a:cs typeface="Courier New" pitchFamily="49" charset="0"/>
              </a:rPr>
              <a:t>          </a:t>
            </a:r>
            <a:r>
              <a:rPr lang="en-US" dirty="0" err="1">
                <a:latin typeface="Courier New" pitchFamily="49" charset="0"/>
                <a:cs typeface="Courier New" pitchFamily="49" charset="0"/>
              </a:rPr>
              <a:t>CancelIrql</a:t>
            </a:r>
            <a:r>
              <a:rPr lang="en-US" dirty="0">
                <a:latin typeface="Courier New" pitchFamily="49" charset="0"/>
                <a:cs typeface="Courier New" pitchFamily="49" charset="0"/>
              </a:rPr>
              <a:t>; PDRIVER_CANCEL  </a:t>
            </a:r>
            <a:r>
              <a:rPr lang="en-US" dirty="0" err="1">
                <a:latin typeface="Courier New" pitchFamily="49" charset="0"/>
                <a:cs typeface="Courier New" pitchFamily="49" charset="0"/>
              </a:rPr>
              <a:t>CancelRoutine</a:t>
            </a:r>
            <a:r>
              <a:rPr lang="en-US" dirty="0">
                <a:latin typeface="Courier New" pitchFamily="49" charset="0"/>
                <a:cs typeface="Courier New" pitchFamily="49" charset="0"/>
              </a:rPr>
              <a:t>; PVOID           </a:t>
            </a:r>
            <a:r>
              <a:rPr lang="en-US" dirty="0" err="1">
                <a:latin typeface="Courier New" pitchFamily="49" charset="0"/>
                <a:cs typeface="Courier New" pitchFamily="49" charset="0"/>
              </a:rPr>
              <a:t>UserBuffer</a:t>
            </a:r>
            <a:r>
              <a:rPr lang="en-US" dirty="0">
                <a:latin typeface="Courier New" pitchFamily="49" charset="0"/>
                <a:cs typeface="Courier New" pitchFamily="49" charset="0"/>
              </a:rPr>
              <a:t>; </a:t>
            </a:r>
            <a:endParaRPr lang="en-US" dirty="0" smtClean="0">
              <a:latin typeface="Courier New" pitchFamily="49" charset="0"/>
              <a:cs typeface="Courier New" pitchFamily="49" charset="0"/>
            </a:endParaRPr>
          </a:p>
        </p:txBody>
      </p:sp>
      <p:sp>
        <p:nvSpPr>
          <p:cNvPr id="11" name="Прямоугольник 10"/>
          <p:cNvSpPr/>
          <p:nvPr/>
        </p:nvSpPr>
        <p:spPr>
          <a:xfrm>
            <a:off x="611560" y="692696"/>
            <a:ext cx="8208912" cy="547260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7700817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СТРУКТУРА  </a:t>
            </a:r>
            <a:r>
              <a:rPr lang="en-US" sz="2000" b="1" dirty="0" smtClean="0">
                <a:solidFill>
                  <a:srgbClr val="003399"/>
                </a:solidFill>
                <a:latin typeface="Times New Roman" pitchFamily="18" charset="0"/>
                <a:cs typeface="Times New Roman" pitchFamily="18" charset="0"/>
              </a:rPr>
              <a:t>IRP</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739780"/>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827585" y="764704"/>
            <a:ext cx="7776864" cy="4801314"/>
          </a:xfrm>
          <a:prstGeom prst="rect">
            <a:avLst/>
          </a:prstGeom>
        </p:spPr>
        <p:txBody>
          <a:bodyPr wrap="square">
            <a:spAutoFit/>
          </a:bodyPr>
          <a:lstStyle/>
          <a:p>
            <a:pPr lvl="1"/>
            <a:r>
              <a:rPr lang="en-US" dirty="0">
                <a:latin typeface="Courier New" pitchFamily="49" charset="0"/>
                <a:cs typeface="Courier New" pitchFamily="49" charset="0"/>
              </a:rPr>
              <a:t>union </a:t>
            </a:r>
          </a:p>
          <a:p>
            <a:pPr lvl="1"/>
            <a:r>
              <a:rPr lang="en-US" dirty="0">
                <a:latin typeface="Courier New" pitchFamily="49" charset="0"/>
                <a:cs typeface="Courier New" pitchFamily="49" charset="0"/>
              </a:rPr>
              <a:t>{ </a:t>
            </a:r>
          </a:p>
          <a:p>
            <a:pPr lvl="2"/>
            <a:r>
              <a:rPr lang="en-US" dirty="0" err="1">
                <a:latin typeface="Courier New" pitchFamily="49" charset="0"/>
                <a:cs typeface="Courier New" pitchFamily="49" charset="0"/>
              </a:rPr>
              <a:t>struct</a:t>
            </a:r>
            <a:r>
              <a:rPr lang="en-US" dirty="0">
                <a:latin typeface="Courier New" pitchFamily="49" charset="0"/>
                <a:cs typeface="Courier New" pitchFamily="49" charset="0"/>
              </a:rPr>
              <a:t> </a:t>
            </a:r>
          </a:p>
          <a:p>
            <a:pPr lvl="2"/>
            <a:r>
              <a:rPr lang="en-US" dirty="0">
                <a:latin typeface="Courier New" pitchFamily="49" charset="0"/>
                <a:cs typeface="Courier New" pitchFamily="49" charset="0"/>
              </a:rPr>
              <a:t>{ </a:t>
            </a:r>
          </a:p>
          <a:p>
            <a:pPr lvl="3"/>
            <a:r>
              <a:rPr lang="en-US" dirty="0">
                <a:latin typeface="Courier New" pitchFamily="49" charset="0"/>
                <a:cs typeface="Courier New" pitchFamily="49" charset="0"/>
              </a:rPr>
              <a:t>union </a:t>
            </a:r>
          </a:p>
          <a:p>
            <a:pPr lvl="3"/>
            <a:r>
              <a:rPr lang="en-US" dirty="0">
                <a:latin typeface="Courier New" pitchFamily="49" charset="0"/>
                <a:cs typeface="Courier New" pitchFamily="49" charset="0"/>
              </a:rPr>
              <a:t>{ </a:t>
            </a:r>
          </a:p>
          <a:p>
            <a:pPr lvl="4"/>
            <a:r>
              <a:rPr lang="en-US" dirty="0" smtClean="0">
                <a:latin typeface="Courier New" pitchFamily="49" charset="0"/>
                <a:cs typeface="Courier New" pitchFamily="49" charset="0"/>
              </a:rPr>
              <a:t>KDEVICE_QUEUE_ENTRY </a:t>
            </a:r>
            <a:r>
              <a:rPr lang="en-US" dirty="0" err="1">
                <a:latin typeface="Courier New" pitchFamily="49" charset="0"/>
                <a:cs typeface="Courier New" pitchFamily="49" charset="0"/>
              </a:rPr>
              <a:t>DeviceQueueEntry</a:t>
            </a:r>
            <a:r>
              <a:rPr lang="en-US" dirty="0">
                <a:latin typeface="Courier New" pitchFamily="49" charset="0"/>
                <a:cs typeface="Courier New" pitchFamily="49" charset="0"/>
              </a:rPr>
              <a:t>; </a:t>
            </a:r>
          </a:p>
          <a:p>
            <a:pPr lvl="4"/>
            <a:r>
              <a:rPr lang="en-US" dirty="0" err="1">
                <a:latin typeface="Courier New" pitchFamily="49" charset="0"/>
                <a:cs typeface="Courier New" pitchFamily="49" charset="0"/>
              </a:rPr>
              <a:t>struct</a:t>
            </a:r>
            <a:r>
              <a:rPr lang="en-US" dirty="0">
                <a:latin typeface="Courier New" pitchFamily="49" charset="0"/>
                <a:cs typeface="Courier New" pitchFamily="49" charset="0"/>
              </a:rPr>
              <a:t> </a:t>
            </a:r>
          </a:p>
          <a:p>
            <a:pPr lvl="4"/>
            <a:r>
              <a:rPr lang="en-US" dirty="0">
                <a:latin typeface="Courier New" pitchFamily="49" charset="0"/>
                <a:cs typeface="Courier New" pitchFamily="49" charset="0"/>
              </a:rPr>
              <a:t>{ </a:t>
            </a:r>
          </a:p>
          <a:p>
            <a:pPr lvl="4"/>
            <a:r>
              <a:rPr lang="en-US" dirty="0" smtClean="0">
                <a:latin typeface="Courier New" pitchFamily="49" charset="0"/>
                <a:cs typeface="Courier New" pitchFamily="49" charset="0"/>
              </a:rPr>
              <a:t>	PVOID </a:t>
            </a:r>
            <a:r>
              <a:rPr lang="en-US" dirty="0" err="1">
                <a:latin typeface="Courier New" pitchFamily="49" charset="0"/>
                <a:cs typeface="Courier New" pitchFamily="49" charset="0"/>
              </a:rPr>
              <a:t>DriverContext</a:t>
            </a:r>
            <a:r>
              <a:rPr lang="en-US" dirty="0">
                <a:latin typeface="Courier New" pitchFamily="49" charset="0"/>
                <a:cs typeface="Courier New" pitchFamily="49" charset="0"/>
              </a:rPr>
              <a:t>[4]; </a:t>
            </a:r>
          </a:p>
          <a:p>
            <a:pPr lvl="4"/>
            <a:r>
              <a:rPr lang="en-US" dirty="0">
                <a:latin typeface="Courier New" pitchFamily="49" charset="0"/>
                <a:cs typeface="Courier New" pitchFamily="49" charset="0"/>
              </a:rPr>
              <a:t>}; </a:t>
            </a:r>
          </a:p>
          <a:p>
            <a:pPr lvl="3"/>
            <a:r>
              <a:rPr lang="en-US" dirty="0">
                <a:latin typeface="Courier New" pitchFamily="49" charset="0"/>
                <a:cs typeface="Courier New" pitchFamily="49" charset="0"/>
              </a:rPr>
              <a:t>}; </a:t>
            </a:r>
          </a:p>
          <a:p>
            <a:pPr lvl="3"/>
            <a:r>
              <a:rPr lang="en-US" dirty="0">
                <a:latin typeface="Courier New" pitchFamily="49" charset="0"/>
                <a:cs typeface="Courier New" pitchFamily="49" charset="0"/>
              </a:rPr>
              <a:t>PETHREAD   Thread; </a:t>
            </a:r>
          </a:p>
          <a:p>
            <a:pPr lvl="3"/>
            <a:r>
              <a:rPr lang="en-US" dirty="0">
                <a:latin typeface="Courier New" pitchFamily="49" charset="0"/>
                <a:cs typeface="Courier New" pitchFamily="49" charset="0"/>
              </a:rPr>
              <a:t>LIST_ENTRY </a:t>
            </a:r>
            <a:r>
              <a:rPr lang="en-US" dirty="0" err="1">
                <a:latin typeface="Courier New" pitchFamily="49" charset="0"/>
                <a:cs typeface="Courier New" pitchFamily="49" charset="0"/>
              </a:rPr>
              <a:t>ListEntry</a:t>
            </a:r>
            <a:r>
              <a:rPr lang="en-US" dirty="0">
                <a:latin typeface="Courier New" pitchFamily="49" charset="0"/>
                <a:cs typeface="Courier New" pitchFamily="49" charset="0"/>
              </a:rPr>
              <a:t>; </a:t>
            </a:r>
          </a:p>
          <a:p>
            <a:pPr lvl="2"/>
            <a:r>
              <a:rPr lang="en-US" dirty="0">
                <a:latin typeface="Courier New" pitchFamily="49" charset="0"/>
                <a:cs typeface="Courier New" pitchFamily="49" charset="0"/>
              </a:rPr>
              <a:t>} Overlay; </a:t>
            </a:r>
          </a:p>
          <a:p>
            <a:pPr lvl="1"/>
            <a:r>
              <a:rPr lang="en-US" dirty="0">
                <a:latin typeface="Courier New" pitchFamily="49" charset="0"/>
                <a:cs typeface="Courier New" pitchFamily="49" charset="0"/>
              </a:rPr>
              <a:t>} Tail; </a:t>
            </a:r>
          </a:p>
          <a:p>
            <a:r>
              <a:rPr lang="en-US" dirty="0">
                <a:latin typeface="Courier New" pitchFamily="49" charset="0"/>
                <a:cs typeface="Courier New" pitchFamily="49" charset="0"/>
              </a:rPr>
              <a:t>} IRP, *PIRP;</a:t>
            </a:r>
            <a:endParaRPr lang="ru-RU" sz="1600" i="1" dirty="0">
              <a:latin typeface="Courier New" pitchFamily="49" charset="0"/>
              <a:cs typeface="Courier New" pitchFamily="49" charset="0"/>
            </a:endParaRPr>
          </a:p>
        </p:txBody>
      </p:sp>
      <p:sp>
        <p:nvSpPr>
          <p:cNvPr id="11" name="Прямоугольник 10"/>
          <p:cNvSpPr/>
          <p:nvPr/>
        </p:nvSpPr>
        <p:spPr>
          <a:xfrm>
            <a:off x="611560" y="692696"/>
            <a:ext cx="8208912" cy="5184576"/>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6438292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971550" y="260648"/>
            <a:ext cx="7358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000" b="1" dirty="0" smtClean="0">
                <a:solidFill>
                  <a:srgbClr val="003399"/>
                </a:solidFill>
                <a:latin typeface="Times New Roman" pitchFamily="18" charset="0"/>
                <a:cs typeface="Times New Roman" pitchFamily="18" charset="0"/>
              </a:rPr>
              <a:t>ТАБЛИЦА  ВЕКТОРОВ  ОБЪЕКТА  УСТРОЙСТВА</a:t>
            </a:r>
            <a:endParaRPr lang="ru-RU" sz="20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739780"/>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3" name="Таблица 2"/>
          <p:cNvGraphicFramePr>
            <a:graphicFrameLocks noGrp="1"/>
          </p:cNvGraphicFramePr>
          <p:nvPr>
            <p:extLst>
              <p:ext uri="{D42A27DB-BD31-4B8C-83A1-F6EECF244321}">
                <p14:modId xmlns:p14="http://schemas.microsoft.com/office/powerpoint/2010/main" val="1040298699"/>
              </p:ext>
            </p:extLst>
          </p:nvPr>
        </p:nvGraphicFramePr>
        <p:xfrm>
          <a:off x="365572" y="721191"/>
          <a:ext cx="8631019" cy="5941888"/>
        </p:xfrm>
        <a:graphic>
          <a:graphicData uri="http://schemas.openxmlformats.org/drawingml/2006/table">
            <a:tbl>
              <a:tblPr>
                <a:tableStyleId>{5C22544A-7EE6-4342-B048-85BDC9FD1C3A}</a:tableStyleId>
              </a:tblPr>
              <a:tblGrid>
                <a:gridCol w="3274262"/>
                <a:gridCol w="5356757"/>
              </a:tblGrid>
              <a:tr h="370840">
                <a:tc>
                  <a:txBody>
                    <a:bodyPr/>
                    <a:lstStyle/>
                    <a:p>
                      <a:r>
                        <a:rPr lang="en-US" b="1" dirty="0" smtClean="0"/>
                        <a:t>IRP_MJ_CREATE</a:t>
                      </a:r>
                      <a:endParaRPr lang="ru-RU" dirty="0"/>
                    </a:p>
                  </a:txBody>
                  <a:tcPr/>
                </a:tc>
                <a:tc>
                  <a:txBody>
                    <a:bodyPr/>
                    <a:lstStyle/>
                    <a:p>
                      <a:r>
                        <a:rPr lang="en-US" dirty="0" smtClean="0"/>
                        <a:t>–</a:t>
                      </a:r>
                      <a:r>
                        <a:rPr lang="en-US" b="1" dirty="0" smtClean="0"/>
                        <a:t> </a:t>
                      </a:r>
                      <a:r>
                        <a:rPr lang="ru-RU" dirty="0" smtClean="0"/>
                        <a:t>создание или открытие файла или устройства</a:t>
                      </a:r>
                      <a:endParaRPr lang="ru-RU" dirty="0"/>
                    </a:p>
                  </a:txBody>
                  <a:tcPr/>
                </a:tc>
              </a:tr>
              <a:tr h="370840">
                <a:tc>
                  <a:txBody>
                    <a:bodyPr/>
                    <a:lstStyle/>
                    <a:p>
                      <a:r>
                        <a:rPr lang="en-US" b="1" dirty="0" smtClean="0"/>
                        <a:t>IRP_MJ_CLOSE </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r>
                        <a:rPr lang="ru-RU" dirty="0" smtClean="0"/>
                        <a:t> закрытие файла или устройства (напр. </a:t>
                      </a:r>
                      <a:r>
                        <a:rPr lang="en-US" dirty="0" err="1" smtClean="0"/>
                        <a:t>CloseFile</a:t>
                      </a:r>
                      <a:r>
                        <a:rPr lang="ru-RU" dirty="0" smtClean="0"/>
                        <a:t>)</a:t>
                      </a:r>
                      <a:endParaRPr lang="en-US" b="1" dirty="0" smtClean="0"/>
                    </a:p>
                  </a:txBody>
                  <a:tcPr/>
                </a:tc>
              </a:tr>
              <a:tr h="370840">
                <a:tc>
                  <a:txBody>
                    <a:bodyPr/>
                    <a:lstStyle/>
                    <a:p>
                      <a:r>
                        <a:rPr lang="en-US" b="1" dirty="0" smtClean="0"/>
                        <a:t>IRP_MJ_QUERY_INFORMATION </a:t>
                      </a:r>
                      <a:endParaRPr lang="ru-RU" dirty="0"/>
                    </a:p>
                  </a:txBody>
                  <a:tcPr/>
                </a:tc>
                <a:tc>
                  <a:txBody>
                    <a:bodyPr/>
                    <a:lstStyle/>
                    <a:p>
                      <a:r>
                        <a:rPr lang="en-US" dirty="0" smtClean="0"/>
                        <a:t>–</a:t>
                      </a:r>
                      <a:r>
                        <a:rPr lang="ru-RU" dirty="0" smtClean="0"/>
                        <a:t> запрос данных о статусе устройства</a:t>
                      </a:r>
                      <a:endParaRPr lang="ru-RU" dirty="0"/>
                    </a:p>
                  </a:txBody>
                  <a:tcPr/>
                </a:tc>
              </a:tr>
              <a:tr h="370840">
                <a:tc>
                  <a:txBody>
                    <a:bodyPr/>
                    <a:lstStyle/>
                    <a:p>
                      <a:r>
                        <a:rPr lang="en-US" b="1" dirty="0" smtClean="0"/>
                        <a:t>IRP_MJ_SET_INFORMATION</a:t>
                      </a:r>
                      <a:r>
                        <a:rPr lang="en-US" dirty="0" smtClean="0"/>
                        <a:t> </a:t>
                      </a:r>
                      <a:endParaRPr lang="ru-RU" dirty="0"/>
                    </a:p>
                  </a:txBody>
                  <a:tcPr/>
                </a:tc>
                <a:tc>
                  <a:txBody>
                    <a:bodyPr/>
                    <a:lstStyle/>
                    <a:p>
                      <a:r>
                        <a:rPr lang="en-US" dirty="0" smtClean="0"/>
                        <a:t>–</a:t>
                      </a:r>
                      <a:r>
                        <a:rPr lang="ru-RU" dirty="0" smtClean="0"/>
                        <a:t> передача управляющей структуры на устройство</a:t>
                      </a:r>
                      <a:endParaRPr lang="ru-RU" dirty="0"/>
                    </a:p>
                  </a:txBody>
                  <a:tcPr/>
                </a:tc>
              </a:tr>
              <a:tr h="370840">
                <a:tc>
                  <a:txBody>
                    <a:bodyPr/>
                    <a:lstStyle/>
                    <a:p>
                      <a:r>
                        <a:rPr lang="en-US" b="1" dirty="0" smtClean="0"/>
                        <a:t>IRP_MJ_QUERY_EA </a:t>
                      </a:r>
                      <a:endParaRPr lang="ru-RU" dirty="0"/>
                    </a:p>
                  </a:txBody>
                  <a:tcPr/>
                </a:tc>
                <a:tc>
                  <a:txBody>
                    <a:bodyPr/>
                    <a:lstStyle/>
                    <a:p>
                      <a:r>
                        <a:rPr lang="en-US" dirty="0" smtClean="0"/>
                        <a:t>–</a:t>
                      </a:r>
                      <a:r>
                        <a:rPr lang="ru-RU" dirty="0" smtClean="0"/>
                        <a:t> запрос уточняющей</a:t>
                      </a:r>
                      <a:r>
                        <a:rPr lang="ru-RU" baseline="0" dirty="0" smtClean="0"/>
                        <a:t> информации с устройства</a:t>
                      </a:r>
                      <a:endParaRPr lang="ru-RU" dirty="0"/>
                    </a:p>
                  </a:txBody>
                  <a:tcPr/>
                </a:tc>
              </a:tr>
              <a:tr h="370840">
                <a:tc>
                  <a:txBody>
                    <a:bodyPr/>
                    <a:lstStyle/>
                    <a:p>
                      <a:r>
                        <a:rPr lang="en-US" b="1" dirty="0" smtClean="0"/>
                        <a:t>IRP_MJ_SET_EA </a:t>
                      </a:r>
                      <a:endParaRPr lang="ru-RU" dirty="0"/>
                    </a:p>
                  </a:txBody>
                  <a:tcPr/>
                </a:tc>
                <a:tc>
                  <a:txBody>
                    <a:bodyPr/>
                    <a:lstStyle/>
                    <a:p>
                      <a:r>
                        <a:rPr lang="en-US" dirty="0" smtClean="0"/>
                        <a:t>–</a:t>
                      </a:r>
                      <a:r>
                        <a:rPr lang="ru-RU" dirty="0" smtClean="0"/>
                        <a:t> изменение</a:t>
                      </a:r>
                      <a:r>
                        <a:rPr lang="ru-RU" baseline="0" dirty="0" smtClean="0"/>
                        <a:t> уточняющих данных устройства</a:t>
                      </a:r>
                      <a:endParaRPr lang="ru-RU" dirty="0"/>
                    </a:p>
                  </a:txBody>
                  <a:tcPr/>
                </a:tc>
              </a:tr>
              <a:tr h="370840">
                <a:tc>
                  <a:txBody>
                    <a:bodyPr/>
                    <a:lstStyle/>
                    <a:p>
                      <a:r>
                        <a:rPr lang="en-US" b="1" dirty="0" smtClean="0"/>
                        <a:t>IRP_MJ_FLUSH_BUFFERS </a:t>
                      </a:r>
                      <a:endParaRPr lang="ru-RU" dirty="0"/>
                    </a:p>
                  </a:txBody>
                  <a:tcPr/>
                </a:tc>
                <a:tc>
                  <a:txBody>
                    <a:bodyPr/>
                    <a:lstStyle/>
                    <a:p>
                      <a:r>
                        <a:rPr lang="en-US" dirty="0" smtClean="0"/>
                        <a:t>–</a:t>
                      </a:r>
                      <a:r>
                        <a:rPr lang="ru-RU" dirty="0" smtClean="0"/>
                        <a:t> сбросить все </a:t>
                      </a:r>
                      <a:r>
                        <a:rPr lang="en-US" dirty="0" smtClean="0"/>
                        <a:t>RAM</a:t>
                      </a:r>
                      <a:r>
                        <a:rPr lang="ru-RU" dirty="0" smtClean="0"/>
                        <a:t>-буферы и записать их на устройство</a:t>
                      </a:r>
                      <a:endParaRPr lang="ru-RU" dirty="0"/>
                    </a:p>
                  </a:txBody>
                  <a:tcPr/>
                </a:tc>
              </a:tr>
              <a:tr h="370840">
                <a:tc>
                  <a:txBody>
                    <a:bodyPr/>
                    <a:lstStyle/>
                    <a:p>
                      <a:r>
                        <a:rPr lang="en-US" b="1" dirty="0" smtClean="0"/>
                        <a:t>IRP_MJ_POWER</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r>
                        <a:rPr lang="en-US" b="1" dirty="0" smtClean="0"/>
                        <a:t> </a:t>
                      </a:r>
                      <a:r>
                        <a:rPr lang="ru-RU" b="0" dirty="0" smtClean="0"/>
                        <a:t>посылается</a:t>
                      </a:r>
                      <a:r>
                        <a:rPr lang="ru-RU" b="0" baseline="0" dirty="0" smtClean="0"/>
                        <a:t> устройством или ОС при изменении режима питания устройств или выключении</a:t>
                      </a:r>
                      <a:endParaRPr lang="ru-RU" dirty="0" smtClean="0"/>
                    </a:p>
                  </a:txBody>
                  <a:tcPr/>
                </a:tc>
              </a:tr>
              <a:tr h="370840">
                <a:tc>
                  <a:txBody>
                    <a:bodyPr/>
                    <a:lstStyle/>
                    <a:p>
                      <a:r>
                        <a:rPr lang="en-US" b="1" dirty="0" smtClean="0"/>
                        <a:t>IRP_MJ_FILE_SYSTEM_CONTROL </a:t>
                      </a:r>
                      <a:endParaRPr lang="ru-RU" dirty="0"/>
                    </a:p>
                  </a:txBody>
                  <a:tcPr/>
                </a:tc>
                <a:tc>
                  <a:txBody>
                    <a:bodyPr/>
                    <a:lstStyle/>
                    <a:p>
                      <a:r>
                        <a:rPr lang="en-US" dirty="0" smtClean="0"/>
                        <a:t>–</a:t>
                      </a:r>
                      <a:r>
                        <a:rPr lang="ru-RU" dirty="0" smtClean="0"/>
                        <a:t> используется для определения интерфейсов</a:t>
                      </a:r>
                      <a:r>
                        <a:rPr lang="ru-RU" baseline="0" dirty="0" smtClean="0"/>
                        <a:t> доступа к устройству</a:t>
                      </a:r>
                      <a:endParaRPr lang="ru-RU" dirty="0"/>
                    </a:p>
                  </a:txBody>
                  <a:tcPr/>
                </a:tc>
              </a:tr>
              <a:tr h="370840">
                <a:tc>
                  <a:txBody>
                    <a:bodyPr/>
                    <a:lstStyle/>
                    <a:p>
                      <a:r>
                        <a:rPr lang="en-US" b="1" dirty="0" smtClean="0"/>
                        <a:t>IRP_MJ_SHUTDOWN  </a:t>
                      </a:r>
                    </a:p>
                  </a:txBody>
                  <a:tcPr/>
                </a:tc>
                <a:tc>
                  <a:txBody>
                    <a:bodyPr/>
                    <a:lstStyle/>
                    <a:p>
                      <a:r>
                        <a:rPr lang="en-US" dirty="0" smtClean="0"/>
                        <a:t>–</a:t>
                      </a:r>
                      <a:r>
                        <a:rPr lang="ru-RU" dirty="0" smtClean="0"/>
                        <a:t> запрос отключения</a:t>
                      </a:r>
                      <a:r>
                        <a:rPr lang="ru-RU" baseline="0" dirty="0" smtClean="0"/>
                        <a:t> устройства</a:t>
                      </a:r>
                      <a:endParaRPr lang="ru-RU" dirty="0"/>
                    </a:p>
                  </a:txBody>
                  <a:tcPr/>
                </a:tc>
              </a:tr>
              <a:tr h="414848">
                <a:tc>
                  <a:txBody>
                    <a:bodyPr/>
                    <a:lstStyle/>
                    <a:p>
                      <a:r>
                        <a:rPr lang="en-US" b="1" dirty="0" smtClean="0"/>
                        <a:t>IRP_MJ_LOCK_CONTROL </a:t>
                      </a:r>
                    </a:p>
                  </a:txBody>
                  <a:tcPr/>
                </a:tc>
                <a:tc>
                  <a:txBody>
                    <a:bodyPr/>
                    <a:lstStyle/>
                    <a:p>
                      <a:r>
                        <a:rPr lang="en-US" dirty="0" smtClean="0"/>
                        <a:t>–</a:t>
                      </a:r>
                      <a:r>
                        <a:rPr lang="ru-RU" dirty="0" smtClean="0"/>
                        <a:t> запрос доступности данных блочного устройства</a:t>
                      </a:r>
                      <a:endParaRPr lang="ru-RU" dirty="0"/>
                    </a:p>
                  </a:txBody>
                  <a:tcPr/>
                </a:tc>
              </a:tr>
              <a:tr h="370840">
                <a:tc>
                  <a:txBody>
                    <a:bodyPr/>
                    <a:lstStyle/>
                    <a:p>
                      <a:r>
                        <a:rPr lang="en-US" b="1" dirty="0" smtClean="0"/>
                        <a:t>IRP_MJ_CLEANUP</a:t>
                      </a:r>
                      <a:endParaRPr lang="ru-RU" dirty="0"/>
                    </a:p>
                  </a:txBody>
                  <a:tcPr/>
                </a:tc>
                <a:tc>
                  <a:txBody>
                    <a:bodyPr/>
                    <a:lstStyle/>
                    <a:p>
                      <a:r>
                        <a:rPr lang="en-US" dirty="0" smtClean="0"/>
                        <a:t>–</a:t>
                      </a:r>
                      <a:r>
                        <a:rPr lang="ru-RU" dirty="0" smtClean="0"/>
                        <a:t> посылается когда устройство</a:t>
                      </a:r>
                      <a:r>
                        <a:rPr lang="ru-RU" baseline="0" dirty="0" smtClean="0"/>
                        <a:t> завершило сессию доступа к данным</a:t>
                      </a:r>
                      <a:endParaRPr lang="ru-RU"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IRP_MJ_PNP</a:t>
                      </a:r>
                    </a:p>
                  </a:txBody>
                  <a:tcPr/>
                </a:tc>
                <a:tc>
                  <a:txBody>
                    <a:bodyPr/>
                    <a:lstStyle/>
                    <a:p>
                      <a:r>
                        <a:rPr lang="en-US" dirty="0" smtClean="0"/>
                        <a:t>–</a:t>
                      </a:r>
                      <a:r>
                        <a:rPr lang="ru-RU" dirty="0" smtClean="0"/>
                        <a:t> посылается</a:t>
                      </a:r>
                      <a:r>
                        <a:rPr lang="ru-RU" baseline="0" dirty="0" smtClean="0"/>
                        <a:t> при</a:t>
                      </a:r>
                      <a:r>
                        <a:rPr lang="en-US" baseline="0" dirty="0" smtClean="0"/>
                        <a:t> </a:t>
                      </a:r>
                      <a:r>
                        <a:rPr lang="ru-RU" baseline="0" dirty="0" smtClean="0"/>
                        <a:t>перечислении устройства</a:t>
                      </a:r>
                      <a:endParaRPr lang="ru-RU" dirty="0"/>
                    </a:p>
                  </a:txBody>
                  <a:tcPr/>
                </a:tc>
              </a:tr>
            </a:tbl>
          </a:graphicData>
        </a:graphic>
      </p:graphicFrame>
    </p:spTree>
    <p:extLst>
      <p:ext uri="{BB962C8B-B14F-4D97-AF65-F5344CB8AC3E}">
        <p14:creationId xmlns:p14="http://schemas.microsoft.com/office/powerpoint/2010/main" val="11483209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p:cNvCxnSpPr/>
          <p:nvPr/>
        </p:nvCxnSpPr>
        <p:spPr>
          <a:xfrm>
            <a:off x="357188" y="214313"/>
            <a:ext cx="8572500" cy="1587"/>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rot="5400000">
            <a:off x="107951" y="463550"/>
            <a:ext cx="500062" cy="1587"/>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a:spLocks noChangeArrowheads="1"/>
          </p:cNvSpPr>
          <p:nvPr/>
        </p:nvSpPr>
        <p:spPr bwMode="auto">
          <a:xfrm>
            <a:off x="1102369" y="2996952"/>
            <a:ext cx="73580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ru-RU" sz="2400" b="1" dirty="0" smtClean="0">
                <a:solidFill>
                  <a:srgbClr val="003399"/>
                </a:solidFill>
                <a:latin typeface="Times New Roman" pitchFamily="18" charset="0"/>
                <a:cs typeface="Times New Roman" pitchFamily="18" charset="0"/>
              </a:rPr>
              <a:t>СПАСИБО  ЗА  ВНИМАНИЕ</a:t>
            </a:r>
            <a:endParaRPr lang="ru-RU" sz="2400" b="1" dirty="0">
              <a:solidFill>
                <a:srgbClr val="003399"/>
              </a:solidFill>
              <a:latin typeface="Times New Roman" pitchFamily="18" charset="0"/>
              <a:cs typeface="Times New Roman" pitchFamily="18" charset="0"/>
            </a:endParaRPr>
          </a:p>
        </p:txBody>
      </p:sp>
      <p:cxnSp>
        <p:nvCxnSpPr>
          <p:cNvPr id="7" name="Прямая соединительная линия 6"/>
          <p:cNvCxnSpPr/>
          <p:nvPr/>
        </p:nvCxnSpPr>
        <p:spPr>
          <a:xfrm>
            <a:off x="357188" y="6667772"/>
            <a:ext cx="8572500" cy="158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7484279"/>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2462</TotalTime>
  <Words>479</Words>
  <Application>Microsoft Office PowerPoint</Application>
  <PresentationFormat>Экран (4:3)</PresentationFormat>
  <Paragraphs>211</Paragraphs>
  <Slides>17</Slides>
  <Notes>14</Notes>
  <HiddenSlides>0</HiddenSlides>
  <MMClips>0</MMClips>
  <ScaleCrop>false</ScaleCrop>
  <HeadingPairs>
    <vt:vector size="4" baseType="variant">
      <vt:variant>
        <vt:lpstr>Тема</vt:lpstr>
      </vt:variant>
      <vt:variant>
        <vt:i4>1</vt:i4>
      </vt:variant>
      <vt:variant>
        <vt:lpstr>Заголовки слайдов</vt:lpstr>
      </vt:variant>
      <vt:variant>
        <vt:i4>17</vt:i4>
      </vt:variant>
    </vt:vector>
  </HeadingPairs>
  <TitlesOfParts>
    <vt:vector size="18" baseType="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Virger</dc:creator>
  <cp:lastModifiedBy>Virger</cp:lastModifiedBy>
  <cp:revision>321</cp:revision>
  <dcterms:created xsi:type="dcterms:W3CDTF">2018-02-26T09:45:28Z</dcterms:created>
  <dcterms:modified xsi:type="dcterms:W3CDTF">2018-12-02T19:02:45Z</dcterms:modified>
</cp:coreProperties>
</file>