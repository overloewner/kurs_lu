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66" r:id="rId2"/>
    <p:sldId id="265" r:id="rId3"/>
    <p:sldId id="297" r:id="rId4"/>
    <p:sldId id="298" r:id="rId5"/>
    <p:sldId id="299" r:id="rId6"/>
    <p:sldId id="300" r:id="rId7"/>
    <p:sldId id="301" r:id="rId8"/>
    <p:sldId id="302" r:id="rId9"/>
    <p:sldId id="296" r:id="rId10"/>
    <p:sldId id="268" r:id="rId11"/>
    <p:sldId id="269" r:id="rId12"/>
    <p:sldId id="270" r:id="rId13"/>
    <p:sldId id="271" r:id="rId14"/>
    <p:sldId id="272" r:id="rId15"/>
    <p:sldId id="273" r:id="rId16"/>
    <p:sldId id="267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367" autoAdjust="0"/>
    <p:restoredTop sz="0" autoAdjust="0"/>
  </p:normalViewPr>
  <p:slideViewPr>
    <p:cSldViewPr>
      <p:cViewPr varScale="1">
        <p:scale>
          <a:sx n="104" d="100"/>
          <a:sy n="104" d="100"/>
        </p:scale>
        <p:origin x="-1722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8F64AB-C9AA-4991-A1FA-EA3F36E36831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709C01-11AB-4755-9F9B-F0C179A093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3585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F5BFD9-3711-4CEF-BF2B-6D8625DAD4E7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2235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 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F5BFD9-3711-4CEF-BF2B-6D8625DAD4E7}" type="slidenum">
              <a:rPr lang="ru-RU" smtClean="0"/>
              <a:pPr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2258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 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F5BFD9-3711-4CEF-BF2B-6D8625DAD4E7}" type="slidenum">
              <a:rPr lang="ru-RU" smtClean="0"/>
              <a:pPr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2258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 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F5BFD9-3711-4CEF-BF2B-6D8625DAD4E7}" type="slidenum">
              <a:rPr lang="ru-RU" smtClean="0"/>
              <a:pPr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2258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 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F5BFD9-3711-4CEF-BF2B-6D8625DAD4E7}" type="slidenum">
              <a:rPr lang="ru-RU" smtClean="0"/>
              <a:pPr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2258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 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F5BFD9-3711-4CEF-BF2B-6D8625DAD4E7}" type="slidenum">
              <a:rPr lang="ru-RU" smtClean="0"/>
              <a:pPr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2258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 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F5BFD9-3711-4CEF-BF2B-6D8625DAD4E7}" type="slidenum">
              <a:rPr lang="ru-RU" smtClean="0"/>
              <a:pPr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2258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 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F5BFD9-3711-4CEF-BF2B-6D8625DAD4E7}" type="slidenum">
              <a:rPr lang="ru-RU" smtClean="0"/>
              <a:pPr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2258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 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F5BFD9-3711-4CEF-BF2B-6D8625DAD4E7}" type="slidenum">
              <a:rPr lang="ru-RU" smtClean="0"/>
              <a:pPr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2258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 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F5BFD9-3711-4CEF-BF2B-6D8625DAD4E7}" type="slidenum">
              <a:rPr lang="ru-RU" smtClean="0"/>
              <a:pPr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2258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 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F5BFD9-3711-4CEF-BF2B-6D8625DAD4E7}" type="slidenum">
              <a:rPr lang="ru-RU" smtClean="0"/>
              <a:pPr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2258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 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F5BFD9-3711-4CEF-BF2B-6D8625DAD4E7}" type="slidenum">
              <a:rPr lang="ru-RU" smtClean="0"/>
              <a:pPr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2258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 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F5BFD9-3711-4CEF-BF2B-6D8625DAD4E7}" type="slidenum">
              <a:rPr lang="ru-RU" smtClean="0"/>
              <a:pPr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2258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 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F5BFD9-3711-4CEF-BF2B-6D8625DAD4E7}" type="slidenum">
              <a:rPr lang="ru-RU" smtClean="0"/>
              <a:pPr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2258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 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F5BFD9-3711-4CEF-BF2B-6D8625DAD4E7}" type="slidenum">
              <a:rPr lang="ru-RU" smtClean="0"/>
              <a:pPr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2258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 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F5BFD9-3711-4CEF-BF2B-6D8625DAD4E7}" type="slidenum">
              <a:rPr lang="ru-RU" smtClean="0"/>
              <a:pPr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2258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 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F5BFD9-3711-4CEF-BF2B-6D8625DAD4E7}" type="slidenum">
              <a:rPr lang="ru-RU" smtClean="0"/>
              <a:pPr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2258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 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F5BFD9-3711-4CEF-BF2B-6D8625DAD4E7}" type="slidenum">
              <a:rPr lang="ru-RU" smtClean="0"/>
              <a:pPr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225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76774-9157-4DB5-A97A-D1BF07A309C1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E39E4-AC92-4DA0-84FA-C7A7EA153A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880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76774-9157-4DB5-A97A-D1BF07A309C1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E39E4-AC92-4DA0-84FA-C7A7EA153A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7551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76774-9157-4DB5-A97A-D1BF07A309C1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E39E4-AC92-4DA0-84FA-C7A7EA153A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861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76774-9157-4DB5-A97A-D1BF07A309C1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E39E4-AC92-4DA0-84FA-C7A7EA153A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6153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76774-9157-4DB5-A97A-D1BF07A309C1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E39E4-AC92-4DA0-84FA-C7A7EA153A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3735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76774-9157-4DB5-A97A-D1BF07A309C1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E39E4-AC92-4DA0-84FA-C7A7EA153A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3825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76774-9157-4DB5-A97A-D1BF07A309C1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E39E4-AC92-4DA0-84FA-C7A7EA153A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7866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76774-9157-4DB5-A97A-D1BF07A309C1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E39E4-AC92-4DA0-84FA-C7A7EA153A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9323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76774-9157-4DB5-A97A-D1BF07A309C1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E39E4-AC92-4DA0-84FA-C7A7EA153A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8019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76774-9157-4DB5-A97A-D1BF07A309C1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E39E4-AC92-4DA0-84FA-C7A7EA153A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6235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76774-9157-4DB5-A97A-D1BF07A309C1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E39E4-AC92-4DA0-84FA-C7A7EA153A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5726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C76774-9157-4DB5-A97A-D1BF07A309C1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9E39E4-AC92-4DA0-84FA-C7A7EA153A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9659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4"/>
          <p:cNvCxnSpPr/>
          <p:nvPr/>
        </p:nvCxnSpPr>
        <p:spPr>
          <a:xfrm>
            <a:off x="357158" y="212702"/>
            <a:ext cx="8501122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 rot="5400000">
            <a:off x="107919" y="463529"/>
            <a:ext cx="500066" cy="1588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>
            <a:off x="500034" y="6286520"/>
            <a:ext cx="8143932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6583" y="2564904"/>
            <a:ext cx="79296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>
                <a:solidFill>
                  <a:srgbClr val="0A3790"/>
                </a:solidFill>
                <a:latin typeface="Times New Roman" pitchFamily="18" charset="0"/>
                <a:cs typeface="Times New Roman" pitchFamily="18" charset="0"/>
              </a:rPr>
              <a:t>ВВЕДЕНИЕ  В  СИСТЕМНОЕ  ПО</a:t>
            </a:r>
            <a:endParaRPr lang="ru-RU" sz="2000" b="1" u="sng" dirty="0">
              <a:solidFill>
                <a:srgbClr val="0A379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28992" y="6286520"/>
            <a:ext cx="25717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i="1" dirty="0" smtClean="0">
                <a:solidFill>
                  <a:srgbClr val="0A3790"/>
                </a:solidFill>
                <a:latin typeface="Times New Roman" pitchFamily="18" charset="0"/>
                <a:cs typeface="Times New Roman" pitchFamily="18" charset="0"/>
              </a:rPr>
              <a:t>Нижний Новгород, </a:t>
            </a:r>
            <a:r>
              <a:rPr lang="ru-RU" sz="1600" b="1" i="1" dirty="0" smtClean="0">
                <a:solidFill>
                  <a:srgbClr val="0A3790"/>
                </a:solidFill>
                <a:latin typeface="Times New Roman" pitchFamily="18" charset="0"/>
                <a:cs typeface="Times New Roman" pitchFamily="18" charset="0"/>
              </a:rPr>
              <a:t>2025г</a:t>
            </a:r>
            <a:r>
              <a:rPr lang="ru-RU" sz="1600" b="1" i="1" dirty="0" smtClean="0">
                <a:solidFill>
                  <a:srgbClr val="0A379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ru-RU" sz="2000" b="1" dirty="0" smtClean="0">
                <a:solidFill>
                  <a:srgbClr val="0A379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ru-RU" sz="2000" b="1" dirty="0">
              <a:solidFill>
                <a:srgbClr val="0A379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2549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52"/>
          <p:cNvSpPr txBox="1"/>
          <p:nvPr/>
        </p:nvSpPr>
        <p:spPr>
          <a:xfrm>
            <a:off x="3491880" y="332656"/>
            <a:ext cx="2700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smtClean="0"/>
              <a:t>Что такое системное ПО?</a:t>
            </a:r>
            <a:endParaRPr lang="ru-RU" b="1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996728"/>
            <a:ext cx="7130752" cy="5296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50621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52"/>
          <p:cNvSpPr txBox="1"/>
          <p:nvPr/>
        </p:nvSpPr>
        <p:spPr>
          <a:xfrm>
            <a:off x="1979712" y="319626"/>
            <a:ext cx="5752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Ядро Операционной Системы (</a:t>
            </a:r>
            <a:r>
              <a:rPr lang="ru-RU" b="1" dirty="0" err="1"/>
              <a:t>Operating</a:t>
            </a:r>
            <a:r>
              <a:rPr lang="ru-RU" b="1" dirty="0"/>
              <a:t> </a:t>
            </a:r>
            <a:r>
              <a:rPr lang="ru-RU" b="1" dirty="0" err="1"/>
              <a:t>System</a:t>
            </a:r>
            <a:r>
              <a:rPr lang="ru-RU" b="1" dirty="0"/>
              <a:t> </a:t>
            </a:r>
            <a:r>
              <a:rPr lang="ru-RU" b="1" dirty="0" err="1"/>
              <a:t>Kernel</a:t>
            </a:r>
            <a:r>
              <a:rPr lang="ru-RU" b="1" dirty="0"/>
              <a:t>)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234392" y="836712"/>
            <a:ext cx="8730096" cy="3831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dirty="0" smtClean="0"/>
              <a:t>Ядро </a:t>
            </a:r>
            <a:r>
              <a:rPr lang="ru-RU" dirty="0"/>
              <a:t>ОС — это </a:t>
            </a:r>
            <a:r>
              <a:rPr lang="ru-RU" b="1" dirty="0"/>
              <a:t>фундаментальная, центральная часть операционной системы</a:t>
            </a:r>
            <a:r>
              <a:rPr lang="ru-RU" dirty="0"/>
              <a:t>, которая работает в привилегированном режиме процессора (режим ядра) и обладает полным доступом ко всем аппаратным ресурсам компьютера.</a:t>
            </a:r>
          </a:p>
          <a:p>
            <a:pPr algn="just">
              <a:lnSpc>
                <a:spcPct val="150000"/>
              </a:lnSpc>
            </a:pPr>
            <a:endParaRPr lang="ru-RU" b="1" dirty="0" smtClean="0"/>
          </a:p>
          <a:p>
            <a:pPr algn="just">
              <a:lnSpc>
                <a:spcPct val="150000"/>
              </a:lnSpc>
            </a:pPr>
            <a:r>
              <a:rPr lang="ru-RU" b="1" dirty="0" smtClean="0"/>
              <a:t>Основные </a:t>
            </a:r>
            <a:r>
              <a:rPr lang="ru-RU" b="1" dirty="0"/>
              <a:t>функции и характеристики:</a:t>
            </a:r>
            <a:endParaRPr lang="ru-RU" dirty="0"/>
          </a:p>
          <a:p>
            <a:pPr marL="989013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dirty="0"/>
              <a:t>Управление </a:t>
            </a:r>
            <a:r>
              <a:rPr lang="ru-RU" dirty="0" smtClean="0"/>
              <a:t>ресурсами</a:t>
            </a:r>
          </a:p>
          <a:p>
            <a:pPr marL="989013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dirty="0" smtClean="0"/>
              <a:t>Обеспечение </a:t>
            </a:r>
            <a:r>
              <a:rPr lang="ru-RU" dirty="0"/>
              <a:t>безопасности и </a:t>
            </a:r>
            <a:r>
              <a:rPr lang="ru-RU" dirty="0" smtClean="0"/>
              <a:t>изоляции</a:t>
            </a:r>
          </a:p>
          <a:p>
            <a:pPr marL="989013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dirty="0" smtClean="0"/>
              <a:t>Предоставление интерфейса</a:t>
            </a:r>
          </a:p>
          <a:p>
            <a:pPr marL="989013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dirty="0" smtClean="0"/>
              <a:t>Абстракция </a:t>
            </a:r>
            <a:r>
              <a:rPr lang="ru-RU" dirty="0"/>
              <a:t>аппаратного </a:t>
            </a:r>
            <a:r>
              <a:rPr lang="ru-RU" dirty="0" smtClean="0"/>
              <a:t>обеспечения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9288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52"/>
          <p:cNvSpPr txBox="1"/>
          <p:nvPr/>
        </p:nvSpPr>
        <p:spPr>
          <a:xfrm>
            <a:off x="2342375" y="319626"/>
            <a:ext cx="3813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Драйверы Устройств (</a:t>
            </a:r>
            <a:r>
              <a:rPr lang="ru-RU" b="1" dirty="0" err="1"/>
              <a:t>Device</a:t>
            </a:r>
            <a:r>
              <a:rPr lang="ru-RU" b="1" dirty="0"/>
              <a:t> </a:t>
            </a:r>
            <a:r>
              <a:rPr lang="ru-RU" b="1" dirty="0" err="1"/>
              <a:t>Drivers</a:t>
            </a:r>
            <a:r>
              <a:rPr lang="ru-RU" b="1" dirty="0"/>
              <a:t>)</a:t>
            </a:r>
            <a:endParaRPr lang="ru-RU" b="1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234392" y="711854"/>
            <a:ext cx="8730096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 smtClean="0"/>
              <a:t>Драйвер </a:t>
            </a:r>
            <a:r>
              <a:rPr lang="ru-RU" dirty="0"/>
              <a:t>устройства — это </a:t>
            </a:r>
            <a:r>
              <a:rPr lang="ru-RU" b="1" dirty="0"/>
              <a:t>специализированная компьютерная программа, которая является частью ядра ОС</a:t>
            </a:r>
            <a:r>
              <a:rPr lang="ru-RU" dirty="0"/>
              <a:t> и предназначена для управления конкретным типом аппаратного устройства или виртуального оборудования.</a:t>
            </a:r>
          </a:p>
          <a:p>
            <a:pPr>
              <a:lnSpc>
                <a:spcPct val="150000"/>
              </a:lnSpc>
            </a:pPr>
            <a:endParaRPr lang="ru-RU" b="1" dirty="0" smtClean="0"/>
          </a:p>
          <a:p>
            <a:pPr>
              <a:lnSpc>
                <a:spcPct val="150000"/>
              </a:lnSpc>
            </a:pPr>
            <a:r>
              <a:rPr lang="ru-RU" b="1" dirty="0" smtClean="0"/>
              <a:t>Основные </a:t>
            </a:r>
            <a:r>
              <a:rPr lang="ru-RU" b="1" dirty="0"/>
              <a:t>функции и характеристики:</a:t>
            </a:r>
            <a:endParaRPr lang="ru-RU" dirty="0"/>
          </a:p>
          <a:p>
            <a:pPr marL="714375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b="1" dirty="0" smtClean="0"/>
              <a:t>Интерфейс между </a:t>
            </a:r>
            <a:r>
              <a:rPr lang="ru-RU" b="1" dirty="0"/>
              <a:t>ядром и </a:t>
            </a:r>
            <a:r>
              <a:rPr lang="ru-RU" b="1" dirty="0" smtClean="0"/>
              <a:t>устройством</a:t>
            </a:r>
          </a:p>
          <a:p>
            <a:pPr marL="714375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b="1" dirty="0" smtClean="0"/>
              <a:t>Реализация </a:t>
            </a:r>
            <a:r>
              <a:rPr lang="ru-RU" b="1" dirty="0"/>
              <a:t>интерфейса ядра:</a:t>
            </a:r>
            <a:r>
              <a:rPr lang="ru-RU" dirty="0"/>
              <a:t> Драйвер предоставляет ядру стандартизированный </a:t>
            </a:r>
            <a:r>
              <a:rPr lang="ru-RU" dirty="0" smtClean="0"/>
              <a:t>интерфейс</a:t>
            </a:r>
            <a:endParaRPr lang="ru-RU" dirty="0"/>
          </a:p>
          <a:p>
            <a:pPr marL="714375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b="1" dirty="0"/>
              <a:t>Работа в привилегированном </a:t>
            </a:r>
            <a:r>
              <a:rPr lang="ru-RU" b="1" dirty="0" smtClean="0"/>
              <a:t>режиме</a:t>
            </a:r>
          </a:p>
          <a:p>
            <a:pPr>
              <a:lnSpc>
                <a:spcPct val="150000"/>
              </a:lnSpc>
            </a:pPr>
            <a:endParaRPr lang="ru-RU" b="1" dirty="0"/>
          </a:p>
          <a:p>
            <a:pPr>
              <a:lnSpc>
                <a:spcPct val="150000"/>
              </a:lnSpc>
            </a:pPr>
            <a:r>
              <a:rPr lang="ru-RU" b="1" dirty="0" smtClean="0"/>
              <a:t>Типы </a:t>
            </a:r>
            <a:r>
              <a:rPr lang="ru-RU" b="1" dirty="0"/>
              <a:t>драйверов:</a:t>
            </a:r>
            <a:endParaRPr lang="ru-RU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b="1" dirty="0"/>
              <a:t>Символьные:</a:t>
            </a:r>
            <a:r>
              <a:rPr lang="ru-RU" dirty="0"/>
              <a:t> Для устройств потокового </a:t>
            </a:r>
            <a:r>
              <a:rPr lang="ru-RU" dirty="0" smtClean="0"/>
              <a:t>доступа.</a:t>
            </a:r>
            <a:endParaRPr lang="ru-RU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b="1" dirty="0"/>
              <a:t>Блочные:</a:t>
            </a:r>
            <a:r>
              <a:rPr lang="ru-RU" dirty="0"/>
              <a:t> Для устройств с блочным доступом (жесткие диски, SSD).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b="1" dirty="0"/>
              <a:t>Сетевые:</a:t>
            </a:r>
            <a:r>
              <a:rPr lang="ru-RU" dirty="0"/>
              <a:t> Для сетевых интерфейсов.</a:t>
            </a:r>
          </a:p>
        </p:txBody>
      </p:sp>
    </p:spTree>
    <p:extLst>
      <p:ext uri="{BB962C8B-B14F-4D97-AF65-F5344CB8AC3E}">
        <p14:creationId xmlns:p14="http://schemas.microsoft.com/office/powerpoint/2010/main" val="2861181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52"/>
          <p:cNvSpPr txBox="1"/>
          <p:nvPr/>
        </p:nvSpPr>
        <p:spPr>
          <a:xfrm>
            <a:off x="4067944" y="319626"/>
            <a:ext cx="155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err="1" smtClean="0"/>
              <a:t>Гиперфизоры</a:t>
            </a:r>
            <a:endParaRPr lang="ru-RU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467544" y="980728"/>
            <a:ext cx="8424936" cy="4662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 smtClean="0"/>
              <a:t>Гипервизор</a:t>
            </a:r>
            <a:r>
              <a:rPr lang="ru-RU" dirty="0" smtClean="0"/>
              <a:t> </a:t>
            </a:r>
            <a:r>
              <a:rPr lang="ru-RU" dirty="0"/>
              <a:t>(или монитор виртуальных машин - VMM) — это программное обеспечение, </a:t>
            </a:r>
            <a:r>
              <a:rPr lang="ru-RU" dirty="0" err="1"/>
              <a:t>firmware</a:t>
            </a:r>
            <a:r>
              <a:rPr lang="ru-RU" dirty="0"/>
              <a:t> или аппаратное решение, которое создает и запускает виртуальные машины (ВМ).</a:t>
            </a:r>
          </a:p>
          <a:p>
            <a:pPr>
              <a:lnSpc>
                <a:spcPct val="150000"/>
              </a:lnSpc>
            </a:pPr>
            <a:endParaRPr lang="ru-RU" b="1" dirty="0" smtClean="0"/>
          </a:p>
          <a:p>
            <a:pPr>
              <a:lnSpc>
                <a:spcPct val="150000"/>
              </a:lnSpc>
            </a:pPr>
            <a:r>
              <a:rPr lang="ru-RU" b="1" dirty="0" smtClean="0"/>
              <a:t>Основные </a:t>
            </a:r>
            <a:r>
              <a:rPr lang="ru-RU" b="1" dirty="0"/>
              <a:t>функции и характеристики:</a:t>
            </a:r>
            <a:endParaRPr lang="ru-RU" dirty="0"/>
          </a:p>
          <a:p>
            <a:pPr marL="630238" indent="-2730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b="1" dirty="0"/>
              <a:t>Виртуализация:</a:t>
            </a:r>
            <a:r>
              <a:rPr lang="ru-RU" dirty="0"/>
              <a:t> Абстрагирует физические ресурсы сервера </a:t>
            </a:r>
            <a:r>
              <a:rPr lang="ru-RU" dirty="0" smtClean="0"/>
              <a:t>и </a:t>
            </a:r>
            <a:r>
              <a:rPr lang="ru-RU" dirty="0"/>
              <a:t>представляет их нескольким изолированным виртуальным машинам.</a:t>
            </a:r>
          </a:p>
          <a:p>
            <a:pPr marL="630238" indent="-2730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b="1" dirty="0"/>
              <a:t>Изоляция:</a:t>
            </a:r>
            <a:r>
              <a:rPr lang="ru-RU" dirty="0"/>
              <a:t> Каждая виртуальная машина работает как самостоятельный компьютер со своей собственной ОС </a:t>
            </a:r>
            <a:endParaRPr lang="ru-RU" dirty="0" smtClean="0"/>
          </a:p>
          <a:p>
            <a:pPr marL="630238" indent="-2730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b="1" dirty="0" smtClean="0"/>
              <a:t>Управление </a:t>
            </a:r>
            <a:r>
              <a:rPr lang="ru-RU" b="1" dirty="0"/>
              <a:t>доступом к аппаратуре:</a:t>
            </a:r>
            <a:r>
              <a:rPr lang="ru-RU" dirty="0"/>
              <a:t> Гипервизор перехватывает привилегированные </a:t>
            </a:r>
            <a:r>
              <a:rPr lang="ru-RU" dirty="0" smtClean="0"/>
              <a:t>команды </a:t>
            </a:r>
            <a:r>
              <a:rPr lang="ru-RU" dirty="0"/>
              <a:t>от гостевых ОС и транслирует их в безопасные </a:t>
            </a: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2067433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52"/>
          <p:cNvSpPr txBox="1"/>
          <p:nvPr/>
        </p:nvSpPr>
        <p:spPr>
          <a:xfrm>
            <a:off x="4067944" y="319626"/>
            <a:ext cx="155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smtClean="0"/>
              <a:t>Гипервизоры</a:t>
            </a:r>
            <a:endParaRPr lang="ru-RU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9729" y="1772816"/>
            <a:ext cx="6764543" cy="3312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3959721"/>
            <a:ext cx="211455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724128" y="3898800"/>
            <a:ext cx="14820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 smtClean="0">
                <a:solidFill>
                  <a:schemeClr val="bg1"/>
                </a:solidFill>
              </a:rPr>
              <a:t>Гипервизор</a:t>
            </a:r>
            <a:endParaRPr lang="ru-RU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0628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52"/>
          <p:cNvSpPr txBox="1"/>
          <p:nvPr/>
        </p:nvSpPr>
        <p:spPr>
          <a:xfrm>
            <a:off x="4067944" y="319626"/>
            <a:ext cx="155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err="1" smtClean="0"/>
              <a:t>Гиперфизоры</a:t>
            </a:r>
            <a:endParaRPr lang="ru-RU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467544" y="958645"/>
            <a:ext cx="8424936" cy="25423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/>
              <a:t>Типы гипервизоров:</a:t>
            </a:r>
            <a:endParaRPr lang="ru-RU" dirty="0"/>
          </a:p>
          <a:p>
            <a:pPr lvl="1">
              <a:lnSpc>
                <a:spcPct val="150000"/>
              </a:lnSpc>
            </a:pPr>
            <a:r>
              <a:rPr lang="ru-RU" b="1" dirty="0"/>
              <a:t>Тип 1 (Аппаратный, "</a:t>
            </a:r>
            <a:r>
              <a:rPr lang="ru-RU" b="1" dirty="0" err="1"/>
              <a:t>bare-metal</a:t>
            </a:r>
            <a:r>
              <a:rPr lang="ru-RU" b="1" dirty="0"/>
              <a:t>"):</a:t>
            </a:r>
            <a:r>
              <a:rPr lang="ru-RU" dirty="0"/>
              <a:t> Работает напрямую на </a:t>
            </a:r>
            <a:r>
              <a:rPr lang="ru-RU" dirty="0" smtClean="0"/>
              <a:t>«железе»(</a:t>
            </a:r>
            <a:r>
              <a:rPr lang="ru-RU" dirty="0" err="1"/>
              <a:t>VMware</a:t>
            </a:r>
            <a:r>
              <a:rPr lang="ru-RU" dirty="0"/>
              <a:t> </a:t>
            </a:r>
            <a:r>
              <a:rPr lang="ru-RU" dirty="0" err="1"/>
              <a:t>ESXi</a:t>
            </a:r>
            <a:r>
              <a:rPr lang="ru-RU" dirty="0"/>
              <a:t>, </a:t>
            </a:r>
            <a:r>
              <a:rPr lang="ru-RU" dirty="0" err="1"/>
              <a:t>Microsoft</a:t>
            </a:r>
            <a:r>
              <a:rPr lang="ru-RU" dirty="0"/>
              <a:t> </a:t>
            </a:r>
            <a:r>
              <a:rPr lang="ru-RU" dirty="0" err="1"/>
              <a:t>Hyper</a:t>
            </a:r>
            <a:r>
              <a:rPr lang="ru-RU" dirty="0"/>
              <a:t>-V, </a:t>
            </a:r>
            <a:r>
              <a:rPr lang="ru-RU" dirty="0" err="1"/>
              <a:t>Xen</a:t>
            </a:r>
            <a:r>
              <a:rPr lang="ru-RU" dirty="0"/>
              <a:t>, KVM). Более эффективен и безопасен.</a:t>
            </a:r>
          </a:p>
          <a:p>
            <a:pPr lvl="1">
              <a:lnSpc>
                <a:spcPct val="150000"/>
              </a:lnSpc>
            </a:pPr>
            <a:r>
              <a:rPr lang="ru-RU" b="1" dirty="0"/>
              <a:t>Тип 2 (</a:t>
            </a:r>
            <a:r>
              <a:rPr lang="ru-RU" b="1" dirty="0" err="1"/>
              <a:t>Хостовый</a:t>
            </a:r>
            <a:r>
              <a:rPr lang="ru-RU" b="1" dirty="0"/>
              <a:t>):</a:t>
            </a:r>
            <a:r>
              <a:rPr lang="ru-RU" dirty="0"/>
              <a:t> Работает как приложение внутри обычной ОС (</a:t>
            </a:r>
            <a:r>
              <a:rPr lang="ru-RU" dirty="0" err="1"/>
              <a:t>Oracle</a:t>
            </a:r>
            <a:r>
              <a:rPr lang="ru-RU" dirty="0"/>
              <a:t> </a:t>
            </a:r>
            <a:r>
              <a:rPr lang="ru-RU" dirty="0" err="1"/>
              <a:t>VirtualBox</a:t>
            </a:r>
            <a:r>
              <a:rPr lang="ru-RU" dirty="0"/>
              <a:t>, </a:t>
            </a:r>
            <a:r>
              <a:rPr lang="ru-RU" dirty="0" err="1"/>
              <a:t>VMware</a:t>
            </a:r>
            <a:r>
              <a:rPr lang="ru-RU" dirty="0"/>
              <a:t> </a:t>
            </a:r>
            <a:r>
              <a:rPr lang="ru-RU" dirty="0" err="1"/>
              <a:t>Workstation</a:t>
            </a:r>
            <a:r>
              <a:rPr lang="ru-RU" dirty="0"/>
              <a:t>). Проще в использовании, но менее производителен.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60956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52"/>
          <p:cNvSpPr txBox="1"/>
          <p:nvPr/>
        </p:nvSpPr>
        <p:spPr>
          <a:xfrm>
            <a:off x="3635896" y="319626"/>
            <a:ext cx="2781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smtClean="0"/>
              <a:t>Аппаратное ПО(</a:t>
            </a:r>
            <a:r>
              <a:rPr lang="en-US" b="1" dirty="0"/>
              <a:t>Firmware)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467544" y="836712"/>
            <a:ext cx="835292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/>
              <a:t>Аппаратное </a:t>
            </a:r>
            <a:r>
              <a:rPr lang="ru-RU" b="1" dirty="0" smtClean="0"/>
              <a:t>ПО </a:t>
            </a:r>
            <a:r>
              <a:rPr lang="ru-RU" dirty="0" smtClean="0"/>
              <a:t>— </a:t>
            </a:r>
            <a:r>
              <a:rPr lang="ru-RU" dirty="0"/>
              <a:t>это постоянное программное обеспечение, </a:t>
            </a:r>
            <a:r>
              <a:rPr lang="ru-RU" dirty="0" err="1" smtClean="0"/>
              <a:t>гаходящееся</a:t>
            </a:r>
            <a:r>
              <a:rPr lang="ru-RU" dirty="0" smtClean="0"/>
              <a:t> непосредственно </a:t>
            </a:r>
            <a:r>
              <a:rPr lang="ru-RU" dirty="0"/>
              <a:t>в </a:t>
            </a:r>
            <a:r>
              <a:rPr lang="ru-RU" dirty="0" smtClean="0"/>
              <a:t>аппаратном устройстве</a:t>
            </a:r>
            <a:r>
              <a:rPr lang="ru-RU" dirty="0"/>
              <a:t> (микросхему ПЗУ, </a:t>
            </a:r>
            <a:r>
              <a:rPr lang="ru-RU" dirty="0" err="1"/>
              <a:t>флеш</a:t>
            </a:r>
            <a:r>
              <a:rPr lang="ru-RU" dirty="0"/>
              <a:t>-память</a:t>
            </a:r>
            <a:r>
              <a:rPr lang="ru-RU" dirty="0" smtClean="0"/>
              <a:t>).</a:t>
            </a:r>
          </a:p>
          <a:p>
            <a:pPr>
              <a:lnSpc>
                <a:spcPct val="150000"/>
              </a:lnSpc>
            </a:pPr>
            <a:endParaRPr lang="ru-RU" b="1" dirty="0"/>
          </a:p>
          <a:p>
            <a:pPr>
              <a:lnSpc>
                <a:spcPct val="150000"/>
              </a:lnSpc>
            </a:pPr>
            <a:r>
              <a:rPr lang="ru-RU" b="1" dirty="0" smtClean="0"/>
              <a:t>Основные функции:</a:t>
            </a:r>
            <a:endParaRPr lang="ru-RU" dirty="0"/>
          </a:p>
          <a:p>
            <a:pPr marL="714375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dirty="0"/>
              <a:t>Низкоуровневое </a:t>
            </a:r>
            <a:r>
              <a:rPr lang="ru-RU" dirty="0" smtClean="0"/>
              <a:t>управление</a:t>
            </a:r>
          </a:p>
          <a:p>
            <a:pPr marL="714375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dirty="0" smtClean="0"/>
              <a:t>Связующее звено</a:t>
            </a:r>
            <a:r>
              <a:rPr lang="ru-RU" dirty="0"/>
              <a:t> Является промежуточным слоем между "голым железом" и высокоуровневым ПО </a:t>
            </a:r>
            <a:r>
              <a:rPr lang="ru-RU" dirty="0" smtClean="0"/>
              <a:t>(BIOS/UEFI,</a:t>
            </a:r>
            <a:r>
              <a:rPr lang="ru-RU" dirty="0"/>
              <a:t> </a:t>
            </a:r>
            <a:r>
              <a:rPr lang="ru-RU" dirty="0" smtClean="0"/>
              <a:t>Прошивка </a:t>
            </a:r>
            <a:r>
              <a:rPr lang="ru-RU" dirty="0"/>
              <a:t>жесткого диска или </a:t>
            </a:r>
            <a:r>
              <a:rPr lang="ru-RU" dirty="0" smtClean="0"/>
              <a:t>SSD, Прошивка </a:t>
            </a:r>
            <a:r>
              <a:rPr lang="ru-RU" dirty="0"/>
              <a:t>роутера, модема, камеры, </a:t>
            </a:r>
            <a:r>
              <a:rPr lang="ru-RU" dirty="0" smtClean="0"/>
              <a:t>мыши)</a:t>
            </a:r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3" y="4242720"/>
            <a:ext cx="5209381" cy="2561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9928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3342" y="1124744"/>
            <a:ext cx="6614630" cy="4896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" name="TextBox 52"/>
          <p:cNvSpPr txBox="1"/>
          <p:nvPr/>
        </p:nvSpPr>
        <p:spPr>
          <a:xfrm>
            <a:off x="3822795" y="332656"/>
            <a:ext cx="1813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smtClean="0"/>
              <a:t>Архитектура  ПК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311533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195727" y="2645217"/>
            <a:ext cx="8818515" cy="106800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800" dirty="0" smtClean="0">
                <a:solidFill>
                  <a:srgbClr val="000000"/>
                </a:solidFill>
                <a:latin typeface="Arial"/>
              </a:rPr>
              <a:t>ШИНЫ</a:t>
            </a:r>
            <a:endParaRPr lang="ru-RU" sz="2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97928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322959" y="16109"/>
            <a:ext cx="8818515" cy="106800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800" dirty="0" smtClean="0">
                <a:solidFill>
                  <a:srgbClr val="000000"/>
                </a:solidFill>
                <a:latin typeface="Arial"/>
              </a:rPr>
              <a:t>Принцип работы</a:t>
            </a:r>
            <a:r>
              <a:rPr lang="en-US" sz="2800" dirty="0" smtClean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800" dirty="0" smtClean="0">
                <a:solidFill>
                  <a:srgbClr val="000000"/>
                </a:solidFill>
                <a:latin typeface="Arial"/>
              </a:rPr>
              <a:t>шины типа «</a:t>
            </a:r>
            <a:r>
              <a:rPr lang="en-US" sz="2800" dirty="0" smtClean="0">
                <a:solidFill>
                  <a:srgbClr val="000000"/>
                </a:solidFill>
                <a:latin typeface="Arial"/>
              </a:rPr>
              <a:t>Observer</a:t>
            </a:r>
            <a:r>
              <a:rPr lang="ru-RU" sz="2800" dirty="0" smtClean="0">
                <a:solidFill>
                  <a:srgbClr val="000000"/>
                </a:solidFill>
                <a:latin typeface="Arial"/>
              </a:rPr>
              <a:t>»</a:t>
            </a:r>
            <a:endParaRPr lang="ru-RU" sz="2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076" name="Picture 4" descr="Общая архитектура шины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28" y="1600174"/>
            <a:ext cx="8859979" cy="4267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1456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322959" y="16109"/>
            <a:ext cx="8818515" cy="106800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800" dirty="0" smtClean="0">
                <a:solidFill>
                  <a:srgbClr val="000000"/>
                </a:solidFill>
                <a:latin typeface="Arial"/>
              </a:rPr>
              <a:t>Шины</a:t>
            </a:r>
            <a:endParaRPr lang="ru-RU" sz="2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442" y="990566"/>
            <a:ext cx="6203520" cy="3686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1371443" y="4822392"/>
            <a:ext cx="66623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Данные в компьютерных шинах передаются пакетами. Каждый пакет переданных данных называется транзакцией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371443" y="5782454"/>
            <a:ext cx="692365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Скорость </a:t>
            </a:r>
            <a:r>
              <a:rPr lang="ru-RU" dirty="0"/>
              <a:t>передачи данных в шинах измеряется </a:t>
            </a:r>
            <a:r>
              <a:rPr lang="ru-RU" dirty="0" smtClean="0"/>
              <a:t>в </a:t>
            </a:r>
            <a:r>
              <a:rPr lang="ru-RU" dirty="0" err="1"/>
              <a:t>гигатранзакциях</a:t>
            </a:r>
            <a:r>
              <a:rPr lang="ru-RU" dirty="0"/>
              <a:t> в секунду</a:t>
            </a:r>
          </a:p>
        </p:txBody>
      </p:sp>
    </p:spTree>
    <p:extLst>
      <p:ext uri="{BB962C8B-B14F-4D97-AF65-F5344CB8AC3E}">
        <p14:creationId xmlns:p14="http://schemas.microsoft.com/office/powerpoint/2010/main" val="3268686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322959" y="16109"/>
            <a:ext cx="8818515" cy="106800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800" dirty="0" smtClean="0">
                <a:solidFill>
                  <a:srgbClr val="000000"/>
                </a:solidFill>
                <a:latin typeface="Arial"/>
              </a:rPr>
              <a:t>Шины</a:t>
            </a:r>
            <a:endParaRPr lang="ru-RU" sz="2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0808" y="1164740"/>
            <a:ext cx="6851520" cy="493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3256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322959" y="16109"/>
            <a:ext cx="8818515" cy="106800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800" dirty="0" smtClean="0">
                <a:solidFill>
                  <a:srgbClr val="000000"/>
                </a:solidFill>
                <a:latin typeface="Arial"/>
              </a:rPr>
              <a:t>Архитектура ПК</a:t>
            </a:r>
            <a:endParaRPr lang="ru-RU" sz="2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4" name="Группа 3"/>
          <p:cNvGrpSpPr/>
          <p:nvPr/>
        </p:nvGrpSpPr>
        <p:grpSpPr>
          <a:xfrm>
            <a:off x="3947621" y="3200068"/>
            <a:ext cx="995785" cy="957956"/>
            <a:chOff x="4059372" y="1979305"/>
            <a:chExt cx="1097784" cy="792088"/>
          </a:xfrm>
        </p:grpSpPr>
        <p:sp>
          <p:nvSpPr>
            <p:cNvPr id="2" name="Прямоугольник 1"/>
            <p:cNvSpPr/>
            <p:nvPr/>
          </p:nvSpPr>
          <p:spPr>
            <a:xfrm>
              <a:off x="4104208" y="1979305"/>
              <a:ext cx="1008112" cy="792088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4059372" y="2113739"/>
              <a:ext cx="1097784" cy="4326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1400" dirty="0" smtClean="0"/>
                <a:t>Северный </a:t>
              </a:r>
            </a:p>
            <a:p>
              <a:pPr algn="ctr"/>
              <a:r>
                <a:rPr lang="ru-RU" sz="1400" dirty="0" smtClean="0"/>
                <a:t>мост</a:t>
              </a:r>
              <a:endParaRPr lang="ru-RU" sz="1400" dirty="0"/>
            </a:p>
          </p:txBody>
        </p:sp>
      </p:grpSp>
      <p:grpSp>
        <p:nvGrpSpPr>
          <p:cNvPr id="7" name="Группа 6"/>
          <p:cNvGrpSpPr/>
          <p:nvPr/>
        </p:nvGrpSpPr>
        <p:grpSpPr>
          <a:xfrm>
            <a:off x="4009165" y="5106153"/>
            <a:ext cx="914445" cy="957956"/>
            <a:chOff x="4104208" y="1979305"/>
            <a:chExt cx="1008112" cy="792088"/>
          </a:xfrm>
        </p:grpSpPr>
        <p:sp>
          <p:nvSpPr>
            <p:cNvPr id="8" name="Прямоугольник 7"/>
            <p:cNvSpPr/>
            <p:nvPr/>
          </p:nvSpPr>
          <p:spPr>
            <a:xfrm>
              <a:off x="4104208" y="1979305"/>
              <a:ext cx="1008112" cy="792088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156568" y="2113739"/>
              <a:ext cx="903392" cy="4326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1400" dirty="0" smtClean="0"/>
                <a:t>Южный </a:t>
              </a:r>
            </a:p>
            <a:p>
              <a:pPr algn="ctr"/>
              <a:r>
                <a:rPr lang="ru-RU" sz="1400" dirty="0" smtClean="0"/>
                <a:t>мост</a:t>
              </a:r>
              <a:endParaRPr lang="ru-RU" sz="1400" dirty="0"/>
            </a:p>
          </p:txBody>
        </p:sp>
      </p:grpSp>
      <p:grpSp>
        <p:nvGrpSpPr>
          <p:cNvPr id="11" name="Группа 10"/>
          <p:cNvGrpSpPr/>
          <p:nvPr/>
        </p:nvGrpSpPr>
        <p:grpSpPr>
          <a:xfrm>
            <a:off x="1400792" y="3281361"/>
            <a:ext cx="1160936" cy="795371"/>
            <a:chOff x="4104208" y="1979305"/>
            <a:chExt cx="1008112" cy="792088"/>
          </a:xfrm>
        </p:grpSpPr>
        <p:sp>
          <p:nvSpPr>
            <p:cNvPr id="12" name="Прямоугольник 11"/>
            <p:cNvSpPr/>
            <p:nvPr/>
          </p:nvSpPr>
          <p:spPr>
            <a:xfrm>
              <a:off x="4104208" y="1979305"/>
              <a:ext cx="1008112" cy="792088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138803" y="2113739"/>
              <a:ext cx="938922" cy="3065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1400" dirty="0" smtClean="0"/>
                <a:t>Видеокарта</a:t>
              </a:r>
              <a:endParaRPr lang="ru-RU" sz="1400" dirty="0"/>
            </a:p>
          </p:txBody>
        </p:sp>
      </p:grpSp>
      <p:grpSp>
        <p:nvGrpSpPr>
          <p:cNvPr id="14" name="Группа 13"/>
          <p:cNvGrpSpPr/>
          <p:nvPr/>
        </p:nvGrpSpPr>
        <p:grpSpPr>
          <a:xfrm>
            <a:off x="1411423" y="5187446"/>
            <a:ext cx="1160936" cy="795371"/>
            <a:chOff x="4104208" y="1979305"/>
            <a:chExt cx="1008112" cy="792088"/>
          </a:xfrm>
        </p:grpSpPr>
        <p:sp>
          <p:nvSpPr>
            <p:cNvPr id="15" name="Прямоугольник 14"/>
            <p:cNvSpPr/>
            <p:nvPr/>
          </p:nvSpPr>
          <p:spPr>
            <a:xfrm>
              <a:off x="4104208" y="1979305"/>
              <a:ext cx="1008112" cy="792088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247322" y="2113739"/>
              <a:ext cx="721884" cy="5210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1400" dirty="0" smtClean="0"/>
                <a:t>Жесткие</a:t>
              </a:r>
            </a:p>
            <a:p>
              <a:pPr algn="ctr"/>
              <a:r>
                <a:rPr lang="ru-RU" sz="1400" dirty="0" smtClean="0"/>
                <a:t>диски</a:t>
              </a:r>
              <a:endParaRPr lang="ru-RU" sz="1400" dirty="0"/>
            </a:p>
          </p:txBody>
        </p:sp>
      </p:grpSp>
      <p:grpSp>
        <p:nvGrpSpPr>
          <p:cNvPr id="17" name="Группа 16"/>
          <p:cNvGrpSpPr/>
          <p:nvPr/>
        </p:nvGrpSpPr>
        <p:grpSpPr>
          <a:xfrm>
            <a:off x="6350351" y="5187445"/>
            <a:ext cx="1160936" cy="1028337"/>
            <a:chOff x="4104208" y="1979305"/>
            <a:chExt cx="1008112" cy="1024092"/>
          </a:xfrm>
        </p:grpSpPr>
        <p:sp>
          <p:nvSpPr>
            <p:cNvPr id="18" name="Прямоугольник 17"/>
            <p:cNvSpPr/>
            <p:nvPr/>
          </p:nvSpPr>
          <p:spPr>
            <a:xfrm>
              <a:off x="4104208" y="1979305"/>
              <a:ext cx="1008112" cy="1024092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146908" y="2113739"/>
              <a:ext cx="922720" cy="7356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1400" dirty="0" smtClean="0"/>
                <a:t>Принтеры</a:t>
              </a:r>
            </a:p>
            <a:p>
              <a:pPr algn="ctr"/>
              <a:r>
                <a:rPr lang="ru-RU" sz="1400" dirty="0" smtClean="0"/>
                <a:t>Сканер</a:t>
              </a:r>
            </a:p>
            <a:p>
              <a:pPr algn="ctr"/>
              <a:r>
                <a:rPr lang="ru-RU" sz="1400" dirty="0" smtClean="0"/>
                <a:t>Клавиатура</a:t>
              </a:r>
              <a:endParaRPr lang="ru-RU" sz="1400" dirty="0"/>
            </a:p>
          </p:txBody>
        </p:sp>
      </p:grpSp>
      <p:grpSp>
        <p:nvGrpSpPr>
          <p:cNvPr id="21" name="Группа 20"/>
          <p:cNvGrpSpPr/>
          <p:nvPr/>
        </p:nvGrpSpPr>
        <p:grpSpPr>
          <a:xfrm>
            <a:off x="6331687" y="3253767"/>
            <a:ext cx="1187633" cy="795371"/>
            <a:chOff x="4092619" y="1979305"/>
            <a:chExt cx="1031294" cy="792088"/>
          </a:xfrm>
        </p:grpSpPr>
        <p:sp>
          <p:nvSpPr>
            <p:cNvPr id="22" name="Прямоугольник 21"/>
            <p:cNvSpPr/>
            <p:nvPr/>
          </p:nvSpPr>
          <p:spPr>
            <a:xfrm>
              <a:off x="4104208" y="1979305"/>
              <a:ext cx="1008112" cy="792088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092619" y="2113739"/>
              <a:ext cx="1031294" cy="5210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1400" dirty="0" smtClean="0"/>
                <a:t>Оперативная</a:t>
              </a:r>
            </a:p>
            <a:p>
              <a:pPr algn="ctr"/>
              <a:r>
                <a:rPr lang="ru-RU" sz="1400" dirty="0" smtClean="0"/>
                <a:t>память</a:t>
              </a:r>
              <a:endParaRPr lang="ru-RU" sz="1400" dirty="0"/>
            </a:p>
          </p:txBody>
        </p:sp>
      </p:grpSp>
      <p:grpSp>
        <p:nvGrpSpPr>
          <p:cNvPr id="24" name="Группа 23"/>
          <p:cNvGrpSpPr/>
          <p:nvPr/>
        </p:nvGrpSpPr>
        <p:grpSpPr>
          <a:xfrm>
            <a:off x="3962528" y="1251827"/>
            <a:ext cx="1010791" cy="957956"/>
            <a:chOff x="4051103" y="1979305"/>
            <a:chExt cx="1114327" cy="792088"/>
          </a:xfrm>
        </p:grpSpPr>
        <p:sp>
          <p:nvSpPr>
            <p:cNvPr id="25" name="Прямоугольник 24"/>
            <p:cNvSpPr/>
            <p:nvPr/>
          </p:nvSpPr>
          <p:spPr>
            <a:xfrm>
              <a:off x="4104208" y="1979305"/>
              <a:ext cx="1008112" cy="792088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051103" y="2113739"/>
              <a:ext cx="1114327" cy="2544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1400" dirty="0" smtClean="0"/>
                <a:t>Процессор</a:t>
              </a:r>
              <a:endParaRPr lang="ru-RU" sz="1400" dirty="0"/>
            </a:p>
          </p:txBody>
        </p:sp>
      </p:grpSp>
      <p:grpSp>
        <p:nvGrpSpPr>
          <p:cNvPr id="27" name="Группа 26"/>
          <p:cNvGrpSpPr/>
          <p:nvPr/>
        </p:nvGrpSpPr>
        <p:grpSpPr>
          <a:xfrm>
            <a:off x="4960080" y="3393182"/>
            <a:ext cx="1293084" cy="579087"/>
            <a:chOff x="5468143" y="2661642"/>
            <a:chExt cx="1425535" cy="478819"/>
          </a:xfrm>
        </p:grpSpPr>
        <p:sp>
          <p:nvSpPr>
            <p:cNvPr id="6" name="Двойная стрелка влево/вправо 5"/>
            <p:cNvSpPr/>
            <p:nvPr/>
          </p:nvSpPr>
          <p:spPr>
            <a:xfrm>
              <a:off x="5468143" y="2661642"/>
              <a:ext cx="1425535" cy="478819"/>
            </a:xfrm>
            <a:prstGeom prst="leftRightArrow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530732" y="2744121"/>
              <a:ext cx="1338123" cy="2544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400" dirty="0" smtClean="0"/>
                <a:t>Шина памяти</a:t>
              </a:r>
              <a:endParaRPr lang="ru-RU" sz="1400" dirty="0"/>
            </a:p>
          </p:txBody>
        </p:sp>
      </p:grpSp>
      <p:grpSp>
        <p:nvGrpSpPr>
          <p:cNvPr id="30" name="Группа 29"/>
          <p:cNvGrpSpPr/>
          <p:nvPr/>
        </p:nvGrpSpPr>
        <p:grpSpPr>
          <a:xfrm>
            <a:off x="4987802" y="5252449"/>
            <a:ext cx="1293084" cy="579087"/>
            <a:chOff x="5468143" y="2661642"/>
            <a:chExt cx="1425535" cy="478819"/>
          </a:xfrm>
        </p:grpSpPr>
        <p:sp>
          <p:nvSpPr>
            <p:cNvPr id="31" name="Двойная стрелка влево/вправо 30"/>
            <p:cNvSpPr/>
            <p:nvPr/>
          </p:nvSpPr>
          <p:spPr>
            <a:xfrm>
              <a:off x="5468143" y="2661642"/>
              <a:ext cx="1425535" cy="478819"/>
            </a:xfrm>
            <a:prstGeom prst="leftRightArrow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903430" y="2747274"/>
              <a:ext cx="528745" cy="2544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USB</a:t>
              </a:r>
              <a:endParaRPr lang="ru-RU" sz="1400" dirty="0"/>
            </a:p>
          </p:txBody>
        </p:sp>
      </p:grpSp>
      <p:grpSp>
        <p:nvGrpSpPr>
          <p:cNvPr id="33" name="Группа 32"/>
          <p:cNvGrpSpPr/>
          <p:nvPr/>
        </p:nvGrpSpPr>
        <p:grpSpPr>
          <a:xfrm>
            <a:off x="2644907" y="5252449"/>
            <a:ext cx="1293084" cy="579087"/>
            <a:chOff x="5468143" y="2661642"/>
            <a:chExt cx="1425535" cy="478819"/>
          </a:xfrm>
        </p:grpSpPr>
        <p:sp>
          <p:nvSpPr>
            <p:cNvPr id="34" name="Двойная стрелка влево/вправо 33"/>
            <p:cNvSpPr/>
            <p:nvPr/>
          </p:nvSpPr>
          <p:spPr>
            <a:xfrm>
              <a:off x="5468143" y="2661642"/>
              <a:ext cx="1425535" cy="478819"/>
            </a:xfrm>
            <a:prstGeom prst="leftRightArrow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903430" y="2747274"/>
              <a:ext cx="588195" cy="2544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SATA</a:t>
              </a:r>
              <a:endParaRPr lang="ru-RU" sz="1400" dirty="0"/>
            </a:p>
          </p:txBody>
        </p:sp>
      </p:grpSp>
      <p:grpSp>
        <p:nvGrpSpPr>
          <p:cNvPr id="36" name="Группа 35"/>
          <p:cNvGrpSpPr/>
          <p:nvPr/>
        </p:nvGrpSpPr>
        <p:grpSpPr>
          <a:xfrm>
            <a:off x="2634276" y="3361909"/>
            <a:ext cx="1293084" cy="579087"/>
            <a:chOff x="5468143" y="2661642"/>
            <a:chExt cx="1425535" cy="478819"/>
          </a:xfrm>
        </p:grpSpPr>
        <p:sp>
          <p:nvSpPr>
            <p:cNvPr id="37" name="Двойная стрелка влево/вправо 36"/>
            <p:cNvSpPr/>
            <p:nvPr/>
          </p:nvSpPr>
          <p:spPr>
            <a:xfrm>
              <a:off x="5468143" y="2661642"/>
              <a:ext cx="1425535" cy="478819"/>
            </a:xfrm>
            <a:prstGeom prst="leftRightArrow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903430" y="2747274"/>
              <a:ext cx="560556" cy="2544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 smtClean="0"/>
                <a:t>PCIe</a:t>
              </a:r>
              <a:endParaRPr lang="ru-RU" sz="1400" dirty="0"/>
            </a:p>
          </p:txBody>
        </p:sp>
      </p:grpSp>
      <p:sp>
        <p:nvSpPr>
          <p:cNvPr id="29" name="Двойная стрелка влево/вправо 28"/>
          <p:cNvSpPr/>
          <p:nvPr/>
        </p:nvSpPr>
        <p:spPr>
          <a:xfrm rot="16200000">
            <a:off x="4060784" y="2489736"/>
            <a:ext cx="780709" cy="401124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Двойная стрелка влево/вправо 43"/>
          <p:cNvSpPr/>
          <p:nvPr/>
        </p:nvSpPr>
        <p:spPr>
          <a:xfrm rot="16200000">
            <a:off x="4090834" y="4387273"/>
            <a:ext cx="780709" cy="401124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4703505" y="2466960"/>
            <a:ext cx="1998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FSB (</a:t>
            </a:r>
            <a:r>
              <a:rPr lang="en-US" dirty="0" err="1"/>
              <a:t>FrontSide</a:t>
            </a:r>
            <a:r>
              <a:rPr lang="en-US" dirty="0"/>
              <a:t> Bus</a:t>
            </a:r>
            <a:r>
              <a:rPr lang="en-US" dirty="0" smtClean="0"/>
              <a:t>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64077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195727" y="2645217"/>
            <a:ext cx="8818515" cy="106800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800" dirty="0" smtClean="0">
                <a:solidFill>
                  <a:srgbClr val="000000"/>
                </a:solidFill>
                <a:latin typeface="Arial"/>
              </a:rPr>
              <a:t>ПРОЦЕССОР</a:t>
            </a:r>
            <a:endParaRPr lang="ru-RU" sz="2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90330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22659" y="404664"/>
            <a:ext cx="2324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smtClean="0"/>
              <a:t>Регистры процессора</a:t>
            </a:r>
            <a:endParaRPr lang="ru-RU" b="1" dirty="0"/>
          </a:p>
        </p:txBody>
      </p:sp>
      <p:sp>
        <p:nvSpPr>
          <p:cNvPr id="5" name="TextBox 4"/>
          <p:cNvSpPr txBox="1"/>
          <p:nvPr/>
        </p:nvSpPr>
        <p:spPr>
          <a:xfrm>
            <a:off x="774386" y="1720369"/>
            <a:ext cx="11339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 smtClean="0"/>
              <a:t>Сегментные</a:t>
            </a:r>
            <a:endParaRPr lang="ru-RU" sz="1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2430571" y="1720320"/>
            <a:ext cx="17445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 smtClean="0"/>
              <a:t>Общего назначения</a:t>
            </a:r>
            <a:endParaRPr lang="ru-RU" sz="14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4839932" y="1721015"/>
            <a:ext cx="1292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 smtClean="0"/>
              <a:t>Управляющие</a:t>
            </a:r>
            <a:endParaRPr lang="ru-RU" sz="1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6895067" y="1710100"/>
            <a:ext cx="11624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 smtClean="0"/>
              <a:t>Расширений</a:t>
            </a:r>
            <a:endParaRPr lang="ru-RU" sz="14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2847847" y="3068960"/>
            <a:ext cx="13869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 smtClean="0"/>
              <a:t>Операционные</a:t>
            </a:r>
            <a:endParaRPr lang="ru-RU" sz="14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2876701" y="3697287"/>
            <a:ext cx="13553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 smtClean="0"/>
              <a:t>Итерационные</a:t>
            </a:r>
            <a:endParaRPr lang="ru-RU" sz="14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2865603" y="4273351"/>
            <a:ext cx="9258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 smtClean="0"/>
              <a:t>Стековые</a:t>
            </a:r>
            <a:endParaRPr lang="ru-RU" sz="1400" b="1" dirty="0"/>
          </a:p>
        </p:txBody>
      </p:sp>
      <p:cxnSp>
        <p:nvCxnSpPr>
          <p:cNvPr id="14" name="Прямая соединительная линия 13"/>
          <p:cNvCxnSpPr/>
          <p:nvPr/>
        </p:nvCxnSpPr>
        <p:spPr>
          <a:xfrm>
            <a:off x="2577571" y="2811588"/>
            <a:ext cx="0" cy="16255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>
            <a:off x="2577571" y="4437111"/>
            <a:ext cx="288032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>
            <a:off x="2577571" y="3861047"/>
            <a:ext cx="333800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/>
        </p:nvCxnSpPr>
        <p:spPr>
          <a:xfrm>
            <a:off x="2577571" y="3212976"/>
            <a:ext cx="333800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855930" y="3265239"/>
            <a:ext cx="15676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smtClean="0"/>
              <a:t>(</a:t>
            </a:r>
            <a:r>
              <a:rPr lang="en-US" sz="1400" dirty="0" err="1" smtClean="0"/>
              <a:t>eax</a:t>
            </a:r>
            <a:r>
              <a:rPr lang="en-US" sz="1400" dirty="0" smtClean="0"/>
              <a:t>, </a:t>
            </a:r>
            <a:r>
              <a:rPr lang="en-US" sz="1400" dirty="0" err="1" smtClean="0"/>
              <a:t>ebx</a:t>
            </a:r>
            <a:r>
              <a:rPr lang="en-US" sz="1400" dirty="0" smtClean="0"/>
              <a:t>, </a:t>
            </a:r>
            <a:r>
              <a:rPr lang="en-US" sz="1400" dirty="0" err="1" smtClean="0"/>
              <a:t>ecx</a:t>
            </a:r>
            <a:r>
              <a:rPr lang="en-US" sz="1400" dirty="0" smtClean="0"/>
              <a:t>, </a:t>
            </a:r>
            <a:r>
              <a:rPr lang="en-US" sz="1400" dirty="0" err="1" smtClean="0"/>
              <a:t>edx</a:t>
            </a:r>
            <a:r>
              <a:rPr lang="ru-RU" sz="1400" dirty="0" smtClean="0"/>
              <a:t>)</a:t>
            </a:r>
            <a:endParaRPr lang="ru-RU" sz="1400" dirty="0"/>
          </a:p>
        </p:txBody>
      </p:sp>
      <p:sp>
        <p:nvSpPr>
          <p:cNvPr id="27" name="TextBox 26"/>
          <p:cNvSpPr txBox="1"/>
          <p:nvPr/>
        </p:nvSpPr>
        <p:spPr>
          <a:xfrm>
            <a:off x="2896828" y="3913311"/>
            <a:ext cx="8066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smtClean="0"/>
              <a:t>(</a:t>
            </a:r>
            <a:r>
              <a:rPr lang="en-US" sz="1400" dirty="0" err="1" smtClean="0"/>
              <a:t>esi</a:t>
            </a:r>
            <a:r>
              <a:rPr lang="en-US" sz="1400" dirty="0" smtClean="0"/>
              <a:t>, </a:t>
            </a:r>
            <a:r>
              <a:rPr lang="en-US" sz="1400" dirty="0" err="1" smtClean="0"/>
              <a:t>edi</a:t>
            </a:r>
            <a:r>
              <a:rPr lang="ru-RU" sz="1400" dirty="0" smtClean="0"/>
              <a:t>)</a:t>
            </a:r>
            <a:endParaRPr lang="ru-RU" sz="1400" dirty="0"/>
          </a:p>
        </p:txBody>
      </p:sp>
      <p:sp>
        <p:nvSpPr>
          <p:cNvPr id="28" name="TextBox 27"/>
          <p:cNvSpPr txBox="1"/>
          <p:nvPr/>
        </p:nvSpPr>
        <p:spPr>
          <a:xfrm>
            <a:off x="2863038" y="4489375"/>
            <a:ext cx="9124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smtClean="0"/>
              <a:t>(</a:t>
            </a:r>
            <a:r>
              <a:rPr lang="en-US" sz="1400" dirty="0" err="1" smtClean="0"/>
              <a:t>ebp</a:t>
            </a:r>
            <a:r>
              <a:rPr lang="en-US" sz="1400" dirty="0" smtClean="0"/>
              <a:t>, </a:t>
            </a:r>
            <a:r>
              <a:rPr lang="en-US" sz="1400" dirty="0" err="1" smtClean="0"/>
              <a:t>esp</a:t>
            </a:r>
            <a:r>
              <a:rPr lang="ru-RU" sz="1400" dirty="0" smtClean="0"/>
              <a:t>)</a:t>
            </a:r>
            <a:endParaRPr lang="ru-RU" sz="1400" dirty="0"/>
          </a:p>
        </p:txBody>
      </p:sp>
      <p:sp>
        <p:nvSpPr>
          <p:cNvPr id="29" name="TextBox 28"/>
          <p:cNvSpPr txBox="1"/>
          <p:nvPr/>
        </p:nvSpPr>
        <p:spPr>
          <a:xfrm>
            <a:off x="5266065" y="3068960"/>
            <a:ext cx="11558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 smtClean="0"/>
              <a:t>Отладочные</a:t>
            </a:r>
            <a:endParaRPr lang="ru-RU" sz="14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5284831" y="3697287"/>
            <a:ext cx="11549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 smtClean="0"/>
              <a:t>Управления</a:t>
            </a:r>
            <a:endParaRPr lang="ru-RU" sz="14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5283821" y="4273351"/>
            <a:ext cx="9544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 err="1" smtClean="0"/>
              <a:t>Флаговые</a:t>
            </a:r>
            <a:endParaRPr lang="ru-RU" sz="1400" b="1" dirty="0"/>
          </a:p>
        </p:txBody>
      </p:sp>
      <p:cxnSp>
        <p:nvCxnSpPr>
          <p:cNvPr id="32" name="Прямая соединительная линия 31"/>
          <p:cNvCxnSpPr/>
          <p:nvPr/>
        </p:nvCxnSpPr>
        <p:spPr>
          <a:xfrm>
            <a:off x="4995789" y="2811588"/>
            <a:ext cx="0" cy="22637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/>
          <p:cNvCxnSpPr/>
          <p:nvPr/>
        </p:nvCxnSpPr>
        <p:spPr>
          <a:xfrm>
            <a:off x="4995789" y="4437111"/>
            <a:ext cx="288032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/>
          <p:cNvCxnSpPr/>
          <p:nvPr/>
        </p:nvCxnSpPr>
        <p:spPr>
          <a:xfrm>
            <a:off x="4995789" y="3861047"/>
            <a:ext cx="333800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/>
          <p:nvPr/>
        </p:nvCxnSpPr>
        <p:spPr>
          <a:xfrm>
            <a:off x="4995789" y="3212976"/>
            <a:ext cx="333800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315046" y="3913311"/>
            <a:ext cx="9220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smtClean="0"/>
              <a:t>(</a:t>
            </a:r>
            <a:r>
              <a:rPr lang="en-US" sz="1400" dirty="0" smtClean="0"/>
              <a:t>cr0 – cr4</a:t>
            </a:r>
            <a:r>
              <a:rPr lang="ru-RU" sz="1400" dirty="0" smtClean="0"/>
              <a:t>)</a:t>
            </a:r>
            <a:endParaRPr lang="ru-RU" sz="1400" dirty="0"/>
          </a:p>
        </p:txBody>
      </p:sp>
      <p:sp>
        <p:nvSpPr>
          <p:cNvPr id="37" name="TextBox 36"/>
          <p:cNvSpPr txBox="1"/>
          <p:nvPr/>
        </p:nvSpPr>
        <p:spPr>
          <a:xfrm>
            <a:off x="5281256" y="4489375"/>
            <a:ext cx="7200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smtClean="0"/>
              <a:t>(</a:t>
            </a:r>
            <a:r>
              <a:rPr lang="en-US" sz="1400" dirty="0" err="1" smtClean="0"/>
              <a:t>eflags</a:t>
            </a:r>
            <a:r>
              <a:rPr lang="ru-RU" sz="1400" dirty="0" smtClean="0"/>
              <a:t>)</a:t>
            </a:r>
            <a:endParaRPr lang="ru-RU" sz="1400" dirty="0"/>
          </a:p>
        </p:txBody>
      </p:sp>
      <p:sp>
        <p:nvSpPr>
          <p:cNvPr id="38" name="TextBox 37"/>
          <p:cNvSpPr txBox="1"/>
          <p:nvPr/>
        </p:nvSpPr>
        <p:spPr>
          <a:xfrm>
            <a:off x="5284831" y="3284984"/>
            <a:ext cx="9605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smtClean="0"/>
              <a:t>(</a:t>
            </a:r>
            <a:r>
              <a:rPr lang="en-US" sz="1400" dirty="0" smtClean="0"/>
              <a:t>dr0 – dr7</a:t>
            </a:r>
            <a:r>
              <a:rPr lang="ru-RU" sz="1400" dirty="0" smtClean="0"/>
              <a:t>)</a:t>
            </a:r>
            <a:endParaRPr lang="ru-RU" sz="1400" dirty="0"/>
          </a:p>
        </p:txBody>
      </p:sp>
      <p:sp>
        <p:nvSpPr>
          <p:cNvPr id="39" name="TextBox 38"/>
          <p:cNvSpPr txBox="1"/>
          <p:nvPr/>
        </p:nvSpPr>
        <p:spPr>
          <a:xfrm>
            <a:off x="7286103" y="3068960"/>
            <a:ext cx="4796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/>
              <a:t>FPU</a:t>
            </a:r>
            <a:endParaRPr lang="ru-RU" sz="1400" b="1" dirty="0"/>
          </a:p>
        </p:txBody>
      </p:sp>
      <p:sp>
        <p:nvSpPr>
          <p:cNvPr id="40" name="TextBox 39"/>
          <p:cNvSpPr txBox="1"/>
          <p:nvPr/>
        </p:nvSpPr>
        <p:spPr>
          <a:xfrm>
            <a:off x="7314957" y="3697287"/>
            <a:ext cx="5982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/>
              <a:t>MMX</a:t>
            </a:r>
            <a:endParaRPr lang="ru-RU" sz="1400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7365165" y="4273351"/>
            <a:ext cx="4427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/>
              <a:t>SSE</a:t>
            </a:r>
            <a:endParaRPr lang="ru-RU" sz="1400" b="1" dirty="0"/>
          </a:p>
        </p:txBody>
      </p:sp>
      <p:cxnSp>
        <p:nvCxnSpPr>
          <p:cNvPr id="42" name="Прямая соединительная линия 41"/>
          <p:cNvCxnSpPr/>
          <p:nvPr/>
        </p:nvCxnSpPr>
        <p:spPr>
          <a:xfrm>
            <a:off x="7015827" y="2811588"/>
            <a:ext cx="0" cy="16255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единительная линия 42"/>
          <p:cNvCxnSpPr/>
          <p:nvPr/>
        </p:nvCxnSpPr>
        <p:spPr>
          <a:xfrm>
            <a:off x="7015827" y="4437111"/>
            <a:ext cx="288032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единительная линия 43"/>
          <p:cNvCxnSpPr/>
          <p:nvPr/>
        </p:nvCxnSpPr>
        <p:spPr>
          <a:xfrm>
            <a:off x="7015827" y="3861047"/>
            <a:ext cx="333800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/>
          <p:cNvCxnSpPr/>
          <p:nvPr/>
        </p:nvCxnSpPr>
        <p:spPr>
          <a:xfrm>
            <a:off x="7015827" y="3212976"/>
            <a:ext cx="333800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335084" y="3913311"/>
            <a:ext cx="14621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smtClean="0"/>
              <a:t>(</a:t>
            </a:r>
            <a:r>
              <a:rPr lang="en-US" sz="1400" dirty="0" smtClean="0"/>
              <a:t>mmx0 – mmx11</a:t>
            </a:r>
            <a:r>
              <a:rPr lang="ru-RU" sz="1400" dirty="0" smtClean="0"/>
              <a:t>)</a:t>
            </a:r>
            <a:endParaRPr lang="ru-RU" sz="1400" dirty="0"/>
          </a:p>
        </p:txBody>
      </p:sp>
      <p:sp>
        <p:nvSpPr>
          <p:cNvPr id="47" name="TextBox 46"/>
          <p:cNvSpPr txBox="1"/>
          <p:nvPr/>
        </p:nvSpPr>
        <p:spPr>
          <a:xfrm>
            <a:off x="7301294" y="4489375"/>
            <a:ext cx="10839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smtClean="0"/>
              <a:t>(</a:t>
            </a:r>
            <a:r>
              <a:rPr lang="en-US" sz="1400" dirty="0" smtClean="0"/>
              <a:t>sse0-sse11</a:t>
            </a:r>
            <a:r>
              <a:rPr lang="ru-RU" sz="1400" dirty="0" smtClean="0"/>
              <a:t>)</a:t>
            </a:r>
            <a:endParaRPr lang="ru-RU" sz="1400" dirty="0"/>
          </a:p>
        </p:txBody>
      </p:sp>
      <p:sp>
        <p:nvSpPr>
          <p:cNvPr id="48" name="TextBox 47"/>
          <p:cNvSpPr txBox="1"/>
          <p:nvPr/>
        </p:nvSpPr>
        <p:spPr>
          <a:xfrm>
            <a:off x="5290200" y="4921423"/>
            <a:ext cx="7745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 smtClean="0"/>
              <a:t>Памяти</a:t>
            </a:r>
            <a:endParaRPr lang="ru-RU" sz="1400" b="1" dirty="0"/>
          </a:p>
        </p:txBody>
      </p:sp>
      <p:sp>
        <p:nvSpPr>
          <p:cNvPr id="49" name="TextBox 48"/>
          <p:cNvSpPr txBox="1"/>
          <p:nvPr/>
        </p:nvSpPr>
        <p:spPr>
          <a:xfrm>
            <a:off x="5287635" y="5137447"/>
            <a:ext cx="14471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smtClean="0"/>
              <a:t>(</a:t>
            </a:r>
            <a:r>
              <a:rPr lang="en-US" sz="1400" dirty="0" err="1" smtClean="0"/>
              <a:t>gdtr</a:t>
            </a:r>
            <a:r>
              <a:rPr lang="en-US" sz="1400" dirty="0" smtClean="0"/>
              <a:t>, </a:t>
            </a:r>
            <a:r>
              <a:rPr lang="en-US" sz="1400" dirty="0" err="1" smtClean="0"/>
              <a:t>ldtr</a:t>
            </a:r>
            <a:r>
              <a:rPr lang="en-US" sz="1400" dirty="0" smtClean="0"/>
              <a:t>, </a:t>
            </a:r>
            <a:r>
              <a:rPr lang="en-US" sz="1400" dirty="0" err="1" smtClean="0"/>
              <a:t>idtr</a:t>
            </a:r>
            <a:r>
              <a:rPr lang="en-US" sz="1400" dirty="0" smtClean="0"/>
              <a:t>, </a:t>
            </a:r>
            <a:r>
              <a:rPr lang="en-US" sz="1400" dirty="0" err="1" smtClean="0"/>
              <a:t>tr</a:t>
            </a:r>
            <a:r>
              <a:rPr lang="ru-RU" sz="1400" dirty="0" smtClean="0"/>
              <a:t>)</a:t>
            </a:r>
            <a:endParaRPr lang="ru-RU" sz="1400" dirty="0"/>
          </a:p>
        </p:txBody>
      </p:sp>
      <p:cxnSp>
        <p:nvCxnSpPr>
          <p:cNvPr id="51" name="Прямая соединительная линия 50"/>
          <p:cNvCxnSpPr/>
          <p:nvPr/>
        </p:nvCxnSpPr>
        <p:spPr>
          <a:xfrm>
            <a:off x="4999603" y="5085183"/>
            <a:ext cx="288032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83568" y="2761183"/>
            <a:ext cx="1363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smtClean="0"/>
              <a:t>(</a:t>
            </a:r>
            <a:r>
              <a:rPr lang="en-US" sz="1400" dirty="0" err="1" smtClean="0"/>
              <a:t>cs</a:t>
            </a:r>
            <a:r>
              <a:rPr lang="en-US" sz="1400" dirty="0" smtClean="0"/>
              <a:t>, ds, fs, </a:t>
            </a:r>
            <a:r>
              <a:rPr lang="en-US" sz="1400" dirty="0" err="1" smtClean="0"/>
              <a:t>gs</a:t>
            </a:r>
            <a:r>
              <a:rPr lang="en-US" sz="1400" dirty="0" smtClean="0"/>
              <a:t>, </a:t>
            </a:r>
            <a:r>
              <a:rPr lang="en-US" sz="1400" dirty="0" err="1" smtClean="0"/>
              <a:t>ss</a:t>
            </a:r>
            <a:r>
              <a:rPr lang="ru-RU" sz="1400" dirty="0" smtClean="0"/>
              <a:t>)</a:t>
            </a:r>
            <a:endParaRPr lang="ru-RU" sz="1400" dirty="0"/>
          </a:p>
        </p:txBody>
      </p:sp>
      <p:cxnSp>
        <p:nvCxnSpPr>
          <p:cNvPr id="54" name="Соединительная линия уступом 53"/>
          <p:cNvCxnSpPr>
            <a:stCxn id="5" idx="0"/>
            <a:endCxn id="8" idx="0"/>
          </p:cNvCxnSpPr>
          <p:nvPr/>
        </p:nvCxnSpPr>
        <p:spPr>
          <a:xfrm rot="5400000" flipH="1" flipV="1">
            <a:off x="4403692" y="-1352255"/>
            <a:ext cx="10269" cy="6134980"/>
          </a:xfrm>
          <a:prstGeom prst="bentConnector3">
            <a:avLst>
              <a:gd name="adj1" fmla="val 5201519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Соединительная линия уступом 61"/>
          <p:cNvCxnSpPr>
            <a:stCxn id="6" idx="0"/>
            <a:endCxn id="7" idx="0"/>
          </p:cNvCxnSpPr>
          <p:nvPr/>
        </p:nvCxnSpPr>
        <p:spPr>
          <a:xfrm rot="16200000" flipH="1">
            <a:off x="4394230" y="628919"/>
            <a:ext cx="695" cy="2183497"/>
          </a:xfrm>
          <a:prstGeom prst="bentConnector3">
            <a:avLst>
              <a:gd name="adj1" fmla="val -76748201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/>
          <p:nvPr/>
        </p:nvCxnSpPr>
        <p:spPr>
          <a:xfrm flipH="1" flipV="1">
            <a:off x="4384740" y="773996"/>
            <a:ext cx="9838" cy="3821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7303859" y="3284984"/>
            <a:ext cx="846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smtClean="0"/>
              <a:t>(</a:t>
            </a:r>
            <a:r>
              <a:rPr lang="en-US" sz="1400" dirty="0" smtClean="0"/>
              <a:t>f0 – f11</a:t>
            </a:r>
            <a:r>
              <a:rPr lang="ru-RU" sz="1400" dirty="0" smtClean="0"/>
              <a:t>)</a:t>
            </a:r>
            <a:endParaRPr lang="ru-RU" sz="1400" dirty="0"/>
          </a:p>
        </p:txBody>
      </p:sp>
      <p:sp>
        <p:nvSpPr>
          <p:cNvPr id="71" name="TextBox 70"/>
          <p:cNvSpPr txBox="1"/>
          <p:nvPr/>
        </p:nvSpPr>
        <p:spPr>
          <a:xfrm>
            <a:off x="179512" y="2028792"/>
            <a:ext cx="196302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100" dirty="0" smtClean="0"/>
              <a:t>Участвуют в формировании адреса при сегментной адресации.</a:t>
            </a:r>
            <a:endParaRPr lang="ru-RU" sz="1100" dirty="0"/>
          </a:p>
        </p:txBody>
      </p:sp>
      <p:sp>
        <p:nvSpPr>
          <p:cNvPr id="72" name="TextBox 71"/>
          <p:cNvSpPr txBox="1"/>
          <p:nvPr/>
        </p:nvSpPr>
        <p:spPr>
          <a:xfrm>
            <a:off x="2320941" y="2036748"/>
            <a:ext cx="19630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100" dirty="0" smtClean="0"/>
              <a:t>Используются для осуществления операций над данными, прямой и косвенной адресаций и пр.</a:t>
            </a:r>
            <a:endParaRPr lang="ru-RU" sz="1100" dirty="0"/>
          </a:p>
        </p:txBody>
      </p:sp>
      <p:sp>
        <p:nvSpPr>
          <p:cNvPr id="73" name="TextBox 72"/>
          <p:cNvSpPr txBox="1"/>
          <p:nvPr/>
        </p:nvSpPr>
        <p:spPr>
          <a:xfrm>
            <a:off x="4481181" y="2036748"/>
            <a:ext cx="196302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100" dirty="0" smtClean="0"/>
              <a:t>Используются для изменения  режимов работы процессора, считывания его состояний.</a:t>
            </a:r>
            <a:endParaRPr lang="ru-RU" sz="1100" dirty="0"/>
          </a:p>
        </p:txBody>
      </p:sp>
      <p:sp>
        <p:nvSpPr>
          <p:cNvPr id="74" name="TextBox 73"/>
          <p:cNvSpPr txBox="1"/>
          <p:nvPr/>
        </p:nvSpPr>
        <p:spPr>
          <a:xfrm>
            <a:off x="6641421" y="2036748"/>
            <a:ext cx="19630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100" dirty="0" smtClean="0"/>
              <a:t>Используются для специфических операций многопоточной обработки данных.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680785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915816" y="332656"/>
            <a:ext cx="3134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smtClean="0"/>
              <a:t>Регистры общего назначения</a:t>
            </a:r>
            <a:endParaRPr lang="ru-RU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639273" y="2123564"/>
            <a:ext cx="6336704" cy="64807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6428585" y="2123564"/>
            <a:ext cx="1547392" cy="64807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4879633" y="2123564"/>
            <a:ext cx="1548952" cy="64807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авая фигурная скобка 9"/>
          <p:cNvSpPr/>
          <p:nvPr/>
        </p:nvSpPr>
        <p:spPr>
          <a:xfrm rot="5400000">
            <a:off x="7058655" y="2366882"/>
            <a:ext cx="288032" cy="1548172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авая фигурная скобка 10"/>
          <p:cNvSpPr/>
          <p:nvPr/>
        </p:nvSpPr>
        <p:spPr>
          <a:xfrm rot="5400000">
            <a:off x="5509703" y="2366882"/>
            <a:ext cx="288032" cy="1548172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авая фигурная скобка 11"/>
          <p:cNvSpPr/>
          <p:nvPr/>
        </p:nvSpPr>
        <p:spPr>
          <a:xfrm rot="5400000">
            <a:off x="6212171" y="2097241"/>
            <a:ext cx="432048" cy="309556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5455697" y="3203684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</a:t>
            </a:r>
            <a:r>
              <a:rPr lang="en-US" dirty="0" err="1" smtClean="0"/>
              <a:t>h</a:t>
            </a:r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6994033" y="3203684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Nl</a:t>
            </a:r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6233138" y="3779748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</a:t>
            </a:r>
            <a:r>
              <a:rPr lang="en-US" dirty="0" err="1" smtClean="0"/>
              <a:t>x</a:t>
            </a:r>
            <a:endParaRPr lang="ru-RU" dirty="0"/>
          </a:p>
        </p:txBody>
      </p:sp>
      <p:sp>
        <p:nvSpPr>
          <p:cNvPr id="16" name="Правая фигурная скобка 15"/>
          <p:cNvSpPr/>
          <p:nvPr/>
        </p:nvSpPr>
        <p:spPr>
          <a:xfrm rot="5400000" flipH="1">
            <a:off x="4627214" y="-1287135"/>
            <a:ext cx="360041" cy="6335924"/>
          </a:xfrm>
          <a:prstGeom prst="rightBrace">
            <a:avLst>
              <a:gd name="adj1" fmla="val 8333"/>
              <a:gd name="adj2" fmla="val 49385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4576476" y="1403484"/>
            <a:ext cx="548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eNx</a:t>
            </a:r>
            <a:endParaRPr lang="ru-RU" dirty="0"/>
          </a:p>
        </p:txBody>
      </p:sp>
      <p:sp>
        <p:nvSpPr>
          <p:cNvPr id="18" name="TextBox 17"/>
          <p:cNvSpPr txBox="1"/>
          <p:nvPr/>
        </p:nvSpPr>
        <p:spPr>
          <a:xfrm>
            <a:off x="5470643" y="2262934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r>
              <a:rPr lang="en-US" dirty="0" smtClean="0"/>
              <a:t>h</a:t>
            </a:r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7054819" y="2267580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al</a:t>
            </a:r>
            <a:endParaRPr lang="ru-RU" dirty="0"/>
          </a:p>
        </p:txBody>
      </p:sp>
      <p:sp>
        <p:nvSpPr>
          <p:cNvPr id="20" name="TextBox 19"/>
          <p:cNvSpPr txBox="1"/>
          <p:nvPr/>
        </p:nvSpPr>
        <p:spPr>
          <a:xfrm>
            <a:off x="2942890" y="2267580"/>
            <a:ext cx="507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eax</a:t>
            </a:r>
            <a:endParaRPr lang="ru-RU" dirty="0"/>
          </a:p>
        </p:txBody>
      </p:sp>
      <p:sp>
        <p:nvSpPr>
          <p:cNvPr id="21" name="TextBox 20"/>
          <p:cNvSpPr txBox="1"/>
          <p:nvPr/>
        </p:nvSpPr>
        <p:spPr>
          <a:xfrm>
            <a:off x="1025861" y="1043444"/>
            <a:ext cx="3813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Структура </a:t>
            </a:r>
            <a:r>
              <a:rPr lang="ru-RU" b="1" dirty="0" smtClean="0"/>
              <a:t>операционных</a:t>
            </a:r>
            <a:r>
              <a:rPr lang="ru-RU" dirty="0" smtClean="0"/>
              <a:t> регистров:</a:t>
            </a:r>
            <a:endParaRPr lang="ru-RU" dirty="0"/>
          </a:p>
        </p:txBody>
      </p:sp>
      <p:sp>
        <p:nvSpPr>
          <p:cNvPr id="22" name="TextBox 21"/>
          <p:cNvSpPr txBox="1"/>
          <p:nvPr/>
        </p:nvSpPr>
        <p:spPr>
          <a:xfrm>
            <a:off x="7824354" y="270892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 smtClean="0"/>
              <a:t>0</a:t>
            </a:r>
            <a:endParaRPr lang="ru-RU" sz="14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6259779" y="270892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/>
              <a:t>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609" y="2708920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 smtClean="0"/>
              <a:t>16</a:t>
            </a:r>
            <a:endParaRPr lang="ru-RU" sz="14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1487889" y="276118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 smtClean="0"/>
              <a:t>31</a:t>
            </a:r>
            <a:endParaRPr lang="ru-RU" sz="1400" b="1" dirty="0"/>
          </a:p>
        </p:txBody>
      </p:sp>
      <p:sp>
        <p:nvSpPr>
          <p:cNvPr id="45" name="TextBox 44"/>
          <p:cNvSpPr txBox="1"/>
          <p:nvPr/>
        </p:nvSpPr>
        <p:spPr>
          <a:xfrm>
            <a:off x="1187624" y="4349422"/>
            <a:ext cx="727280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Tx/>
              <a:buChar char="-"/>
            </a:pPr>
            <a:r>
              <a:rPr lang="ru-RU" sz="1600" dirty="0" smtClean="0"/>
              <a:t>Предназначены для осуществления операций над данными</a:t>
            </a:r>
          </a:p>
          <a:p>
            <a:pPr algn="just"/>
            <a:endParaRPr lang="ru-RU" sz="1600" dirty="0" smtClean="0"/>
          </a:p>
          <a:p>
            <a:pPr marL="285750" indent="-285750" algn="just">
              <a:buFontTx/>
              <a:buChar char="-"/>
            </a:pPr>
            <a:r>
              <a:rPr lang="ru-RU" sz="1600" dirty="0" smtClean="0"/>
              <a:t>В процессоре имеется</a:t>
            </a:r>
            <a:r>
              <a:rPr lang="ru-RU" sz="1600" b="1" dirty="0" smtClean="0"/>
              <a:t> 4 </a:t>
            </a:r>
            <a:r>
              <a:rPr lang="ru-RU" sz="1600" dirty="0" smtClean="0"/>
              <a:t>стандартных операционных регистра: </a:t>
            </a:r>
            <a:r>
              <a:rPr lang="en-US" sz="1600" dirty="0" err="1" smtClean="0"/>
              <a:t>eax</a:t>
            </a:r>
            <a:r>
              <a:rPr lang="en-US" sz="1600" dirty="0" smtClean="0"/>
              <a:t> (</a:t>
            </a:r>
            <a:r>
              <a:rPr lang="ru-RU" sz="1600" dirty="0" smtClean="0"/>
              <a:t>аккумуляторный</a:t>
            </a:r>
            <a:r>
              <a:rPr lang="en-US" sz="1600" dirty="0" smtClean="0"/>
              <a:t>)</a:t>
            </a:r>
            <a:r>
              <a:rPr lang="ru-RU" sz="1600" dirty="0" smtClean="0"/>
              <a:t>, </a:t>
            </a:r>
            <a:r>
              <a:rPr lang="en-US" sz="1600" dirty="0" err="1" smtClean="0"/>
              <a:t>ebx</a:t>
            </a:r>
            <a:r>
              <a:rPr lang="en-US" sz="1600" dirty="0" smtClean="0"/>
              <a:t> (</a:t>
            </a:r>
            <a:r>
              <a:rPr lang="ru-RU" sz="1600" dirty="0" smtClean="0"/>
              <a:t>базовый</a:t>
            </a:r>
            <a:r>
              <a:rPr lang="en-US" sz="1600" dirty="0" smtClean="0"/>
              <a:t>)</a:t>
            </a:r>
            <a:r>
              <a:rPr lang="ru-RU" sz="1600" dirty="0" smtClean="0"/>
              <a:t>, </a:t>
            </a:r>
            <a:r>
              <a:rPr lang="en-US" sz="1600" dirty="0" err="1" smtClean="0"/>
              <a:t>ecx</a:t>
            </a:r>
            <a:r>
              <a:rPr lang="en-US" sz="1600" dirty="0" smtClean="0"/>
              <a:t> (</a:t>
            </a:r>
            <a:r>
              <a:rPr lang="ru-RU" sz="1600" dirty="0" smtClean="0"/>
              <a:t>счетчик</a:t>
            </a:r>
            <a:r>
              <a:rPr lang="en-US" sz="1600" dirty="0" smtClean="0"/>
              <a:t>)</a:t>
            </a:r>
            <a:r>
              <a:rPr lang="ru-RU" sz="1600" dirty="0" smtClean="0"/>
              <a:t>, </a:t>
            </a:r>
            <a:r>
              <a:rPr lang="en-US" sz="1600" dirty="0" err="1" smtClean="0"/>
              <a:t>edx</a:t>
            </a:r>
            <a:r>
              <a:rPr lang="en-US" sz="1600" dirty="0" smtClean="0"/>
              <a:t> </a:t>
            </a:r>
            <a:r>
              <a:rPr lang="ru-RU" sz="1600" dirty="0" smtClean="0"/>
              <a:t>(регистр данных)</a:t>
            </a:r>
          </a:p>
          <a:p>
            <a:pPr marL="285750" indent="-285750" algn="just">
              <a:buFontTx/>
              <a:buChar char="-"/>
            </a:pPr>
            <a:endParaRPr lang="ru-RU" sz="1600" dirty="0" smtClean="0"/>
          </a:p>
          <a:p>
            <a:pPr marL="285750" indent="-285750" algn="just">
              <a:buFontTx/>
              <a:buChar char="-"/>
            </a:pPr>
            <a:r>
              <a:rPr lang="ru-RU" sz="1600" dirty="0" smtClean="0"/>
              <a:t>Являются 32-х битными регистрами, но поддерживают битовую фрагментацию: </a:t>
            </a:r>
            <a:r>
              <a:rPr lang="en-US" sz="1600" dirty="0" err="1" smtClean="0"/>
              <a:t>eNx</a:t>
            </a:r>
            <a:r>
              <a:rPr lang="en-US" sz="1600" dirty="0" smtClean="0"/>
              <a:t> (32 </a:t>
            </a:r>
            <a:r>
              <a:rPr lang="ru-RU" sz="1600" dirty="0" smtClean="0"/>
              <a:t>бита</a:t>
            </a:r>
            <a:r>
              <a:rPr lang="en-US" sz="1600" dirty="0" smtClean="0"/>
              <a:t>)</a:t>
            </a:r>
            <a:r>
              <a:rPr lang="ru-RU" sz="1600" dirty="0" smtClean="0"/>
              <a:t>, </a:t>
            </a:r>
            <a:r>
              <a:rPr lang="en-US" sz="1600" dirty="0" err="1" smtClean="0"/>
              <a:t>Nx</a:t>
            </a:r>
            <a:r>
              <a:rPr lang="en-US" sz="1600" dirty="0" smtClean="0"/>
              <a:t> (</a:t>
            </a:r>
            <a:r>
              <a:rPr lang="ru-RU" sz="1600" dirty="0" smtClean="0"/>
              <a:t>16 бит</a:t>
            </a:r>
            <a:r>
              <a:rPr lang="en-US" sz="1600" dirty="0" smtClean="0"/>
              <a:t>), </a:t>
            </a:r>
            <a:r>
              <a:rPr lang="en-US" sz="1600" dirty="0" err="1" smtClean="0"/>
              <a:t>Nh</a:t>
            </a:r>
            <a:r>
              <a:rPr lang="ru-RU" sz="1600" dirty="0" smtClean="0"/>
              <a:t> и</a:t>
            </a:r>
            <a:r>
              <a:rPr lang="en-US" sz="1600" dirty="0" smtClean="0"/>
              <a:t> </a:t>
            </a:r>
            <a:r>
              <a:rPr lang="en-US" sz="1600" dirty="0" err="1" smtClean="0"/>
              <a:t>Nl</a:t>
            </a:r>
            <a:r>
              <a:rPr lang="ru-RU" sz="1600" dirty="0" smtClean="0"/>
              <a:t> (8 бит)</a:t>
            </a:r>
          </a:p>
        </p:txBody>
      </p:sp>
    </p:spTree>
    <p:extLst>
      <p:ext uri="{BB962C8B-B14F-4D97-AF65-F5344CB8AC3E}">
        <p14:creationId xmlns:p14="http://schemas.microsoft.com/office/powerpoint/2010/main" val="1916536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915816" y="332656"/>
            <a:ext cx="3134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smtClean="0"/>
              <a:t>Регистры общего назначения</a:t>
            </a:r>
            <a:endParaRPr lang="ru-RU" b="1" dirty="0"/>
          </a:p>
        </p:txBody>
      </p:sp>
      <p:sp>
        <p:nvSpPr>
          <p:cNvPr id="26" name="Прямоугольник 25"/>
          <p:cNvSpPr/>
          <p:nvPr/>
        </p:nvSpPr>
        <p:spPr>
          <a:xfrm>
            <a:off x="1585012" y="1907541"/>
            <a:ext cx="6336704" cy="64807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/>
          <p:cNvSpPr/>
          <p:nvPr/>
        </p:nvSpPr>
        <p:spPr>
          <a:xfrm>
            <a:off x="4825372" y="1907541"/>
            <a:ext cx="3096344" cy="64807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равая фигурная скобка 30"/>
          <p:cNvSpPr/>
          <p:nvPr/>
        </p:nvSpPr>
        <p:spPr>
          <a:xfrm rot="5400000">
            <a:off x="6157910" y="1521179"/>
            <a:ext cx="432048" cy="309556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/>
          <p:cNvSpPr txBox="1"/>
          <p:nvPr/>
        </p:nvSpPr>
        <p:spPr>
          <a:xfrm>
            <a:off x="6178877" y="3203686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  <a:r>
              <a:rPr lang="en-US" dirty="0" smtClean="0"/>
              <a:t>i</a:t>
            </a:r>
            <a:endParaRPr lang="ru-RU" dirty="0"/>
          </a:p>
        </p:txBody>
      </p:sp>
      <p:sp>
        <p:nvSpPr>
          <p:cNvPr id="35" name="Правая фигурная скобка 34"/>
          <p:cNvSpPr/>
          <p:nvPr/>
        </p:nvSpPr>
        <p:spPr>
          <a:xfrm rot="5400000" flipH="1">
            <a:off x="4572953" y="-1503158"/>
            <a:ext cx="360041" cy="6335924"/>
          </a:xfrm>
          <a:prstGeom prst="rightBrace">
            <a:avLst>
              <a:gd name="adj1" fmla="val 8333"/>
              <a:gd name="adj2" fmla="val 49385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TextBox 35"/>
          <p:cNvSpPr txBox="1"/>
          <p:nvPr/>
        </p:nvSpPr>
        <p:spPr>
          <a:xfrm>
            <a:off x="4522215" y="1196752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eNi</a:t>
            </a:r>
            <a:endParaRPr lang="ru-RU" dirty="0"/>
          </a:p>
        </p:txBody>
      </p:sp>
      <p:sp>
        <p:nvSpPr>
          <p:cNvPr id="37" name="TextBox 36"/>
          <p:cNvSpPr txBox="1"/>
          <p:nvPr/>
        </p:nvSpPr>
        <p:spPr>
          <a:xfrm>
            <a:off x="6171122" y="2046911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di</a:t>
            </a:r>
            <a:endParaRPr lang="ru-RU" dirty="0"/>
          </a:p>
        </p:txBody>
      </p:sp>
      <p:sp>
        <p:nvSpPr>
          <p:cNvPr id="39" name="TextBox 38"/>
          <p:cNvSpPr txBox="1"/>
          <p:nvPr/>
        </p:nvSpPr>
        <p:spPr>
          <a:xfrm>
            <a:off x="2888629" y="2051557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edi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971600" y="908720"/>
            <a:ext cx="3783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Структура </a:t>
            </a:r>
            <a:r>
              <a:rPr lang="ru-RU" b="1" dirty="0" smtClean="0"/>
              <a:t>итерационных</a:t>
            </a:r>
            <a:r>
              <a:rPr lang="ru-RU" dirty="0" smtClean="0"/>
              <a:t> регистров:</a:t>
            </a:r>
            <a:endParaRPr lang="ru-RU" dirty="0"/>
          </a:p>
        </p:txBody>
      </p:sp>
      <p:sp>
        <p:nvSpPr>
          <p:cNvPr id="41" name="TextBox 40"/>
          <p:cNvSpPr txBox="1"/>
          <p:nvPr/>
        </p:nvSpPr>
        <p:spPr>
          <a:xfrm>
            <a:off x="7770093" y="249289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 smtClean="0"/>
              <a:t>0</a:t>
            </a:r>
            <a:endParaRPr lang="ru-RU" sz="1400" b="1" dirty="0"/>
          </a:p>
        </p:txBody>
      </p:sp>
      <p:sp>
        <p:nvSpPr>
          <p:cNvPr id="42" name="TextBox 41"/>
          <p:cNvSpPr txBox="1"/>
          <p:nvPr/>
        </p:nvSpPr>
        <p:spPr>
          <a:xfrm>
            <a:off x="6205518" y="249289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/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9348" y="2492897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 smtClean="0"/>
              <a:t>16</a:t>
            </a:r>
            <a:endParaRPr lang="ru-RU" sz="1400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1433628" y="2545160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 smtClean="0"/>
              <a:t>31</a:t>
            </a:r>
            <a:endParaRPr lang="ru-RU" sz="1400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1187624" y="4149080"/>
            <a:ext cx="727280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Tx/>
              <a:buChar char="-"/>
            </a:pPr>
            <a:r>
              <a:rPr lang="ru-RU" sz="1600" dirty="0" smtClean="0"/>
              <a:t>Предназначены для осуществления </a:t>
            </a:r>
            <a:r>
              <a:rPr lang="ru-RU" sz="1600" b="1" dirty="0" smtClean="0"/>
              <a:t>итерационных</a:t>
            </a:r>
            <a:r>
              <a:rPr lang="ru-RU" sz="1600" dirty="0" smtClean="0"/>
              <a:t> операций строками и массивами данных</a:t>
            </a:r>
          </a:p>
          <a:p>
            <a:pPr algn="just"/>
            <a:endParaRPr lang="ru-RU" sz="1600" dirty="0" smtClean="0"/>
          </a:p>
          <a:p>
            <a:pPr marL="285750" indent="-285750" algn="just">
              <a:buFontTx/>
              <a:buChar char="-"/>
            </a:pPr>
            <a:r>
              <a:rPr lang="ru-RU" sz="1600" dirty="0" smtClean="0"/>
              <a:t>В процессоре имеется</a:t>
            </a:r>
            <a:r>
              <a:rPr lang="ru-RU" sz="1600" b="1" dirty="0" smtClean="0"/>
              <a:t> 2 </a:t>
            </a:r>
            <a:r>
              <a:rPr lang="ru-RU" sz="1600" dirty="0" smtClean="0"/>
              <a:t>стандартных итерационных регистра: </a:t>
            </a:r>
            <a:r>
              <a:rPr lang="en-US" sz="1600" dirty="0" err="1" smtClean="0"/>
              <a:t>esi</a:t>
            </a:r>
            <a:r>
              <a:rPr lang="en-US" sz="1600" dirty="0" smtClean="0"/>
              <a:t> (</a:t>
            </a:r>
            <a:r>
              <a:rPr lang="ru-RU" sz="1600" dirty="0" smtClean="0"/>
              <a:t>индекс источника</a:t>
            </a:r>
            <a:r>
              <a:rPr lang="en-US" sz="1600" dirty="0" smtClean="0"/>
              <a:t>)</a:t>
            </a:r>
            <a:r>
              <a:rPr lang="ru-RU" sz="1600" dirty="0" smtClean="0"/>
              <a:t>, </a:t>
            </a:r>
            <a:r>
              <a:rPr lang="en-US" sz="1600" dirty="0" err="1" smtClean="0"/>
              <a:t>edi</a:t>
            </a:r>
            <a:r>
              <a:rPr lang="en-US" sz="1600" dirty="0" smtClean="0"/>
              <a:t> (</a:t>
            </a:r>
            <a:r>
              <a:rPr lang="ru-RU" sz="1600" dirty="0" smtClean="0"/>
              <a:t>индекс приемника</a:t>
            </a:r>
            <a:r>
              <a:rPr lang="en-US" sz="1600" dirty="0" smtClean="0"/>
              <a:t>)</a:t>
            </a:r>
            <a:endParaRPr lang="ru-RU" sz="1600" dirty="0" smtClean="0"/>
          </a:p>
          <a:p>
            <a:pPr algn="just"/>
            <a:endParaRPr lang="ru-RU" sz="1600" dirty="0" smtClean="0"/>
          </a:p>
          <a:p>
            <a:pPr marL="285750" indent="-285750" algn="just">
              <a:buFontTx/>
              <a:buChar char="-"/>
            </a:pPr>
            <a:r>
              <a:rPr lang="ru-RU" sz="1600" dirty="0" smtClean="0"/>
              <a:t>Являются 32-разрядными регистрами; поддерживают битовую фрагментацию: </a:t>
            </a:r>
            <a:r>
              <a:rPr lang="en-US" sz="1600" dirty="0" err="1" smtClean="0"/>
              <a:t>eN</a:t>
            </a:r>
            <a:r>
              <a:rPr lang="en-US" sz="1600" dirty="0" err="1"/>
              <a:t>i</a:t>
            </a:r>
            <a:r>
              <a:rPr lang="en-US" sz="1600" dirty="0" smtClean="0"/>
              <a:t> (32 </a:t>
            </a:r>
            <a:r>
              <a:rPr lang="ru-RU" sz="1600" dirty="0" smtClean="0"/>
              <a:t>бита</a:t>
            </a:r>
            <a:r>
              <a:rPr lang="en-US" sz="1600" dirty="0" smtClean="0"/>
              <a:t>)</a:t>
            </a:r>
            <a:r>
              <a:rPr lang="ru-RU" sz="1600" dirty="0" smtClean="0"/>
              <a:t>, </a:t>
            </a:r>
            <a:r>
              <a:rPr lang="en-US" sz="1600" dirty="0" smtClean="0"/>
              <a:t>Ni (</a:t>
            </a:r>
            <a:r>
              <a:rPr lang="ru-RU" sz="1600" dirty="0" smtClean="0"/>
              <a:t>16 бит</a:t>
            </a:r>
            <a:r>
              <a:rPr lang="en-US" sz="1600" dirty="0" smtClean="0"/>
              <a:t>)</a:t>
            </a:r>
            <a:endParaRPr lang="ru-RU" sz="1600" dirty="0" smtClean="0"/>
          </a:p>
        </p:txBody>
      </p:sp>
    </p:spTree>
    <p:extLst>
      <p:ext uri="{BB962C8B-B14F-4D97-AF65-F5344CB8AC3E}">
        <p14:creationId xmlns:p14="http://schemas.microsoft.com/office/powerpoint/2010/main" val="258574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915816" y="332656"/>
            <a:ext cx="3134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smtClean="0"/>
              <a:t>Регистры общего назначения</a:t>
            </a:r>
            <a:endParaRPr lang="ru-RU" b="1" dirty="0"/>
          </a:p>
        </p:txBody>
      </p:sp>
      <p:sp>
        <p:nvSpPr>
          <p:cNvPr id="26" name="Прямоугольник 25"/>
          <p:cNvSpPr/>
          <p:nvPr/>
        </p:nvSpPr>
        <p:spPr>
          <a:xfrm>
            <a:off x="1585012" y="1907541"/>
            <a:ext cx="6336704" cy="64807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/>
          <p:cNvSpPr/>
          <p:nvPr/>
        </p:nvSpPr>
        <p:spPr>
          <a:xfrm>
            <a:off x="4825372" y="1907541"/>
            <a:ext cx="3096344" cy="64807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равая фигурная скобка 30"/>
          <p:cNvSpPr/>
          <p:nvPr/>
        </p:nvSpPr>
        <p:spPr>
          <a:xfrm rot="5400000">
            <a:off x="6157910" y="1521179"/>
            <a:ext cx="432048" cy="309556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/>
          <p:cNvSpPr txBox="1"/>
          <p:nvPr/>
        </p:nvSpPr>
        <p:spPr>
          <a:xfrm>
            <a:off x="6178877" y="3203686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Np</a:t>
            </a:r>
            <a:endParaRPr lang="ru-RU" dirty="0"/>
          </a:p>
        </p:txBody>
      </p:sp>
      <p:sp>
        <p:nvSpPr>
          <p:cNvPr id="35" name="Правая фигурная скобка 34"/>
          <p:cNvSpPr/>
          <p:nvPr/>
        </p:nvSpPr>
        <p:spPr>
          <a:xfrm rot="5400000" flipH="1">
            <a:off x="4572953" y="-1503158"/>
            <a:ext cx="360041" cy="6335924"/>
          </a:xfrm>
          <a:prstGeom prst="rightBrace">
            <a:avLst>
              <a:gd name="adj1" fmla="val 8333"/>
              <a:gd name="adj2" fmla="val 49385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TextBox 35"/>
          <p:cNvSpPr txBox="1"/>
          <p:nvPr/>
        </p:nvSpPr>
        <p:spPr>
          <a:xfrm>
            <a:off x="4522215" y="1196752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eN</a:t>
            </a:r>
            <a:r>
              <a:rPr lang="en-US" dirty="0" err="1"/>
              <a:t>p</a:t>
            </a:r>
            <a:endParaRPr lang="ru-RU" dirty="0"/>
          </a:p>
        </p:txBody>
      </p:sp>
      <p:sp>
        <p:nvSpPr>
          <p:cNvPr id="37" name="TextBox 36"/>
          <p:cNvSpPr txBox="1"/>
          <p:nvPr/>
        </p:nvSpPr>
        <p:spPr>
          <a:xfrm>
            <a:off x="6171122" y="2046911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b</a:t>
            </a:r>
            <a:r>
              <a:rPr lang="en-US" dirty="0" err="1" smtClean="0"/>
              <a:t>p</a:t>
            </a:r>
            <a:endParaRPr lang="ru-RU" dirty="0"/>
          </a:p>
        </p:txBody>
      </p:sp>
      <p:sp>
        <p:nvSpPr>
          <p:cNvPr id="39" name="TextBox 38"/>
          <p:cNvSpPr txBox="1"/>
          <p:nvPr/>
        </p:nvSpPr>
        <p:spPr>
          <a:xfrm>
            <a:off x="2888629" y="2051557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ebp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971600" y="908720"/>
            <a:ext cx="32264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Структура </a:t>
            </a:r>
            <a:r>
              <a:rPr lang="ru-RU" b="1" dirty="0" smtClean="0"/>
              <a:t>стековых </a:t>
            </a:r>
            <a:r>
              <a:rPr lang="ru-RU" dirty="0" smtClean="0"/>
              <a:t>регистров:</a:t>
            </a:r>
            <a:endParaRPr lang="ru-RU" dirty="0"/>
          </a:p>
        </p:txBody>
      </p:sp>
      <p:sp>
        <p:nvSpPr>
          <p:cNvPr id="41" name="TextBox 40"/>
          <p:cNvSpPr txBox="1"/>
          <p:nvPr/>
        </p:nvSpPr>
        <p:spPr>
          <a:xfrm>
            <a:off x="7770093" y="249289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 smtClean="0"/>
              <a:t>0</a:t>
            </a:r>
            <a:endParaRPr lang="ru-RU" sz="1400" b="1" dirty="0"/>
          </a:p>
        </p:txBody>
      </p:sp>
      <p:sp>
        <p:nvSpPr>
          <p:cNvPr id="42" name="TextBox 41"/>
          <p:cNvSpPr txBox="1"/>
          <p:nvPr/>
        </p:nvSpPr>
        <p:spPr>
          <a:xfrm>
            <a:off x="6205518" y="249289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/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9348" y="2492897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 smtClean="0"/>
              <a:t>16</a:t>
            </a:r>
            <a:endParaRPr lang="ru-RU" sz="1400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1433628" y="2545160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 smtClean="0"/>
              <a:t>31</a:t>
            </a:r>
            <a:endParaRPr lang="ru-RU" sz="1400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1187624" y="4149080"/>
            <a:ext cx="727280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Tx/>
              <a:buChar char="-"/>
            </a:pPr>
            <a:r>
              <a:rPr lang="ru-RU" sz="1600" dirty="0" smtClean="0"/>
              <a:t>Предназначены для управления стековой памятью</a:t>
            </a:r>
          </a:p>
          <a:p>
            <a:pPr algn="just"/>
            <a:endParaRPr lang="ru-RU" sz="1600" dirty="0" smtClean="0"/>
          </a:p>
          <a:p>
            <a:pPr marL="285750" indent="-285750" algn="just">
              <a:buFontTx/>
              <a:buChar char="-"/>
            </a:pPr>
            <a:r>
              <a:rPr lang="ru-RU" sz="1600" dirty="0" smtClean="0"/>
              <a:t>В процессоре имеется</a:t>
            </a:r>
            <a:r>
              <a:rPr lang="ru-RU" sz="1600" b="1" dirty="0" smtClean="0"/>
              <a:t> 2 </a:t>
            </a:r>
            <a:r>
              <a:rPr lang="ru-RU" sz="1600" dirty="0" smtClean="0"/>
              <a:t>стандартных стековых регистра: </a:t>
            </a:r>
            <a:r>
              <a:rPr lang="en-US" sz="1600" dirty="0" err="1" smtClean="0"/>
              <a:t>ebp</a:t>
            </a:r>
            <a:r>
              <a:rPr lang="en-US" sz="1600" dirty="0" smtClean="0"/>
              <a:t> (</a:t>
            </a:r>
            <a:r>
              <a:rPr lang="ru-RU" sz="1600" dirty="0" smtClean="0"/>
              <a:t>базовый</a:t>
            </a:r>
            <a:r>
              <a:rPr lang="en-US" sz="1600" dirty="0" smtClean="0"/>
              <a:t>)</a:t>
            </a:r>
            <a:r>
              <a:rPr lang="ru-RU" sz="1600" dirty="0" smtClean="0"/>
              <a:t>, </a:t>
            </a:r>
            <a:r>
              <a:rPr lang="en-US" sz="1600" dirty="0" err="1" smtClean="0"/>
              <a:t>esp</a:t>
            </a:r>
            <a:r>
              <a:rPr lang="en-US" sz="1600" dirty="0" smtClean="0"/>
              <a:t> (</a:t>
            </a:r>
            <a:r>
              <a:rPr lang="ru-RU" sz="1600" dirty="0" smtClean="0"/>
              <a:t>регистр вершины</a:t>
            </a:r>
            <a:r>
              <a:rPr lang="en-US" sz="1600" dirty="0" smtClean="0"/>
              <a:t>)</a:t>
            </a:r>
            <a:endParaRPr lang="ru-RU" sz="1600" dirty="0" smtClean="0"/>
          </a:p>
          <a:p>
            <a:pPr algn="just"/>
            <a:endParaRPr lang="ru-RU" sz="1600" dirty="0" smtClean="0"/>
          </a:p>
          <a:p>
            <a:pPr marL="285750" indent="-285750" algn="just">
              <a:buFontTx/>
              <a:buChar char="-"/>
            </a:pPr>
            <a:r>
              <a:rPr lang="ru-RU" sz="1600" dirty="0" smtClean="0"/>
              <a:t>Являются 32-разрядными регистрами; поддерживают битовую фрагментацию: </a:t>
            </a:r>
            <a:r>
              <a:rPr lang="en-US" sz="1600" dirty="0" err="1" smtClean="0"/>
              <a:t>eNp</a:t>
            </a:r>
            <a:r>
              <a:rPr lang="en-US" sz="1600" dirty="0" smtClean="0"/>
              <a:t> (32 </a:t>
            </a:r>
            <a:r>
              <a:rPr lang="ru-RU" sz="1600" dirty="0" smtClean="0"/>
              <a:t>бита</a:t>
            </a:r>
            <a:r>
              <a:rPr lang="en-US" sz="1600" dirty="0" smtClean="0"/>
              <a:t>)</a:t>
            </a:r>
            <a:r>
              <a:rPr lang="ru-RU" sz="1600" dirty="0" smtClean="0"/>
              <a:t>, </a:t>
            </a:r>
            <a:r>
              <a:rPr lang="en-US" sz="1600" dirty="0" smtClean="0"/>
              <a:t>Np (</a:t>
            </a:r>
            <a:r>
              <a:rPr lang="ru-RU" sz="1600" dirty="0" smtClean="0"/>
              <a:t>16 бит</a:t>
            </a:r>
            <a:r>
              <a:rPr lang="en-US" sz="1600" dirty="0" smtClean="0"/>
              <a:t>)</a:t>
            </a:r>
            <a:endParaRPr lang="ru-RU" sz="1600" dirty="0" smtClean="0"/>
          </a:p>
        </p:txBody>
      </p:sp>
    </p:spTree>
    <p:extLst>
      <p:ext uri="{BB962C8B-B14F-4D97-AF65-F5344CB8AC3E}">
        <p14:creationId xmlns:p14="http://schemas.microsoft.com/office/powerpoint/2010/main" val="3960158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 flipH="1">
            <a:off x="4067944" y="5373216"/>
            <a:ext cx="2250901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 flipV="1">
            <a:off x="3222501" y="5373216"/>
            <a:ext cx="845443" cy="792088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4067944" y="1340768"/>
            <a:ext cx="0" cy="4032448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Куб 10"/>
          <p:cNvSpPr/>
          <p:nvPr/>
        </p:nvSpPr>
        <p:spPr>
          <a:xfrm>
            <a:off x="3563888" y="4869160"/>
            <a:ext cx="2347714" cy="945790"/>
          </a:xfrm>
          <a:prstGeom prst="cub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Куб 14"/>
          <p:cNvSpPr/>
          <p:nvPr/>
        </p:nvSpPr>
        <p:spPr>
          <a:xfrm>
            <a:off x="3563888" y="4005064"/>
            <a:ext cx="2347714" cy="945790"/>
          </a:xfrm>
          <a:prstGeom prst="cub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Куб 15"/>
          <p:cNvSpPr/>
          <p:nvPr/>
        </p:nvSpPr>
        <p:spPr>
          <a:xfrm>
            <a:off x="3563888" y="3131282"/>
            <a:ext cx="2347714" cy="945790"/>
          </a:xfrm>
          <a:prstGeom prst="cub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Куб 16"/>
          <p:cNvSpPr/>
          <p:nvPr/>
        </p:nvSpPr>
        <p:spPr>
          <a:xfrm>
            <a:off x="3203848" y="1340768"/>
            <a:ext cx="3096344" cy="4824536"/>
          </a:xfrm>
          <a:prstGeom prst="cube">
            <a:avLst/>
          </a:prstGeom>
          <a:solidFill>
            <a:schemeClr val="accent1">
              <a:alpha val="2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/>
          <p:cNvSpPr txBox="1"/>
          <p:nvPr/>
        </p:nvSpPr>
        <p:spPr>
          <a:xfrm>
            <a:off x="2915816" y="476672"/>
            <a:ext cx="3743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smtClean="0"/>
              <a:t>Использование стековых регистров</a:t>
            </a:r>
            <a:endParaRPr lang="ru-RU" b="1" dirty="0"/>
          </a:p>
        </p:txBody>
      </p:sp>
      <p:cxnSp>
        <p:nvCxnSpPr>
          <p:cNvPr id="29" name="Прямая со стрелкой 28"/>
          <p:cNvCxnSpPr/>
          <p:nvPr/>
        </p:nvCxnSpPr>
        <p:spPr>
          <a:xfrm>
            <a:off x="2498515" y="3356992"/>
            <a:ext cx="936104" cy="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>
            <a:off x="2521857" y="4221088"/>
            <a:ext cx="936104" cy="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965398" y="3172326"/>
            <a:ext cx="519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ESP</a:t>
            </a:r>
            <a:endParaRPr lang="ru-RU" dirty="0"/>
          </a:p>
        </p:txBody>
      </p:sp>
      <p:sp>
        <p:nvSpPr>
          <p:cNvPr id="33" name="TextBox 32"/>
          <p:cNvSpPr txBox="1"/>
          <p:nvPr/>
        </p:nvSpPr>
        <p:spPr>
          <a:xfrm>
            <a:off x="2015988" y="4031997"/>
            <a:ext cx="54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EBP</a:t>
            </a:r>
            <a:endParaRPr lang="ru-RU" dirty="0"/>
          </a:p>
        </p:txBody>
      </p:sp>
      <p:sp>
        <p:nvSpPr>
          <p:cNvPr id="34" name="TextBox 33"/>
          <p:cNvSpPr txBox="1"/>
          <p:nvPr/>
        </p:nvSpPr>
        <p:spPr>
          <a:xfrm>
            <a:off x="4427984" y="1556792"/>
            <a:ext cx="677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Stack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98888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915816" y="332656"/>
            <a:ext cx="3134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smtClean="0"/>
              <a:t>Регистры общего назначения</a:t>
            </a:r>
            <a:endParaRPr lang="ru-RU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1025861" y="836712"/>
            <a:ext cx="3615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Структура регистр</a:t>
            </a:r>
            <a:r>
              <a:rPr lang="ru-RU" dirty="0"/>
              <a:t>а</a:t>
            </a:r>
            <a:r>
              <a:rPr lang="en-US" dirty="0" smtClean="0"/>
              <a:t> </a:t>
            </a:r>
            <a:r>
              <a:rPr lang="ru-RU" dirty="0" smtClean="0"/>
              <a:t>флагов </a:t>
            </a:r>
            <a:r>
              <a:rPr lang="en-US" dirty="0"/>
              <a:t>R</a:t>
            </a:r>
            <a:r>
              <a:rPr lang="en-US" dirty="0" smtClean="0"/>
              <a:t>FLAGS</a:t>
            </a:r>
            <a:r>
              <a:rPr lang="ru-RU" dirty="0" smtClean="0"/>
              <a:t>:</a:t>
            </a:r>
            <a:endParaRPr lang="ru-RU" dirty="0"/>
          </a:p>
        </p:txBody>
      </p:sp>
      <p:sp>
        <p:nvSpPr>
          <p:cNvPr id="45" name="TextBox 44"/>
          <p:cNvSpPr txBox="1"/>
          <p:nvPr/>
        </p:nvSpPr>
        <p:spPr>
          <a:xfrm>
            <a:off x="911586" y="2852936"/>
            <a:ext cx="727280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Tx/>
              <a:buChar char="-"/>
            </a:pPr>
            <a:r>
              <a:rPr lang="ru-RU" sz="1600" dirty="0" smtClean="0"/>
              <a:t>Предназначены для отображения режимов работы процессора и косвенных результатов выполнения операций на д данными</a:t>
            </a:r>
          </a:p>
          <a:p>
            <a:pPr marL="285750" indent="-285750" algn="just">
              <a:buFontTx/>
              <a:buChar char="-"/>
            </a:pPr>
            <a:endParaRPr lang="ru-RU" sz="1600" dirty="0" smtClean="0"/>
          </a:p>
          <a:p>
            <a:pPr marL="285750" indent="-285750" algn="just">
              <a:buFontTx/>
              <a:buChar char="-"/>
            </a:pPr>
            <a:r>
              <a:rPr lang="ru-RU" sz="1600" dirty="0" smtClean="0"/>
              <a:t>Являются 64-разрядными регистрами, но поддерживают битовую фрагментацию: </a:t>
            </a:r>
            <a:r>
              <a:rPr lang="en-US" sz="1600" dirty="0" err="1" smtClean="0"/>
              <a:t>rflags</a:t>
            </a:r>
            <a:r>
              <a:rPr lang="en-US" sz="1600" dirty="0" smtClean="0"/>
              <a:t> (32 </a:t>
            </a:r>
            <a:r>
              <a:rPr lang="ru-RU" sz="1600" dirty="0" smtClean="0"/>
              <a:t>бита</a:t>
            </a:r>
            <a:r>
              <a:rPr lang="en-US" sz="1600" dirty="0" smtClean="0"/>
              <a:t>)</a:t>
            </a:r>
            <a:r>
              <a:rPr lang="ru-RU" sz="1600" dirty="0" smtClean="0"/>
              <a:t>, </a:t>
            </a:r>
            <a:r>
              <a:rPr lang="en-US" sz="1600" dirty="0" err="1" smtClean="0"/>
              <a:t>eflags</a:t>
            </a:r>
            <a:r>
              <a:rPr lang="en-US" sz="1600" dirty="0" smtClean="0"/>
              <a:t> (</a:t>
            </a:r>
            <a:r>
              <a:rPr lang="ru-RU" sz="1600" dirty="0" smtClean="0"/>
              <a:t>16 бит</a:t>
            </a:r>
            <a:r>
              <a:rPr lang="en-US" sz="1600" dirty="0" smtClean="0"/>
              <a:t>), flags</a:t>
            </a:r>
            <a:r>
              <a:rPr lang="ru-RU" sz="1600" dirty="0" smtClean="0"/>
              <a:t>(8 бит)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524089" y="179836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 smtClean="0"/>
              <a:t>0</a:t>
            </a:r>
            <a:endParaRPr lang="ru-RU" sz="1400" b="1" dirty="0"/>
          </a:p>
        </p:txBody>
      </p:sp>
      <p:sp>
        <p:nvSpPr>
          <p:cNvPr id="83" name="TextBox 82"/>
          <p:cNvSpPr txBox="1"/>
          <p:nvPr/>
        </p:nvSpPr>
        <p:spPr>
          <a:xfrm>
            <a:off x="5932784" y="1798367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 smtClean="0"/>
              <a:t>16</a:t>
            </a:r>
            <a:endParaRPr lang="ru-RU" sz="1400" b="1" dirty="0"/>
          </a:p>
        </p:txBody>
      </p:sp>
      <p:sp>
        <p:nvSpPr>
          <p:cNvPr id="84" name="TextBox 83"/>
          <p:cNvSpPr txBox="1"/>
          <p:nvPr/>
        </p:nvSpPr>
        <p:spPr>
          <a:xfrm>
            <a:off x="1187624" y="1825079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 smtClean="0"/>
              <a:t>31</a:t>
            </a:r>
            <a:endParaRPr lang="ru-RU" sz="1400" b="1" dirty="0"/>
          </a:p>
        </p:txBody>
      </p:sp>
      <p:sp>
        <p:nvSpPr>
          <p:cNvPr id="87" name="Прямоугольник 86"/>
          <p:cNvSpPr/>
          <p:nvPr/>
        </p:nvSpPr>
        <p:spPr>
          <a:xfrm>
            <a:off x="1351528" y="1477918"/>
            <a:ext cx="6326201" cy="32403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8" name="Прямоугольник 87"/>
          <p:cNvSpPr/>
          <p:nvPr/>
        </p:nvSpPr>
        <p:spPr>
          <a:xfrm>
            <a:off x="4483104" y="1487687"/>
            <a:ext cx="3192608" cy="324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9" name="Прямоугольник 88"/>
          <p:cNvSpPr/>
          <p:nvPr/>
        </p:nvSpPr>
        <p:spPr>
          <a:xfrm>
            <a:off x="6127540" y="1487687"/>
            <a:ext cx="1548172" cy="32403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0" name="TextBox 89"/>
          <p:cNvSpPr txBox="1"/>
          <p:nvPr/>
        </p:nvSpPr>
        <p:spPr>
          <a:xfrm>
            <a:off x="4932040" y="1465039"/>
            <a:ext cx="730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eflags</a:t>
            </a:r>
            <a:endParaRPr lang="ru-RU" dirty="0"/>
          </a:p>
        </p:txBody>
      </p:sp>
      <p:sp>
        <p:nvSpPr>
          <p:cNvPr id="91" name="TextBox 90"/>
          <p:cNvSpPr txBox="1"/>
          <p:nvPr/>
        </p:nvSpPr>
        <p:spPr>
          <a:xfrm>
            <a:off x="6618819" y="1468626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flags</a:t>
            </a:r>
            <a:endParaRPr lang="ru-RU" dirty="0"/>
          </a:p>
        </p:txBody>
      </p:sp>
      <p:sp>
        <p:nvSpPr>
          <p:cNvPr id="92" name="TextBox 91"/>
          <p:cNvSpPr txBox="1"/>
          <p:nvPr/>
        </p:nvSpPr>
        <p:spPr>
          <a:xfrm>
            <a:off x="2483768" y="146862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rflags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6308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915816" y="332656"/>
            <a:ext cx="1862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smtClean="0"/>
              <a:t>Регистры флагов</a:t>
            </a:r>
            <a:endParaRPr lang="ru-RU" b="1" dirty="0"/>
          </a:p>
        </p:txBody>
      </p:sp>
      <p:sp>
        <p:nvSpPr>
          <p:cNvPr id="45" name="TextBox 44"/>
          <p:cNvSpPr txBox="1"/>
          <p:nvPr/>
        </p:nvSpPr>
        <p:spPr>
          <a:xfrm>
            <a:off x="925910" y="2145045"/>
            <a:ext cx="727280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 smtClean="0"/>
              <a:t>CF – </a:t>
            </a:r>
            <a:r>
              <a:rPr lang="ru-RU" sz="1600" dirty="0" smtClean="0"/>
              <a:t>флаг переноса</a:t>
            </a:r>
            <a:r>
              <a:rPr lang="en-US" sz="1600" dirty="0" smtClean="0"/>
              <a:t> (Carry Flag)</a:t>
            </a:r>
            <a:r>
              <a:rPr lang="ru-RU" sz="1600" dirty="0" smtClean="0"/>
              <a:t>. Устанавливается в 1, если произошел заем или перенос старшего бита; может быть изменен вручную</a:t>
            </a:r>
          </a:p>
          <a:p>
            <a:pPr algn="just"/>
            <a:endParaRPr lang="ru-RU" sz="1600" dirty="0"/>
          </a:p>
          <a:p>
            <a:pPr algn="just"/>
            <a:r>
              <a:rPr lang="en-US" sz="1600" dirty="0" smtClean="0"/>
              <a:t>PF – </a:t>
            </a:r>
            <a:r>
              <a:rPr lang="ru-RU" sz="1600" dirty="0" smtClean="0"/>
              <a:t>флаг четности (</a:t>
            </a:r>
            <a:r>
              <a:rPr lang="en-US" sz="1600" dirty="0" smtClean="0"/>
              <a:t>Parity Flag</a:t>
            </a:r>
            <a:r>
              <a:rPr lang="ru-RU" sz="1600" dirty="0" smtClean="0"/>
              <a:t>). Устанавливается в 1, если младший байт результата предыдущей операции содержит четное число единичных бит</a:t>
            </a:r>
          </a:p>
          <a:p>
            <a:pPr algn="just"/>
            <a:endParaRPr lang="ru-RU" sz="1600" dirty="0" smtClean="0"/>
          </a:p>
          <a:p>
            <a:pPr algn="just"/>
            <a:r>
              <a:rPr lang="en-US" sz="1600" dirty="0" smtClean="0"/>
              <a:t>AF – </a:t>
            </a:r>
            <a:r>
              <a:rPr lang="ru-RU" sz="1600" dirty="0" smtClean="0"/>
              <a:t>флаг вспомогательного переноса (</a:t>
            </a:r>
            <a:r>
              <a:rPr lang="en-US" sz="1600" dirty="0" smtClean="0"/>
              <a:t>Auxiliary Carry Flag</a:t>
            </a:r>
            <a:r>
              <a:rPr lang="ru-RU" sz="1600" dirty="0" smtClean="0"/>
              <a:t>). Устанавливается в 1, если произошел перенос из 3-го бита в 4-ый. </a:t>
            </a:r>
            <a:r>
              <a:rPr lang="ru-RU" sz="1600" dirty="0" err="1" smtClean="0"/>
              <a:t>Исползуется</a:t>
            </a:r>
            <a:r>
              <a:rPr lang="ru-RU" sz="1600" dirty="0" smtClean="0"/>
              <a:t> операциями двоичной коррекции</a:t>
            </a:r>
          </a:p>
          <a:p>
            <a:pPr algn="just"/>
            <a:endParaRPr lang="ru-RU" sz="1600" dirty="0" smtClean="0"/>
          </a:p>
          <a:p>
            <a:pPr algn="just"/>
            <a:r>
              <a:rPr lang="en-US" sz="1600" dirty="0" smtClean="0"/>
              <a:t>ZF – </a:t>
            </a:r>
            <a:r>
              <a:rPr lang="ru-RU" sz="1600" dirty="0" smtClean="0"/>
              <a:t>флаг нулевого результата (</a:t>
            </a:r>
            <a:r>
              <a:rPr lang="en-US" sz="1600" dirty="0" err="1" smtClean="0"/>
              <a:t>ZeroFlag</a:t>
            </a:r>
            <a:r>
              <a:rPr lang="ru-RU" sz="1600" dirty="0" smtClean="0"/>
              <a:t>). Устанавливается в 1, результат предыдущей операции равен 0</a:t>
            </a:r>
          </a:p>
          <a:p>
            <a:pPr algn="just"/>
            <a:endParaRPr lang="ru-RU" sz="1600" dirty="0" smtClean="0"/>
          </a:p>
          <a:p>
            <a:pPr algn="just"/>
            <a:r>
              <a:rPr lang="en-US" sz="1600" dirty="0" smtClean="0"/>
              <a:t>SF – </a:t>
            </a:r>
            <a:r>
              <a:rPr lang="ru-RU" sz="1600" dirty="0" smtClean="0"/>
              <a:t>флаг знака (</a:t>
            </a:r>
            <a:r>
              <a:rPr lang="en-US" sz="1600" dirty="0" smtClean="0"/>
              <a:t>Sign Flag</a:t>
            </a:r>
            <a:r>
              <a:rPr lang="ru-RU" sz="1600" dirty="0" smtClean="0"/>
              <a:t>). Всегда равен старшему биту результата</a:t>
            </a:r>
          </a:p>
          <a:p>
            <a:pPr algn="just"/>
            <a:endParaRPr lang="ru-RU" sz="1600" dirty="0" smtClean="0"/>
          </a:p>
          <a:p>
            <a:pPr algn="just"/>
            <a:r>
              <a:rPr lang="en-US" sz="1600" dirty="0" smtClean="0"/>
              <a:t>TF – </a:t>
            </a:r>
            <a:r>
              <a:rPr lang="ru-RU" sz="1600" dirty="0" smtClean="0"/>
              <a:t>флаг ловушки (</a:t>
            </a:r>
            <a:r>
              <a:rPr lang="en-US" sz="1600" dirty="0" smtClean="0"/>
              <a:t>Trap Flag</a:t>
            </a:r>
            <a:r>
              <a:rPr lang="ru-RU" sz="1600" dirty="0" smtClean="0"/>
              <a:t>). Используется отладчика реального режима. Установив его в 1, процессор после выполнения каждой команды будет вызывать прерывание </a:t>
            </a:r>
            <a:r>
              <a:rPr lang="en-US" sz="1600" dirty="0" smtClean="0"/>
              <a:t>INT</a:t>
            </a:r>
            <a:r>
              <a:rPr lang="ru-RU" sz="1600" dirty="0" smtClean="0"/>
              <a:t>.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827584" y="1196752"/>
            <a:ext cx="7488830" cy="64807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/>
        </p:nvSpPr>
        <p:spPr>
          <a:xfrm>
            <a:off x="827584" y="1196752"/>
            <a:ext cx="480995" cy="6480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/>
          <p:cNvSpPr txBox="1"/>
          <p:nvPr/>
        </p:nvSpPr>
        <p:spPr>
          <a:xfrm>
            <a:off x="899592" y="132683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ru-RU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1282693" y="1196752"/>
            <a:ext cx="480995" cy="64807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/>
          <p:cNvSpPr txBox="1"/>
          <p:nvPr/>
        </p:nvSpPr>
        <p:spPr>
          <a:xfrm>
            <a:off x="1308579" y="1326830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NT</a:t>
            </a:r>
            <a:endParaRPr lang="ru-RU" dirty="0"/>
          </a:p>
        </p:txBody>
      </p:sp>
      <p:sp>
        <p:nvSpPr>
          <p:cNvPr id="19" name="Прямоугольник 18"/>
          <p:cNvSpPr/>
          <p:nvPr/>
        </p:nvSpPr>
        <p:spPr>
          <a:xfrm>
            <a:off x="1763688" y="1196752"/>
            <a:ext cx="815149" cy="64807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1872703" y="1336122"/>
            <a:ext cx="611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IOPL</a:t>
            </a:r>
            <a:endParaRPr lang="ru-RU" dirty="0"/>
          </a:p>
        </p:txBody>
      </p:sp>
      <p:sp>
        <p:nvSpPr>
          <p:cNvPr id="23" name="Прямоугольник 22"/>
          <p:cNvSpPr/>
          <p:nvPr/>
        </p:nvSpPr>
        <p:spPr>
          <a:xfrm>
            <a:off x="2578837" y="1196752"/>
            <a:ext cx="480995" cy="64807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2597959" y="1336122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OF</a:t>
            </a:r>
            <a:endParaRPr lang="ru-RU" dirty="0"/>
          </a:p>
        </p:txBody>
      </p:sp>
      <p:sp>
        <p:nvSpPr>
          <p:cNvPr id="25" name="Прямоугольник 24"/>
          <p:cNvSpPr/>
          <p:nvPr/>
        </p:nvSpPr>
        <p:spPr>
          <a:xfrm>
            <a:off x="3033946" y="1196752"/>
            <a:ext cx="480995" cy="64807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/>
          <p:cNvSpPr txBox="1"/>
          <p:nvPr/>
        </p:nvSpPr>
        <p:spPr>
          <a:xfrm>
            <a:off x="3057877" y="1326830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DF</a:t>
            </a:r>
            <a:endParaRPr lang="ru-RU" dirty="0"/>
          </a:p>
        </p:txBody>
      </p:sp>
      <p:sp>
        <p:nvSpPr>
          <p:cNvPr id="27" name="Прямоугольник 26"/>
          <p:cNvSpPr/>
          <p:nvPr/>
        </p:nvSpPr>
        <p:spPr>
          <a:xfrm>
            <a:off x="3489055" y="1196752"/>
            <a:ext cx="480995" cy="64807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TextBox 27"/>
          <p:cNvSpPr txBox="1"/>
          <p:nvPr/>
        </p:nvSpPr>
        <p:spPr>
          <a:xfrm>
            <a:off x="3514941" y="1326830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IF</a:t>
            </a:r>
            <a:endParaRPr lang="ru-RU" dirty="0"/>
          </a:p>
        </p:txBody>
      </p:sp>
      <p:sp>
        <p:nvSpPr>
          <p:cNvPr id="29" name="Прямоугольник 28"/>
          <p:cNvSpPr/>
          <p:nvPr/>
        </p:nvSpPr>
        <p:spPr>
          <a:xfrm>
            <a:off x="3970050" y="1196752"/>
            <a:ext cx="480993" cy="64807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TextBox 29"/>
          <p:cNvSpPr txBox="1"/>
          <p:nvPr/>
        </p:nvSpPr>
        <p:spPr>
          <a:xfrm>
            <a:off x="3970819" y="1336122"/>
            <a:ext cx="480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TF</a:t>
            </a:r>
            <a:endParaRPr lang="ru-RU" dirty="0"/>
          </a:p>
        </p:txBody>
      </p:sp>
      <p:sp>
        <p:nvSpPr>
          <p:cNvPr id="31" name="Прямоугольник 30"/>
          <p:cNvSpPr/>
          <p:nvPr/>
        </p:nvSpPr>
        <p:spPr>
          <a:xfrm>
            <a:off x="4451045" y="1196752"/>
            <a:ext cx="480995" cy="64807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TextBox 31"/>
          <p:cNvSpPr txBox="1"/>
          <p:nvPr/>
        </p:nvSpPr>
        <p:spPr>
          <a:xfrm>
            <a:off x="4470167" y="1336122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  <a:r>
              <a:rPr lang="en-US" dirty="0" smtClean="0"/>
              <a:t>F</a:t>
            </a:r>
            <a:endParaRPr lang="ru-RU" dirty="0"/>
          </a:p>
        </p:txBody>
      </p:sp>
      <p:sp>
        <p:nvSpPr>
          <p:cNvPr id="33" name="Прямоугольник 32"/>
          <p:cNvSpPr/>
          <p:nvPr/>
        </p:nvSpPr>
        <p:spPr>
          <a:xfrm>
            <a:off x="4932040" y="1196752"/>
            <a:ext cx="480995" cy="64807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/>
          <p:cNvSpPr txBox="1"/>
          <p:nvPr/>
        </p:nvSpPr>
        <p:spPr>
          <a:xfrm>
            <a:off x="5004048" y="1326830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ZF</a:t>
            </a:r>
            <a:endParaRPr lang="ru-RU" dirty="0"/>
          </a:p>
        </p:txBody>
      </p:sp>
      <p:sp>
        <p:nvSpPr>
          <p:cNvPr id="35" name="Прямоугольник 34"/>
          <p:cNvSpPr/>
          <p:nvPr/>
        </p:nvSpPr>
        <p:spPr>
          <a:xfrm>
            <a:off x="5387149" y="1196752"/>
            <a:ext cx="480995" cy="64807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TextBox 35"/>
          <p:cNvSpPr txBox="1"/>
          <p:nvPr/>
        </p:nvSpPr>
        <p:spPr>
          <a:xfrm>
            <a:off x="5476803" y="132683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</a:t>
            </a:r>
            <a:endParaRPr lang="ru-RU" dirty="0"/>
          </a:p>
        </p:txBody>
      </p:sp>
      <p:sp>
        <p:nvSpPr>
          <p:cNvPr id="37" name="Прямоугольник 36"/>
          <p:cNvSpPr/>
          <p:nvPr/>
        </p:nvSpPr>
        <p:spPr>
          <a:xfrm>
            <a:off x="5868144" y="1196752"/>
            <a:ext cx="611065" cy="64807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TextBox 37"/>
          <p:cNvSpPr txBox="1"/>
          <p:nvPr/>
        </p:nvSpPr>
        <p:spPr>
          <a:xfrm>
            <a:off x="5953640" y="1326830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AF</a:t>
            </a:r>
            <a:endParaRPr lang="ru-RU" dirty="0"/>
          </a:p>
        </p:txBody>
      </p:sp>
      <p:sp>
        <p:nvSpPr>
          <p:cNvPr id="39" name="Прямоугольник 38"/>
          <p:cNvSpPr/>
          <p:nvPr/>
        </p:nvSpPr>
        <p:spPr>
          <a:xfrm>
            <a:off x="6444208" y="1196752"/>
            <a:ext cx="480995" cy="64807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TextBox 39"/>
          <p:cNvSpPr txBox="1"/>
          <p:nvPr/>
        </p:nvSpPr>
        <p:spPr>
          <a:xfrm>
            <a:off x="6533862" y="132683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ru-RU" dirty="0"/>
          </a:p>
        </p:txBody>
      </p:sp>
      <p:sp>
        <p:nvSpPr>
          <p:cNvPr id="41" name="Прямоугольник 40"/>
          <p:cNvSpPr/>
          <p:nvPr/>
        </p:nvSpPr>
        <p:spPr>
          <a:xfrm>
            <a:off x="6899317" y="1196752"/>
            <a:ext cx="480995" cy="64807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6933506" y="1326830"/>
            <a:ext cx="409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PF</a:t>
            </a:r>
            <a:endParaRPr lang="ru-RU" dirty="0"/>
          </a:p>
        </p:txBody>
      </p:sp>
      <p:sp>
        <p:nvSpPr>
          <p:cNvPr id="43" name="Прямоугольник 42"/>
          <p:cNvSpPr/>
          <p:nvPr/>
        </p:nvSpPr>
        <p:spPr>
          <a:xfrm>
            <a:off x="7354426" y="1196752"/>
            <a:ext cx="480995" cy="64807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TextBox 43"/>
          <p:cNvSpPr txBox="1"/>
          <p:nvPr/>
        </p:nvSpPr>
        <p:spPr>
          <a:xfrm>
            <a:off x="7438666" y="132683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46" name="Прямоугольник 45"/>
          <p:cNvSpPr/>
          <p:nvPr/>
        </p:nvSpPr>
        <p:spPr>
          <a:xfrm>
            <a:off x="7835421" y="1196752"/>
            <a:ext cx="480993" cy="64807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TextBox 46"/>
          <p:cNvSpPr txBox="1"/>
          <p:nvPr/>
        </p:nvSpPr>
        <p:spPr>
          <a:xfrm>
            <a:off x="7865891" y="1336122"/>
            <a:ext cx="480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CF</a:t>
            </a:r>
            <a:endParaRPr lang="ru-RU" dirty="0"/>
          </a:p>
        </p:txBody>
      </p:sp>
      <p:sp>
        <p:nvSpPr>
          <p:cNvPr id="48" name="TextBox 47"/>
          <p:cNvSpPr txBox="1"/>
          <p:nvPr/>
        </p:nvSpPr>
        <p:spPr>
          <a:xfrm>
            <a:off x="747354" y="708378"/>
            <a:ext cx="338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Состав </a:t>
            </a:r>
            <a:r>
              <a:rPr lang="en-US" dirty="0" smtClean="0"/>
              <a:t>EFLAGS (</a:t>
            </a:r>
            <a:r>
              <a:rPr lang="ru-RU" dirty="0" smtClean="0"/>
              <a:t>младшее слово</a:t>
            </a:r>
            <a:r>
              <a:rPr lang="en-US" dirty="0" smtClean="0"/>
              <a:t>)</a:t>
            </a:r>
            <a:r>
              <a:rPr lang="ru-RU" dirty="0" smtClean="0"/>
              <a:t>:</a:t>
            </a:r>
            <a:endParaRPr lang="ru-RU" dirty="0"/>
          </a:p>
        </p:txBody>
      </p:sp>
      <p:sp>
        <p:nvSpPr>
          <p:cNvPr id="49" name="TextBox 48"/>
          <p:cNvSpPr txBox="1"/>
          <p:nvPr/>
        </p:nvSpPr>
        <p:spPr>
          <a:xfrm>
            <a:off x="8184394" y="182507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 smtClean="0"/>
              <a:t>0</a:t>
            </a:r>
            <a:endParaRPr lang="ru-RU" sz="1400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683568" y="1825079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/>
              <a:t>15</a:t>
            </a:r>
            <a:endParaRPr lang="ru-RU" sz="1400" b="1" dirty="0"/>
          </a:p>
        </p:txBody>
      </p:sp>
    </p:spTree>
    <p:extLst>
      <p:ext uri="{BB962C8B-B14F-4D97-AF65-F5344CB8AC3E}">
        <p14:creationId xmlns:p14="http://schemas.microsoft.com/office/powerpoint/2010/main" val="3749378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/>
          <p:cNvSpPr txBox="1"/>
          <p:nvPr/>
        </p:nvSpPr>
        <p:spPr>
          <a:xfrm>
            <a:off x="853902" y="1905794"/>
            <a:ext cx="727280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 smtClean="0"/>
              <a:t>IF – </a:t>
            </a:r>
            <a:r>
              <a:rPr lang="ru-RU" sz="1600" dirty="0" smtClean="0"/>
              <a:t>флаг прерываний </a:t>
            </a:r>
            <a:r>
              <a:rPr lang="en-US" sz="1600" dirty="0" smtClean="0"/>
              <a:t>(Interrupt</a:t>
            </a:r>
            <a:r>
              <a:rPr lang="ru-RU" sz="1600" dirty="0" smtClean="0"/>
              <a:t> </a:t>
            </a:r>
            <a:r>
              <a:rPr lang="en-US" sz="1600" dirty="0" smtClean="0"/>
              <a:t>Flag)</a:t>
            </a:r>
            <a:r>
              <a:rPr lang="ru-RU" sz="1600" dirty="0" smtClean="0"/>
              <a:t>. При </a:t>
            </a:r>
            <a:r>
              <a:rPr lang="en-US" sz="1600" dirty="0" smtClean="0"/>
              <a:t>IF==1 </a:t>
            </a:r>
            <a:r>
              <a:rPr lang="ru-RU" sz="1600" dirty="0" smtClean="0"/>
              <a:t>процессор перестает обрабатывать прерывания от внешних устройств</a:t>
            </a:r>
          </a:p>
          <a:p>
            <a:pPr algn="just"/>
            <a:endParaRPr lang="ru-RU" sz="1600" dirty="0"/>
          </a:p>
          <a:p>
            <a:pPr algn="just"/>
            <a:r>
              <a:rPr lang="en-US" sz="1600" dirty="0"/>
              <a:t>D</a:t>
            </a:r>
            <a:r>
              <a:rPr lang="en-US" sz="1600" dirty="0" smtClean="0"/>
              <a:t>F – </a:t>
            </a:r>
            <a:r>
              <a:rPr lang="ru-RU" sz="1600" dirty="0" smtClean="0"/>
              <a:t>флаг направления (</a:t>
            </a:r>
            <a:r>
              <a:rPr lang="en-US" sz="1600" dirty="0" smtClean="0"/>
              <a:t>Direction Flag</a:t>
            </a:r>
            <a:r>
              <a:rPr lang="ru-RU" sz="1600" dirty="0" smtClean="0"/>
              <a:t>). Определяет направление обработки строк и массивов при итерационных операциях</a:t>
            </a:r>
          </a:p>
          <a:p>
            <a:pPr algn="just"/>
            <a:endParaRPr lang="ru-RU" sz="1600" dirty="0" smtClean="0"/>
          </a:p>
          <a:p>
            <a:pPr algn="just"/>
            <a:r>
              <a:rPr lang="en-US" sz="1600" dirty="0"/>
              <a:t>O</a:t>
            </a:r>
            <a:r>
              <a:rPr lang="en-US" sz="1600" dirty="0" smtClean="0"/>
              <a:t>F – </a:t>
            </a:r>
            <a:r>
              <a:rPr lang="ru-RU" sz="1600" dirty="0" smtClean="0"/>
              <a:t>флаг переполнения (</a:t>
            </a:r>
            <a:r>
              <a:rPr lang="en-US" sz="1600" dirty="0" smtClean="0"/>
              <a:t>Overflow Flag</a:t>
            </a:r>
            <a:r>
              <a:rPr lang="ru-RU" sz="1600" dirty="0" smtClean="0"/>
              <a:t>). Устанавливается в 1, если результат предыдущей команды не поместился в приемник; </a:t>
            </a:r>
            <a:r>
              <a:rPr lang="ru-RU" sz="1600" dirty="0" err="1" smtClean="0"/>
              <a:t>спользуется</a:t>
            </a:r>
            <a:r>
              <a:rPr lang="ru-RU" sz="1600" dirty="0" smtClean="0"/>
              <a:t> в защищенном режиме</a:t>
            </a:r>
          </a:p>
          <a:p>
            <a:pPr algn="just"/>
            <a:endParaRPr lang="ru-RU" sz="1600" dirty="0" smtClean="0"/>
          </a:p>
          <a:p>
            <a:pPr algn="just"/>
            <a:r>
              <a:rPr lang="en-US" sz="1600" dirty="0" smtClean="0"/>
              <a:t>IOPL – </a:t>
            </a:r>
            <a:r>
              <a:rPr lang="ru-RU" sz="1600" dirty="0" smtClean="0"/>
              <a:t>флаг уровня привилегий(</a:t>
            </a:r>
            <a:r>
              <a:rPr lang="en-US" sz="1600" dirty="0" smtClean="0"/>
              <a:t>I/O Privilege </a:t>
            </a:r>
            <a:r>
              <a:rPr lang="en-US" sz="1600" dirty="0" err="1" smtClean="0"/>
              <a:t>Leve</a:t>
            </a:r>
            <a:r>
              <a:rPr lang="ru-RU" sz="1600" dirty="0" smtClean="0"/>
              <a:t>) ; используется в защищенном режиме</a:t>
            </a:r>
          </a:p>
          <a:p>
            <a:pPr algn="just"/>
            <a:endParaRPr lang="ru-RU" sz="1600" dirty="0" smtClean="0"/>
          </a:p>
          <a:p>
            <a:pPr algn="just"/>
            <a:r>
              <a:rPr lang="en-US" sz="1600" dirty="0" smtClean="0"/>
              <a:t>NT – </a:t>
            </a:r>
            <a:r>
              <a:rPr lang="ru-RU" sz="1600" dirty="0" smtClean="0"/>
              <a:t>флаг знака (</a:t>
            </a:r>
            <a:r>
              <a:rPr lang="en-US" sz="1600" dirty="0" smtClean="0"/>
              <a:t>Nested Task</a:t>
            </a:r>
            <a:r>
              <a:rPr lang="ru-RU" sz="1600" dirty="0" smtClean="0"/>
              <a:t>). Флаг устанавливается, когда текущая задача «вложена» в другую, прерванную задачу; используется в защищенном режиме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755576" y="836712"/>
            <a:ext cx="7488830" cy="64807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/>
        </p:nvSpPr>
        <p:spPr>
          <a:xfrm>
            <a:off x="755576" y="836712"/>
            <a:ext cx="480995" cy="6480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/>
          <p:cNvSpPr txBox="1"/>
          <p:nvPr/>
        </p:nvSpPr>
        <p:spPr>
          <a:xfrm>
            <a:off x="827584" y="96679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ru-RU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1210685" y="836712"/>
            <a:ext cx="480995" cy="64807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/>
          <p:cNvSpPr txBox="1"/>
          <p:nvPr/>
        </p:nvSpPr>
        <p:spPr>
          <a:xfrm>
            <a:off x="1236571" y="966790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NT</a:t>
            </a:r>
            <a:endParaRPr lang="ru-RU" dirty="0"/>
          </a:p>
        </p:txBody>
      </p:sp>
      <p:sp>
        <p:nvSpPr>
          <p:cNvPr id="19" name="Прямоугольник 18"/>
          <p:cNvSpPr/>
          <p:nvPr/>
        </p:nvSpPr>
        <p:spPr>
          <a:xfrm>
            <a:off x="1691680" y="836712"/>
            <a:ext cx="815149" cy="64807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1800695" y="976082"/>
            <a:ext cx="611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IOPL</a:t>
            </a:r>
            <a:endParaRPr lang="ru-RU" dirty="0"/>
          </a:p>
        </p:txBody>
      </p:sp>
      <p:sp>
        <p:nvSpPr>
          <p:cNvPr id="23" name="Прямоугольник 22"/>
          <p:cNvSpPr/>
          <p:nvPr/>
        </p:nvSpPr>
        <p:spPr>
          <a:xfrm>
            <a:off x="2506829" y="836712"/>
            <a:ext cx="480995" cy="64807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2525951" y="976082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OF</a:t>
            </a:r>
            <a:endParaRPr lang="ru-RU" dirty="0"/>
          </a:p>
        </p:txBody>
      </p:sp>
      <p:sp>
        <p:nvSpPr>
          <p:cNvPr id="25" name="Прямоугольник 24"/>
          <p:cNvSpPr/>
          <p:nvPr/>
        </p:nvSpPr>
        <p:spPr>
          <a:xfrm>
            <a:off x="2961938" y="836712"/>
            <a:ext cx="480995" cy="64807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/>
          <p:cNvSpPr txBox="1"/>
          <p:nvPr/>
        </p:nvSpPr>
        <p:spPr>
          <a:xfrm>
            <a:off x="2985869" y="966790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DF</a:t>
            </a:r>
            <a:endParaRPr lang="ru-RU" dirty="0"/>
          </a:p>
        </p:txBody>
      </p:sp>
      <p:sp>
        <p:nvSpPr>
          <p:cNvPr id="27" name="Прямоугольник 26"/>
          <p:cNvSpPr/>
          <p:nvPr/>
        </p:nvSpPr>
        <p:spPr>
          <a:xfrm>
            <a:off x="3417047" y="836712"/>
            <a:ext cx="480995" cy="64807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TextBox 27"/>
          <p:cNvSpPr txBox="1"/>
          <p:nvPr/>
        </p:nvSpPr>
        <p:spPr>
          <a:xfrm>
            <a:off x="3442933" y="966790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IF</a:t>
            </a:r>
            <a:endParaRPr lang="ru-RU" dirty="0"/>
          </a:p>
        </p:txBody>
      </p:sp>
      <p:sp>
        <p:nvSpPr>
          <p:cNvPr id="29" name="Прямоугольник 28"/>
          <p:cNvSpPr/>
          <p:nvPr/>
        </p:nvSpPr>
        <p:spPr>
          <a:xfrm>
            <a:off x="3898042" y="836712"/>
            <a:ext cx="480993" cy="64807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TextBox 29"/>
          <p:cNvSpPr txBox="1"/>
          <p:nvPr/>
        </p:nvSpPr>
        <p:spPr>
          <a:xfrm>
            <a:off x="3898811" y="976082"/>
            <a:ext cx="480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TF</a:t>
            </a:r>
            <a:endParaRPr lang="ru-RU" dirty="0"/>
          </a:p>
        </p:txBody>
      </p:sp>
      <p:sp>
        <p:nvSpPr>
          <p:cNvPr id="31" name="Прямоугольник 30"/>
          <p:cNvSpPr/>
          <p:nvPr/>
        </p:nvSpPr>
        <p:spPr>
          <a:xfrm>
            <a:off x="4379037" y="836712"/>
            <a:ext cx="480995" cy="64807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TextBox 31"/>
          <p:cNvSpPr txBox="1"/>
          <p:nvPr/>
        </p:nvSpPr>
        <p:spPr>
          <a:xfrm>
            <a:off x="4398159" y="976082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  <a:r>
              <a:rPr lang="en-US" dirty="0" smtClean="0"/>
              <a:t>F</a:t>
            </a:r>
            <a:endParaRPr lang="ru-RU" dirty="0"/>
          </a:p>
        </p:txBody>
      </p:sp>
      <p:sp>
        <p:nvSpPr>
          <p:cNvPr id="33" name="Прямоугольник 32"/>
          <p:cNvSpPr/>
          <p:nvPr/>
        </p:nvSpPr>
        <p:spPr>
          <a:xfrm>
            <a:off x="4860032" y="836712"/>
            <a:ext cx="480995" cy="64807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/>
          <p:cNvSpPr txBox="1"/>
          <p:nvPr/>
        </p:nvSpPr>
        <p:spPr>
          <a:xfrm>
            <a:off x="4932040" y="966790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ZF</a:t>
            </a:r>
            <a:endParaRPr lang="ru-RU" dirty="0"/>
          </a:p>
        </p:txBody>
      </p:sp>
      <p:sp>
        <p:nvSpPr>
          <p:cNvPr id="35" name="Прямоугольник 34"/>
          <p:cNvSpPr/>
          <p:nvPr/>
        </p:nvSpPr>
        <p:spPr>
          <a:xfrm>
            <a:off x="5315141" y="836712"/>
            <a:ext cx="480995" cy="64807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TextBox 35"/>
          <p:cNvSpPr txBox="1"/>
          <p:nvPr/>
        </p:nvSpPr>
        <p:spPr>
          <a:xfrm>
            <a:off x="5404795" y="96679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</a:t>
            </a:r>
            <a:endParaRPr lang="ru-RU" dirty="0"/>
          </a:p>
        </p:txBody>
      </p:sp>
      <p:sp>
        <p:nvSpPr>
          <p:cNvPr id="37" name="Прямоугольник 36"/>
          <p:cNvSpPr/>
          <p:nvPr/>
        </p:nvSpPr>
        <p:spPr>
          <a:xfrm>
            <a:off x="5796136" y="836712"/>
            <a:ext cx="611065" cy="64807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TextBox 37"/>
          <p:cNvSpPr txBox="1"/>
          <p:nvPr/>
        </p:nvSpPr>
        <p:spPr>
          <a:xfrm>
            <a:off x="5881632" y="966790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AF</a:t>
            </a:r>
            <a:endParaRPr lang="ru-RU" dirty="0"/>
          </a:p>
        </p:txBody>
      </p:sp>
      <p:sp>
        <p:nvSpPr>
          <p:cNvPr id="39" name="Прямоугольник 38"/>
          <p:cNvSpPr/>
          <p:nvPr/>
        </p:nvSpPr>
        <p:spPr>
          <a:xfrm>
            <a:off x="6372200" y="836712"/>
            <a:ext cx="480995" cy="64807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TextBox 39"/>
          <p:cNvSpPr txBox="1"/>
          <p:nvPr/>
        </p:nvSpPr>
        <p:spPr>
          <a:xfrm>
            <a:off x="6461854" y="96679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ru-RU" dirty="0"/>
          </a:p>
        </p:txBody>
      </p:sp>
      <p:sp>
        <p:nvSpPr>
          <p:cNvPr id="41" name="Прямоугольник 40"/>
          <p:cNvSpPr/>
          <p:nvPr/>
        </p:nvSpPr>
        <p:spPr>
          <a:xfrm>
            <a:off x="6827309" y="836712"/>
            <a:ext cx="480995" cy="64807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6861498" y="966790"/>
            <a:ext cx="409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PF</a:t>
            </a:r>
            <a:endParaRPr lang="ru-RU" dirty="0"/>
          </a:p>
        </p:txBody>
      </p:sp>
      <p:sp>
        <p:nvSpPr>
          <p:cNvPr id="43" name="Прямоугольник 42"/>
          <p:cNvSpPr/>
          <p:nvPr/>
        </p:nvSpPr>
        <p:spPr>
          <a:xfrm>
            <a:off x="7282418" y="836712"/>
            <a:ext cx="480995" cy="64807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TextBox 43"/>
          <p:cNvSpPr txBox="1"/>
          <p:nvPr/>
        </p:nvSpPr>
        <p:spPr>
          <a:xfrm>
            <a:off x="7366658" y="96679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46" name="Прямоугольник 45"/>
          <p:cNvSpPr/>
          <p:nvPr/>
        </p:nvSpPr>
        <p:spPr>
          <a:xfrm>
            <a:off x="7763413" y="836712"/>
            <a:ext cx="480993" cy="64807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TextBox 46"/>
          <p:cNvSpPr txBox="1"/>
          <p:nvPr/>
        </p:nvSpPr>
        <p:spPr>
          <a:xfrm>
            <a:off x="7793883" y="976082"/>
            <a:ext cx="480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CF</a:t>
            </a:r>
            <a:endParaRPr lang="ru-RU" dirty="0"/>
          </a:p>
        </p:txBody>
      </p:sp>
      <p:sp>
        <p:nvSpPr>
          <p:cNvPr id="49" name="TextBox 48"/>
          <p:cNvSpPr txBox="1"/>
          <p:nvPr/>
        </p:nvSpPr>
        <p:spPr>
          <a:xfrm>
            <a:off x="8112386" y="146503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 smtClean="0"/>
              <a:t>0</a:t>
            </a:r>
            <a:endParaRPr lang="ru-RU" sz="1400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611560" y="1465039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/>
              <a:t>15</a:t>
            </a:r>
            <a:endParaRPr lang="ru-RU" sz="1400" b="1" dirty="0"/>
          </a:p>
        </p:txBody>
      </p:sp>
    </p:spTree>
    <p:extLst>
      <p:ext uri="{BB962C8B-B14F-4D97-AF65-F5344CB8AC3E}">
        <p14:creationId xmlns:p14="http://schemas.microsoft.com/office/powerpoint/2010/main" val="3388742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915816" y="332656"/>
            <a:ext cx="1862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smtClean="0"/>
              <a:t>Регистры флагов</a:t>
            </a:r>
            <a:endParaRPr lang="ru-RU" b="1" dirty="0"/>
          </a:p>
        </p:txBody>
      </p:sp>
      <p:sp>
        <p:nvSpPr>
          <p:cNvPr id="45" name="TextBox 44"/>
          <p:cNvSpPr txBox="1"/>
          <p:nvPr/>
        </p:nvSpPr>
        <p:spPr>
          <a:xfrm>
            <a:off x="925910" y="2337842"/>
            <a:ext cx="727280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/>
              <a:t>R</a:t>
            </a:r>
            <a:r>
              <a:rPr lang="en-US" sz="1600" dirty="0" smtClean="0"/>
              <a:t>F – </a:t>
            </a:r>
            <a:r>
              <a:rPr lang="ru-RU" sz="1600" dirty="0" smtClean="0"/>
              <a:t>флаг возобновления</a:t>
            </a:r>
            <a:r>
              <a:rPr lang="en-US" sz="1600" dirty="0" smtClean="0"/>
              <a:t>(Resume Flag)</a:t>
            </a:r>
            <a:r>
              <a:rPr lang="ru-RU" sz="1600" dirty="0" smtClean="0"/>
              <a:t>. Устанавливается в 1, если произошло возобновление отложенной задачи</a:t>
            </a:r>
          </a:p>
          <a:p>
            <a:pPr algn="just"/>
            <a:endParaRPr lang="ru-RU" sz="1600" dirty="0"/>
          </a:p>
          <a:p>
            <a:pPr algn="just"/>
            <a:r>
              <a:rPr lang="en-US" sz="1600" dirty="0" smtClean="0"/>
              <a:t>VM – </a:t>
            </a:r>
            <a:r>
              <a:rPr lang="ru-RU" sz="1600" dirty="0" smtClean="0"/>
              <a:t>флаг виртуального режима(</a:t>
            </a:r>
            <a:r>
              <a:rPr lang="en-US" sz="1600" dirty="0" smtClean="0"/>
              <a:t>Virtual-8086 Mode</a:t>
            </a:r>
            <a:r>
              <a:rPr lang="ru-RU" sz="1600" dirty="0" smtClean="0"/>
              <a:t>). Устанавливается в 1, если процессор находится в режиме эмулирования </a:t>
            </a:r>
            <a:r>
              <a:rPr lang="en-US" sz="1600" dirty="0" smtClean="0"/>
              <a:t>M8086</a:t>
            </a:r>
            <a:r>
              <a:rPr lang="ru-RU" sz="1600" dirty="0" smtClean="0"/>
              <a:t>.</a:t>
            </a:r>
          </a:p>
          <a:p>
            <a:pPr algn="just"/>
            <a:endParaRPr lang="ru-RU" sz="1600" dirty="0" smtClean="0"/>
          </a:p>
          <a:p>
            <a:pPr algn="just"/>
            <a:r>
              <a:rPr lang="en-US" sz="1600" dirty="0" smtClean="0"/>
              <a:t>AC – </a:t>
            </a:r>
            <a:r>
              <a:rPr lang="ru-RU" sz="1600" dirty="0" smtClean="0"/>
              <a:t>флаг выравнивания(</a:t>
            </a:r>
            <a:r>
              <a:rPr lang="en-US" sz="1600" dirty="0" smtClean="0"/>
              <a:t>Alignment Check</a:t>
            </a:r>
            <a:r>
              <a:rPr lang="ru-RU" sz="1600" dirty="0" smtClean="0"/>
              <a:t>). Предназначен для разрешения контроля выравнивания при обращении к памяти</a:t>
            </a:r>
          </a:p>
          <a:p>
            <a:pPr algn="just"/>
            <a:endParaRPr lang="ru-RU" sz="1600" dirty="0" smtClean="0"/>
          </a:p>
          <a:p>
            <a:pPr algn="just"/>
            <a:r>
              <a:rPr lang="en-US" sz="1600" dirty="0" smtClean="0"/>
              <a:t>VIF – </a:t>
            </a:r>
            <a:r>
              <a:rPr lang="ru-RU" sz="1600" dirty="0" smtClean="0"/>
              <a:t>флаг разрешения </a:t>
            </a:r>
            <a:r>
              <a:rPr lang="en-US" sz="1600" dirty="0" smtClean="0"/>
              <a:t>IRQ</a:t>
            </a:r>
            <a:r>
              <a:rPr lang="ru-RU" sz="1600" dirty="0" smtClean="0"/>
              <a:t> (</a:t>
            </a:r>
            <a:r>
              <a:rPr lang="en-US" sz="1600" dirty="0" smtClean="0"/>
              <a:t>Virtual Interrupt Flag</a:t>
            </a:r>
            <a:r>
              <a:rPr lang="ru-RU" sz="1600" dirty="0" smtClean="0"/>
              <a:t>). </a:t>
            </a:r>
          </a:p>
          <a:p>
            <a:pPr algn="just"/>
            <a:endParaRPr lang="ru-RU" sz="1600" dirty="0" smtClean="0"/>
          </a:p>
          <a:p>
            <a:pPr algn="just"/>
            <a:r>
              <a:rPr lang="en-US" sz="1600" dirty="0" smtClean="0"/>
              <a:t>VIP – </a:t>
            </a:r>
            <a:r>
              <a:rPr lang="ru-RU" sz="1600" dirty="0" smtClean="0"/>
              <a:t>флаг ожидания </a:t>
            </a:r>
            <a:r>
              <a:rPr lang="en-US" sz="1600" dirty="0" smtClean="0"/>
              <a:t>IRQ</a:t>
            </a:r>
            <a:r>
              <a:rPr lang="ru-RU" sz="1600" dirty="0" smtClean="0"/>
              <a:t> (</a:t>
            </a:r>
            <a:r>
              <a:rPr lang="en-US" sz="1600" dirty="0" smtClean="0"/>
              <a:t>Virtual Interrupt Pending</a:t>
            </a:r>
            <a:r>
              <a:rPr lang="ru-RU" sz="1600" dirty="0" smtClean="0"/>
              <a:t>). </a:t>
            </a:r>
          </a:p>
          <a:p>
            <a:pPr algn="just"/>
            <a:endParaRPr lang="ru-RU" sz="1600" dirty="0" smtClean="0"/>
          </a:p>
          <a:p>
            <a:pPr algn="just"/>
            <a:r>
              <a:rPr lang="en-US" sz="1600" dirty="0" smtClean="0"/>
              <a:t>ID – </a:t>
            </a:r>
            <a:r>
              <a:rPr lang="ru-RU" sz="1600" dirty="0" smtClean="0"/>
              <a:t>флаг идентификации(</a:t>
            </a:r>
            <a:r>
              <a:rPr lang="en-US" sz="1600" dirty="0" smtClean="0"/>
              <a:t>ID Flag</a:t>
            </a:r>
            <a:r>
              <a:rPr lang="ru-RU" sz="1600" dirty="0" smtClean="0"/>
              <a:t>). Проверка на доступность инструкции C</a:t>
            </a:r>
            <a:r>
              <a:rPr lang="en-US" sz="1600" dirty="0" smtClean="0"/>
              <a:t>PUID</a:t>
            </a:r>
            <a:endParaRPr lang="ru-RU" sz="1600" dirty="0" smtClean="0"/>
          </a:p>
        </p:txBody>
      </p:sp>
      <p:sp>
        <p:nvSpPr>
          <p:cNvPr id="14" name="Прямоугольник 13"/>
          <p:cNvSpPr/>
          <p:nvPr/>
        </p:nvSpPr>
        <p:spPr>
          <a:xfrm>
            <a:off x="827584" y="1196752"/>
            <a:ext cx="7488830" cy="64807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/>
        </p:nvSpPr>
        <p:spPr>
          <a:xfrm>
            <a:off x="827584" y="1196752"/>
            <a:ext cx="480995" cy="6480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/>
          <p:cNvSpPr txBox="1"/>
          <p:nvPr/>
        </p:nvSpPr>
        <p:spPr>
          <a:xfrm>
            <a:off x="899592" y="132683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ru-RU" dirty="0"/>
          </a:p>
        </p:txBody>
      </p:sp>
      <p:sp>
        <p:nvSpPr>
          <p:cNvPr id="35" name="Прямоугольник 34"/>
          <p:cNvSpPr/>
          <p:nvPr/>
        </p:nvSpPr>
        <p:spPr>
          <a:xfrm>
            <a:off x="5387149" y="1196752"/>
            <a:ext cx="480995" cy="64807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TextBox 35"/>
          <p:cNvSpPr txBox="1"/>
          <p:nvPr/>
        </p:nvSpPr>
        <p:spPr>
          <a:xfrm>
            <a:off x="5476803" y="1326830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ID</a:t>
            </a:r>
            <a:endParaRPr lang="ru-RU" dirty="0"/>
          </a:p>
        </p:txBody>
      </p:sp>
      <p:sp>
        <p:nvSpPr>
          <p:cNvPr id="37" name="Прямоугольник 36"/>
          <p:cNvSpPr/>
          <p:nvPr/>
        </p:nvSpPr>
        <p:spPr>
          <a:xfrm>
            <a:off x="5868144" y="1196752"/>
            <a:ext cx="611065" cy="64807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TextBox 37"/>
          <p:cNvSpPr txBox="1"/>
          <p:nvPr/>
        </p:nvSpPr>
        <p:spPr>
          <a:xfrm>
            <a:off x="5953640" y="1326830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VIP</a:t>
            </a:r>
            <a:endParaRPr lang="ru-RU" dirty="0"/>
          </a:p>
        </p:txBody>
      </p:sp>
      <p:sp>
        <p:nvSpPr>
          <p:cNvPr id="39" name="Прямоугольник 38"/>
          <p:cNvSpPr/>
          <p:nvPr/>
        </p:nvSpPr>
        <p:spPr>
          <a:xfrm>
            <a:off x="6444208" y="1196752"/>
            <a:ext cx="480995" cy="64807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TextBox 39"/>
          <p:cNvSpPr txBox="1"/>
          <p:nvPr/>
        </p:nvSpPr>
        <p:spPr>
          <a:xfrm>
            <a:off x="6442518" y="1336122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VIF</a:t>
            </a:r>
            <a:endParaRPr lang="ru-RU" dirty="0"/>
          </a:p>
        </p:txBody>
      </p:sp>
      <p:sp>
        <p:nvSpPr>
          <p:cNvPr id="41" name="Прямоугольник 40"/>
          <p:cNvSpPr/>
          <p:nvPr/>
        </p:nvSpPr>
        <p:spPr>
          <a:xfrm>
            <a:off x="6899317" y="1196752"/>
            <a:ext cx="480995" cy="64807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6933506" y="1326830"/>
            <a:ext cx="439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AC</a:t>
            </a:r>
            <a:endParaRPr lang="ru-RU" dirty="0"/>
          </a:p>
        </p:txBody>
      </p:sp>
      <p:sp>
        <p:nvSpPr>
          <p:cNvPr id="43" name="Прямоугольник 42"/>
          <p:cNvSpPr/>
          <p:nvPr/>
        </p:nvSpPr>
        <p:spPr>
          <a:xfrm>
            <a:off x="7354426" y="1196752"/>
            <a:ext cx="480995" cy="64807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TextBox 43"/>
          <p:cNvSpPr txBox="1"/>
          <p:nvPr/>
        </p:nvSpPr>
        <p:spPr>
          <a:xfrm>
            <a:off x="7342592" y="1326830"/>
            <a:ext cx="51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VM</a:t>
            </a:r>
            <a:endParaRPr lang="ru-RU" dirty="0"/>
          </a:p>
        </p:txBody>
      </p:sp>
      <p:sp>
        <p:nvSpPr>
          <p:cNvPr id="46" name="Прямоугольник 45"/>
          <p:cNvSpPr/>
          <p:nvPr/>
        </p:nvSpPr>
        <p:spPr>
          <a:xfrm>
            <a:off x="7835421" y="1196752"/>
            <a:ext cx="480993" cy="64807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TextBox 46"/>
          <p:cNvSpPr txBox="1"/>
          <p:nvPr/>
        </p:nvSpPr>
        <p:spPr>
          <a:xfrm>
            <a:off x="7865891" y="1336122"/>
            <a:ext cx="480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RF</a:t>
            </a:r>
            <a:endParaRPr lang="ru-RU" dirty="0"/>
          </a:p>
        </p:txBody>
      </p:sp>
      <p:sp>
        <p:nvSpPr>
          <p:cNvPr id="48" name="TextBox 47"/>
          <p:cNvSpPr txBox="1"/>
          <p:nvPr/>
        </p:nvSpPr>
        <p:spPr>
          <a:xfrm>
            <a:off x="747354" y="708378"/>
            <a:ext cx="328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Состав </a:t>
            </a:r>
            <a:r>
              <a:rPr lang="en-US" dirty="0" smtClean="0"/>
              <a:t>EFLAGS (</a:t>
            </a:r>
            <a:r>
              <a:rPr lang="ru-RU" dirty="0" smtClean="0"/>
              <a:t>старшее слово</a:t>
            </a:r>
            <a:r>
              <a:rPr lang="en-US" dirty="0" smtClean="0"/>
              <a:t>)</a:t>
            </a:r>
            <a:r>
              <a:rPr lang="ru-RU" dirty="0" smtClean="0"/>
              <a:t>:</a:t>
            </a:r>
            <a:endParaRPr lang="ru-RU" dirty="0"/>
          </a:p>
        </p:txBody>
      </p:sp>
      <p:sp>
        <p:nvSpPr>
          <p:cNvPr id="49" name="TextBox 48"/>
          <p:cNvSpPr txBox="1"/>
          <p:nvPr/>
        </p:nvSpPr>
        <p:spPr>
          <a:xfrm>
            <a:off x="8184394" y="182507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 smtClean="0"/>
              <a:t>0</a:t>
            </a:r>
            <a:endParaRPr lang="ru-RU" sz="1400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683568" y="1825079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/>
              <a:t>15</a:t>
            </a:r>
            <a:endParaRPr lang="ru-RU" sz="1400" b="1" dirty="0"/>
          </a:p>
        </p:txBody>
      </p:sp>
      <p:sp>
        <p:nvSpPr>
          <p:cNvPr id="51" name="Прямоугольник 50"/>
          <p:cNvSpPr/>
          <p:nvPr/>
        </p:nvSpPr>
        <p:spPr>
          <a:xfrm>
            <a:off x="1282693" y="1196752"/>
            <a:ext cx="480995" cy="6480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TextBox 51"/>
          <p:cNvSpPr txBox="1"/>
          <p:nvPr/>
        </p:nvSpPr>
        <p:spPr>
          <a:xfrm>
            <a:off x="1354701" y="132683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ru-RU" dirty="0"/>
          </a:p>
        </p:txBody>
      </p:sp>
      <p:sp>
        <p:nvSpPr>
          <p:cNvPr id="53" name="Прямоугольник 52"/>
          <p:cNvSpPr/>
          <p:nvPr/>
        </p:nvSpPr>
        <p:spPr>
          <a:xfrm>
            <a:off x="1714741" y="1196752"/>
            <a:ext cx="480995" cy="6480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TextBox 53"/>
          <p:cNvSpPr txBox="1"/>
          <p:nvPr/>
        </p:nvSpPr>
        <p:spPr>
          <a:xfrm>
            <a:off x="1786749" y="132683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ru-RU" dirty="0"/>
          </a:p>
        </p:txBody>
      </p:sp>
      <p:sp>
        <p:nvSpPr>
          <p:cNvPr id="55" name="Прямоугольник 54"/>
          <p:cNvSpPr/>
          <p:nvPr/>
        </p:nvSpPr>
        <p:spPr>
          <a:xfrm>
            <a:off x="4955101" y="1196752"/>
            <a:ext cx="480995" cy="6480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6" name="TextBox 55"/>
          <p:cNvSpPr txBox="1"/>
          <p:nvPr/>
        </p:nvSpPr>
        <p:spPr>
          <a:xfrm>
            <a:off x="5027109" y="132683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ru-RU" dirty="0"/>
          </a:p>
        </p:txBody>
      </p:sp>
      <p:sp>
        <p:nvSpPr>
          <p:cNvPr id="57" name="Прямоугольник 56"/>
          <p:cNvSpPr/>
          <p:nvPr/>
        </p:nvSpPr>
        <p:spPr>
          <a:xfrm>
            <a:off x="4469567" y="1196752"/>
            <a:ext cx="480995" cy="6480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TextBox 57"/>
          <p:cNvSpPr txBox="1"/>
          <p:nvPr/>
        </p:nvSpPr>
        <p:spPr>
          <a:xfrm>
            <a:off x="4541575" y="13370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ru-RU" dirty="0"/>
          </a:p>
        </p:txBody>
      </p:sp>
      <p:sp>
        <p:nvSpPr>
          <p:cNvPr id="59" name="Прямоугольник 58"/>
          <p:cNvSpPr/>
          <p:nvPr/>
        </p:nvSpPr>
        <p:spPr>
          <a:xfrm>
            <a:off x="3974508" y="1196752"/>
            <a:ext cx="480995" cy="6480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0" name="TextBox 59"/>
          <p:cNvSpPr txBox="1"/>
          <p:nvPr/>
        </p:nvSpPr>
        <p:spPr>
          <a:xfrm>
            <a:off x="4046516" y="132683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ru-RU" dirty="0"/>
          </a:p>
        </p:txBody>
      </p:sp>
      <p:sp>
        <p:nvSpPr>
          <p:cNvPr id="61" name="Прямоугольник 60"/>
          <p:cNvSpPr/>
          <p:nvPr/>
        </p:nvSpPr>
        <p:spPr>
          <a:xfrm>
            <a:off x="3514941" y="1196752"/>
            <a:ext cx="480995" cy="6480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" name="TextBox 61"/>
          <p:cNvSpPr txBox="1"/>
          <p:nvPr/>
        </p:nvSpPr>
        <p:spPr>
          <a:xfrm>
            <a:off x="3586949" y="132683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ru-RU" dirty="0"/>
          </a:p>
        </p:txBody>
      </p:sp>
      <p:sp>
        <p:nvSpPr>
          <p:cNvPr id="63" name="Прямоугольник 62"/>
          <p:cNvSpPr/>
          <p:nvPr/>
        </p:nvSpPr>
        <p:spPr>
          <a:xfrm>
            <a:off x="3029407" y="1196752"/>
            <a:ext cx="480995" cy="6480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TextBox 63"/>
          <p:cNvSpPr txBox="1"/>
          <p:nvPr/>
        </p:nvSpPr>
        <p:spPr>
          <a:xfrm>
            <a:off x="3101415" y="13370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ru-RU" dirty="0"/>
          </a:p>
        </p:txBody>
      </p:sp>
      <p:sp>
        <p:nvSpPr>
          <p:cNvPr id="65" name="Прямоугольник 64"/>
          <p:cNvSpPr/>
          <p:nvPr/>
        </p:nvSpPr>
        <p:spPr>
          <a:xfrm>
            <a:off x="2534348" y="1196752"/>
            <a:ext cx="480995" cy="6480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6" name="TextBox 65"/>
          <p:cNvSpPr txBox="1"/>
          <p:nvPr/>
        </p:nvSpPr>
        <p:spPr>
          <a:xfrm>
            <a:off x="2686138" y="132683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ru-RU" dirty="0"/>
          </a:p>
        </p:txBody>
      </p:sp>
      <p:sp>
        <p:nvSpPr>
          <p:cNvPr id="67" name="Прямоугольник 66"/>
          <p:cNvSpPr/>
          <p:nvPr/>
        </p:nvSpPr>
        <p:spPr>
          <a:xfrm>
            <a:off x="2146789" y="1196752"/>
            <a:ext cx="480995" cy="6480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8" name="TextBox 67"/>
          <p:cNvSpPr txBox="1"/>
          <p:nvPr/>
        </p:nvSpPr>
        <p:spPr>
          <a:xfrm>
            <a:off x="2218797" y="132683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2300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2078" y="1600174"/>
            <a:ext cx="5893063" cy="3744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2416523" y="5316416"/>
            <a:ext cx="457056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dirty="0"/>
              <a:t>Архитектура кэша </a:t>
            </a:r>
            <a:r>
              <a:rPr lang="ru-RU" dirty="0" err="1"/>
              <a:t>Intel</a:t>
            </a:r>
            <a:r>
              <a:rPr lang="ru-RU" dirty="0"/>
              <a:t> </a:t>
            </a:r>
            <a:r>
              <a:rPr lang="ru-RU" dirty="0" err="1"/>
              <a:t>Ivy</a:t>
            </a:r>
            <a:r>
              <a:rPr lang="ru-RU" dirty="0"/>
              <a:t> </a:t>
            </a:r>
            <a:r>
              <a:rPr lang="ru-RU" dirty="0" err="1" smtClean="0"/>
              <a:t>Bridgу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3107703" y="332656"/>
            <a:ext cx="2400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smtClean="0"/>
              <a:t>Многоуровневый кэш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08937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324592" y="0"/>
            <a:ext cx="8818515" cy="72930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400" dirty="0" smtClean="0">
                <a:solidFill>
                  <a:srgbClr val="000000"/>
                </a:solidFill>
                <a:latin typeface="Arial"/>
              </a:rPr>
              <a:t>Вычислительные к</a:t>
            </a:r>
            <a:r>
              <a:rPr lang="ru-RU" sz="2400" b="0" u="none" strike="noStrike" dirty="0" smtClean="0">
                <a:solidFill>
                  <a:srgbClr val="000000"/>
                </a:solidFill>
                <a:uFillTx/>
                <a:latin typeface="Arial"/>
              </a:rPr>
              <a:t>онвейеры</a:t>
            </a:r>
            <a:endParaRPr lang="ru-RU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7158" y="878585"/>
            <a:ext cx="3731421" cy="5649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0321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324592" y="0"/>
            <a:ext cx="8818515" cy="72930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400" dirty="0" smtClean="0">
                <a:solidFill>
                  <a:srgbClr val="000000"/>
                </a:solidFill>
                <a:latin typeface="Arial"/>
              </a:rPr>
              <a:t>Вычислительные к</a:t>
            </a:r>
            <a:r>
              <a:rPr lang="ru-RU" sz="2400" b="0" u="none" strike="noStrike" dirty="0" smtClean="0">
                <a:solidFill>
                  <a:srgbClr val="000000"/>
                </a:solidFill>
                <a:uFillTx/>
                <a:latin typeface="Arial"/>
              </a:rPr>
              <a:t>онвейеры</a:t>
            </a:r>
            <a:endParaRPr lang="ru-RU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2" name="Прямоугольник 151"/>
          <p:cNvSpPr/>
          <p:nvPr/>
        </p:nvSpPr>
        <p:spPr>
          <a:xfrm>
            <a:off x="326551" y="1523852"/>
            <a:ext cx="8490004" cy="522420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2465011" y="1986576"/>
            <a:ext cx="561647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загрузка (</a:t>
            </a:r>
            <a:r>
              <a:rPr lang="ru-RU" dirty="0" err="1" smtClean="0"/>
              <a:t>Fetch</a:t>
            </a:r>
            <a:r>
              <a:rPr lang="ru-RU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основное </a:t>
            </a:r>
            <a:r>
              <a:rPr lang="ru-RU" dirty="0"/>
              <a:t>декодирование (</a:t>
            </a:r>
            <a:r>
              <a:rPr lang="ru-RU" dirty="0" smtClean="0"/>
              <a:t>D1)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вторичное </a:t>
            </a:r>
            <a:r>
              <a:rPr lang="ru-RU" dirty="0"/>
              <a:t>декодирование или трансляция (</a:t>
            </a:r>
            <a:r>
              <a:rPr lang="ru-RU" dirty="0" smtClean="0"/>
              <a:t>D2)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выполнение </a:t>
            </a:r>
            <a:r>
              <a:rPr lang="ru-RU" dirty="0"/>
              <a:t>(</a:t>
            </a:r>
            <a:r>
              <a:rPr lang="ru-RU" dirty="0" smtClean="0"/>
              <a:t>EX)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запись </a:t>
            </a:r>
            <a:r>
              <a:rPr lang="ru-RU" dirty="0"/>
              <a:t>результата в регистры и память (WB)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348" y="1948522"/>
            <a:ext cx="849127" cy="3307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81916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324592" y="0"/>
            <a:ext cx="8818515" cy="72930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400" dirty="0" smtClean="0">
                <a:solidFill>
                  <a:srgbClr val="000000"/>
                </a:solidFill>
                <a:latin typeface="Arial"/>
              </a:rPr>
              <a:t>Вычислительные к</a:t>
            </a:r>
            <a:r>
              <a:rPr lang="ru-RU" sz="2400" b="0" u="none" strike="noStrike" dirty="0" smtClean="0">
                <a:solidFill>
                  <a:srgbClr val="000000"/>
                </a:solidFill>
                <a:uFillTx/>
                <a:latin typeface="Arial"/>
              </a:rPr>
              <a:t>онвейеры</a:t>
            </a:r>
            <a:endParaRPr lang="ru-RU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2" name="Прямоугольник 151"/>
          <p:cNvSpPr/>
          <p:nvPr/>
        </p:nvSpPr>
        <p:spPr>
          <a:xfrm>
            <a:off x="326551" y="1523852"/>
            <a:ext cx="8490004" cy="522420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632" y="1774348"/>
            <a:ext cx="2482065" cy="3995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9697" y="2203840"/>
            <a:ext cx="2482065" cy="3995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1762" y="2645217"/>
            <a:ext cx="2482065" cy="3995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67024" y="1774348"/>
            <a:ext cx="3209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smtClean="0"/>
              <a:t>1.</a:t>
            </a:r>
            <a:endParaRPr lang="ru-RU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284896" y="2185903"/>
            <a:ext cx="3209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/>
              <a:t>2</a:t>
            </a:r>
            <a:r>
              <a:rPr lang="ru-RU" sz="1400" dirty="0" smtClean="0"/>
              <a:t>.</a:t>
            </a:r>
            <a:endParaRPr lang="ru-RU"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284896" y="2534251"/>
            <a:ext cx="3209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/>
              <a:t>3</a:t>
            </a:r>
            <a:r>
              <a:rPr lang="ru-RU" sz="1400" dirty="0" smtClean="0"/>
              <a:t>.</a:t>
            </a:r>
            <a:endParaRPr lang="ru-RU" sz="1400" dirty="0"/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63" y="4664539"/>
            <a:ext cx="2482065" cy="3995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8985" y="5028207"/>
            <a:ext cx="2482065" cy="3995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1525" y="5410805"/>
            <a:ext cx="2482065" cy="3995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403155" y="4664540"/>
            <a:ext cx="3209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smtClean="0"/>
              <a:t>1.</a:t>
            </a:r>
            <a:endParaRPr lang="ru-RU" sz="1400" dirty="0"/>
          </a:p>
        </p:txBody>
      </p:sp>
      <p:sp>
        <p:nvSpPr>
          <p:cNvPr id="17" name="TextBox 16"/>
          <p:cNvSpPr txBox="1"/>
          <p:nvPr/>
        </p:nvSpPr>
        <p:spPr>
          <a:xfrm>
            <a:off x="421027" y="5076095"/>
            <a:ext cx="3209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/>
              <a:t>2</a:t>
            </a:r>
            <a:r>
              <a:rPr lang="ru-RU" sz="1400" dirty="0" smtClean="0"/>
              <a:t>.</a:t>
            </a:r>
            <a:endParaRPr lang="ru-RU" sz="1400" dirty="0"/>
          </a:p>
        </p:txBody>
      </p:sp>
      <p:sp>
        <p:nvSpPr>
          <p:cNvPr id="18" name="TextBox 17"/>
          <p:cNvSpPr txBox="1"/>
          <p:nvPr/>
        </p:nvSpPr>
        <p:spPr>
          <a:xfrm>
            <a:off x="421027" y="5424442"/>
            <a:ext cx="3209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/>
              <a:t>3</a:t>
            </a:r>
            <a:r>
              <a:rPr lang="ru-RU" sz="1400" dirty="0" smtClean="0"/>
              <a:t>.</a:t>
            </a:r>
            <a:endParaRPr lang="ru-RU" sz="1400" dirty="0"/>
          </a:p>
        </p:txBody>
      </p:sp>
      <p:cxnSp>
        <p:nvCxnSpPr>
          <p:cNvPr id="21" name="Прямая со стрелкой 20"/>
          <p:cNvCxnSpPr/>
          <p:nvPr/>
        </p:nvCxnSpPr>
        <p:spPr>
          <a:xfrm>
            <a:off x="723763" y="5954521"/>
            <a:ext cx="5062106" cy="0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/>
          <p:nvPr/>
        </p:nvCxnSpPr>
        <p:spPr>
          <a:xfrm>
            <a:off x="587632" y="3254826"/>
            <a:ext cx="5062106" cy="0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49738" y="3156501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  <a:endParaRPr lang="ru-RU" dirty="0"/>
          </a:p>
        </p:txBody>
      </p:sp>
      <p:sp>
        <p:nvSpPr>
          <p:cNvPr id="28" name="TextBox 27"/>
          <p:cNvSpPr txBox="1"/>
          <p:nvPr/>
        </p:nvSpPr>
        <p:spPr>
          <a:xfrm>
            <a:off x="5737196" y="5824216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60401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79512" y="2492896"/>
            <a:ext cx="8818515" cy="106800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800" dirty="0">
                <a:solidFill>
                  <a:srgbClr val="000000"/>
                </a:solidFill>
                <a:latin typeface="Arial"/>
              </a:rPr>
              <a:t>ОРГАНИЗАЦИЯ  ПАМЯТИ</a:t>
            </a:r>
            <a:endParaRPr lang="ru-RU" sz="28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65525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971600" y="476672"/>
            <a:ext cx="73581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РЕЖИМЫ  РАБОТЫ  ПРОЦЕССОРА</a:t>
            </a:r>
            <a:endParaRPr lang="ru-RU" sz="2000" b="1" u="sng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93812" y="2700398"/>
            <a:ext cx="37181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Доступно памяти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:          1 Мб</a:t>
            </a:r>
          </a:p>
          <a:p>
            <a:pPr marL="285750" lvl="0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Организация памяти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:   сегментная</a:t>
            </a:r>
          </a:p>
          <a:p>
            <a:pPr marL="285750" lvl="0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Многозадачность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:          отсутствует</a:t>
            </a:r>
          </a:p>
          <a:p>
            <a:pPr marL="285750" lvl="0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Изоляция процессов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:     отсутствует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90082" y="1292568"/>
            <a:ext cx="11136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 smtClean="0"/>
              <a:t>Режим</a:t>
            </a:r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782840" y="2197312"/>
            <a:ext cx="1154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u="sng" dirty="0" smtClean="0"/>
              <a:t>Реальный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37674" y="2197312"/>
            <a:ext cx="1514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u="sng" dirty="0" smtClean="0"/>
              <a:t>Защищенный</a:t>
            </a:r>
            <a:endParaRPr lang="ru-RU" u="sng" dirty="0"/>
          </a:p>
        </p:txBody>
      </p:sp>
      <p:cxnSp>
        <p:nvCxnSpPr>
          <p:cNvPr id="4" name="Прямая со стрелкой 3"/>
          <p:cNvCxnSpPr/>
          <p:nvPr/>
        </p:nvCxnSpPr>
        <p:spPr>
          <a:xfrm flipH="1">
            <a:off x="2765946" y="1754233"/>
            <a:ext cx="1224136" cy="44308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>
            <a:off x="5104298" y="1754233"/>
            <a:ext cx="1262048" cy="47443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004048" y="2708920"/>
            <a:ext cx="38164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Доступно памяти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:       4 Гб – 64 Тб</a:t>
            </a:r>
          </a:p>
          <a:p>
            <a:pPr marL="285750" lvl="0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Организация памяти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pPr lvl="0" algn="just">
              <a:lnSpc>
                <a:spcPct val="150000"/>
              </a:lnSpc>
            </a:pP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	сегментная или страничная</a:t>
            </a:r>
          </a:p>
          <a:p>
            <a:pPr marL="285750" lvl="0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Многозадачность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:        отсутствует</a:t>
            </a:r>
          </a:p>
          <a:p>
            <a:pPr marL="285750" lvl="0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Изоляция процессов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:   отсутствует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87624" y="5013175"/>
            <a:ext cx="6415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Переход в защищенный режим осуществляется из реального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1155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971600" y="476672"/>
            <a:ext cx="73581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РЕАЛЬНЫЙ  РЕЖИМ</a:t>
            </a:r>
            <a:endParaRPr lang="ru-RU" sz="2000" b="1" u="sng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43609" y="1412775"/>
            <a:ext cx="741682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ru-RU" sz="1600" u="sng" dirty="0" smtClean="0">
                <a:latin typeface="Times New Roman" pitchFamily="18" charset="0"/>
                <a:cs typeface="Times New Roman" pitchFamily="18" charset="0"/>
              </a:rPr>
              <a:t>Особенности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Адресное пространство разделено на неравные части 16 б – 64 Кб –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сегменты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Адресное пространство едино для всех исполняющихся программ 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lvl="0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Доступно только 1 Мб памяти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  <a:p>
            <a:pPr marL="285750" lvl="0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Сегменты могут пересекаться между собой</a:t>
            </a:r>
          </a:p>
          <a:p>
            <a:pPr marL="285750" lvl="0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Выделение и управление сегментами осуществляет ОС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  <a:p>
            <a:pPr marL="285750" lvl="0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Невозможна изоляция адресных пространств программ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880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971600" y="476672"/>
            <a:ext cx="73581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СЕГМЕНТНАЯ  АДРЕСАЦИЯ</a:t>
            </a:r>
            <a:endParaRPr lang="ru-RU" sz="2000" b="1" u="sng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5" name="Группа 14"/>
          <p:cNvGrpSpPr/>
          <p:nvPr/>
        </p:nvGrpSpPr>
        <p:grpSpPr>
          <a:xfrm>
            <a:off x="689361" y="3276600"/>
            <a:ext cx="7922593" cy="296416"/>
            <a:chOff x="609847" y="1556792"/>
            <a:chExt cx="7922593" cy="296416"/>
          </a:xfrm>
        </p:grpSpPr>
        <p:cxnSp>
          <p:nvCxnSpPr>
            <p:cNvPr id="9" name="Прямая соединительная линия 8"/>
            <p:cNvCxnSpPr/>
            <p:nvPr/>
          </p:nvCxnSpPr>
          <p:spPr>
            <a:xfrm>
              <a:off x="611560" y="1700808"/>
              <a:ext cx="7920880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Прямая соединительная линия 43"/>
            <p:cNvCxnSpPr/>
            <p:nvPr/>
          </p:nvCxnSpPr>
          <p:spPr>
            <a:xfrm>
              <a:off x="609847" y="1556792"/>
              <a:ext cx="0" cy="288032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Прямая соединительная линия 44"/>
            <p:cNvCxnSpPr/>
            <p:nvPr/>
          </p:nvCxnSpPr>
          <p:spPr>
            <a:xfrm>
              <a:off x="8532440" y="1565176"/>
              <a:ext cx="0" cy="288032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Группа 45"/>
          <p:cNvGrpSpPr/>
          <p:nvPr/>
        </p:nvGrpSpPr>
        <p:grpSpPr>
          <a:xfrm>
            <a:off x="691073" y="2924943"/>
            <a:ext cx="2232248" cy="296416"/>
            <a:chOff x="609847" y="1556792"/>
            <a:chExt cx="7922593" cy="296416"/>
          </a:xfrm>
        </p:grpSpPr>
        <p:cxnSp>
          <p:nvCxnSpPr>
            <p:cNvPr id="47" name="Прямая соединительная линия 46"/>
            <p:cNvCxnSpPr/>
            <p:nvPr/>
          </p:nvCxnSpPr>
          <p:spPr>
            <a:xfrm>
              <a:off x="611560" y="1700808"/>
              <a:ext cx="7920880" cy="0"/>
            </a:xfrm>
            <a:prstGeom prst="line">
              <a:avLst/>
            </a:prstGeom>
            <a:ln w="635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Прямая соединительная линия 47"/>
            <p:cNvCxnSpPr/>
            <p:nvPr/>
          </p:nvCxnSpPr>
          <p:spPr>
            <a:xfrm>
              <a:off x="609847" y="1556792"/>
              <a:ext cx="0" cy="288032"/>
            </a:xfrm>
            <a:prstGeom prst="line">
              <a:avLst/>
            </a:prstGeom>
            <a:ln w="635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Прямая соединительная линия 48"/>
            <p:cNvCxnSpPr/>
            <p:nvPr/>
          </p:nvCxnSpPr>
          <p:spPr>
            <a:xfrm>
              <a:off x="8532440" y="1565176"/>
              <a:ext cx="0" cy="288032"/>
            </a:xfrm>
            <a:prstGeom prst="line">
              <a:avLst/>
            </a:prstGeom>
            <a:ln w="635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Группа 49"/>
          <p:cNvGrpSpPr/>
          <p:nvPr/>
        </p:nvGrpSpPr>
        <p:grpSpPr>
          <a:xfrm>
            <a:off x="3075721" y="2963280"/>
            <a:ext cx="1352263" cy="296416"/>
            <a:chOff x="609847" y="1556792"/>
            <a:chExt cx="7922593" cy="296416"/>
          </a:xfrm>
        </p:grpSpPr>
        <p:cxnSp>
          <p:nvCxnSpPr>
            <p:cNvPr id="51" name="Прямая соединительная линия 50"/>
            <p:cNvCxnSpPr/>
            <p:nvPr/>
          </p:nvCxnSpPr>
          <p:spPr>
            <a:xfrm>
              <a:off x="611560" y="1700808"/>
              <a:ext cx="7920880" cy="0"/>
            </a:xfrm>
            <a:prstGeom prst="line">
              <a:avLst/>
            </a:prstGeom>
            <a:ln w="635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Прямая соединительная линия 51"/>
            <p:cNvCxnSpPr/>
            <p:nvPr/>
          </p:nvCxnSpPr>
          <p:spPr>
            <a:xfrm>
              <a:off x="609847" y="1556792"/>
              <a:ext cx="0" cy="288032"/>
            </a:xfrm>
            <a:prstGeom prst="line">
              <a:avLst/>
            </a:prstGeom>
            <a:ln w="635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Прямая соединительная линия 52"/>
            <p:cNvCxnSpPr/>
            <p:nvPr/>
          </p:nvCxnSpPr>
          <p:spPr>
            <a:xfrm>
              <a:off x="8532440" y="1565176"/>
              <a:ext cx="0" cy="288032"/>
            </a:xfrm>
            <a:prstGeom prst="line">
              <a:avLst/>
            </a:prstGeom>
            <a:ln w="635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Группа 53"/>
          <p:cNvGrpSpPr/>
          <p:nvPr/>
        </p:nvGrpSpPr>
        <p:grpSpPr>
          <a:xfrm>
            <a:off x="4668590" y="2971665"/>
            <a:ext cx="2927746" cy="296416"/>
            <a:chOff x="609847" y="1556792"/>
            <a:chExt cx="7922593" cy="296416"/>
          </a:xfrm>
        </p:grpSpPr>
        <p:cxnSp>
          <p:nvCxnSpPr>
            <p:cNvPr id="55" name="Прямая соединительная линия 54"/>
            <p:cNvCxnSpPr/>
            <p:nvPr/>
          </p:nvCxnSpPr>
          <p:spPr>
            <a:xfrm>
              <a:off x="611560" y="1700808"/>
              <a:ext cx="7920880" cy="0"/>
            </a:xfrm>
            <a:prstGeom prst="line">
              <a:avLst/>
            </a:prstGeom>
            <a:ln w="635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Прямая соединительная линия 55"/>
            <p:cNvCxnSpPr/>
            <p:nvPr/>
          </p:nvCxnSpPr>
          <p:spPr>
            <a:xfrm>
              <a:off x="609847" y="1556792"/>
              <a:ext cx="0" cy="288032"/>
            </a:xfrm>
            <a:prstGeom prst="line">
              <a:avLst/>
            </a:prstGeom>
            <a:ln w="635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Прямая соединительная линия 56"/>
            <p:cNvCxnSpPr/>
            <p:nvPr/>
          </p:nvCxnSpPr>
          <p:spPr>
            <a:xfrm>
              <a:off x="8532440" y="1565176"/>
              <a:ext cx="0" cy="288032"/>
            </a:xfrm>
            <a:prstGeom prst="line">
              <a:avLst/>
            </a:prstGeom>
            <a:ln w="635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>
          <a:xfrm>
            <a:off x="1216827" y="2729813"/>
            <a:ext cx="1181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Segment 1</a:t>
            </a:r>
            <a:endParaRPr lang="ru-RU" dirty="0"/>
          </a:p>
        </p:txBody>
      </p:sp>
      <p:sp>
        <p:nvSpPr>
          <p:cNvPr id="58" name="TextBox 57"/>
          <p:cNvSpPr txBox="1"/>
          <p:nvPr/>
        </p:nvSpPr>
        <p:spPr>
          <a:xfrm>
            <a:off x="3161387" y="2742591"/>
            <a:ext cx="1181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Segment 2</a:t>
            </a:r>
            <a:endParaRPr lang="ru-RU" dirty="0"/>
          </a:p>
        </p:txBody>
      </p:sp>
      <p:sp>
        <p:nvSpPr>
          <p:cNvPr id="59" name="TextBox 58"/>
          <p:cNvSpPr txBox="1"/>
          <p:nvPr/>
        </p:nvSpPr>
        <p:spPr>
          <a:xfrm>
            <a:off x="5542168" y="2754733"/>
            <a:ext cx="1181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Segment 3</a:t>
            </a:r>
            <a:endParaRPr lang="ru-RU" dirty="0"/>
          </a:p>
        </p:txBody>
      </p:sp>
      <p:grpSp>
        <p:nvGrpSpPr>
          <p:cNvPr id="60" name="Группа 59"/>
          <p:cNvGrpSpPr/>
          <p:nvPr/>
        </p:nvGrpSpPr>
        <p:grpSpPr>
          <a:xfrm>
            <a:off x="682142" y="5796880"/>
            <a:ext cx="7922593" cy="296416"/>
            <a:chOff x="609847" y="1556792"/>
            <a:chExt cx="7922593" cy="296416"/>
          </a:xfrm>
        </p:grpSpPr>
        <p:cxnSp>
          <p:nvCxnSpPr>
            <p:cNvPr id="61" name="Прямая соединительная линия 60"/>
            <p:cNvCxnSpPr/>
            <p:nvPr/>
          </p:nvCxnSpPr>
          <p:spPr>
            <a:xfrm>
              <a:off x="611560" y="1700808"/>
              <a:ext cx="7920880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Прямая соединительная линия 61"/>
            <p:cNvCxnSpPr/>
            <p:nvPr/>
          </p:nvCxnSpPr>
          <p:spPr>
            <a:xfrm>
              <a:off x="609847" y="1556792"/>
              <a:ext cx="0" cy="288032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Прямая соединительная линия 62"/>
            <p:cNvCxnSpPr/>
            <p:nvPr/>
          </p:nvCxnSpPr>
          <p:spPr>
            <a:xfrm>
              <a:off x="8532440" y="1565176"/>
              <a:ext cx="0" cy="288032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Группа 63"/>
          <p:cNvGrpSpPr/>
          <p:nvPr/>
        </p:nvGrpSpPr>
        <p:grpSpPr>
          <a:xfrm>
            <a:off x="683854" y="5445224"/>
            <a:ext cx="2232248" cy="296416"/>
            <a:chOff x="609847" y="1556792"/>
            <a:chExt cx="7922593" cy="296416"/>
          </a:xfrm>
        </p:grpSpPr>
        <p:cxnSp>
          <p:nvCxnSpPr>
            <p:cNvPr id="65" name="Прямая соединительная линия 64"/>
            <p:cNvCxnSpPr/>
            <p:nvPr/>
          </p:nvCxnSpPr>
          <p:spPr>
            <a:xfrm>
              <a:off x="611560" y="1700808"/>
              <a:ext cx="7920880" cy="0"/>
            </a:xfrm>
            <a:prstGeom prst="line">
              <a:avLst/>
            </a:prstGeom>
            <a:ln w="635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Прямая соединительная линия 65"/>
            <p:cNvCxnSpPr/>
            <p:nvPr/>
          </p:nvCxnSpPr>
          <p:spPr>
            <a:xfrm>
              <a:off x="609847" y="1556792"/>
              <a:ext cx="0" cy="288032"/>
            </a:xfrm>
            <a:prstGeom prst="line">
              <a:avLst/>
            </a:prstGeom>
            <a:ln w="635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Прямая соединительная линия 66"/>
            <p:cNvCxnSpPr/>
            <p:nvPr/>
          </p:nvCxnSpPr>
          <p:spPr>
            <a:xfrm>
              <a:off x="8532440" y="1565176"/>
              <a:ext cx="0" cy="288032"/>
            </a:xfrm>
            <a:prstGeom prst="line">
              <a:avLst/>
            </a:prstGeom>
            <a:ln w="635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Группа 67"/>
          <p:cNvGrpSpPr/>
          <p:nvPr/>
        </p:nvGrpSpPr>
        <p:grpSpPr>
          <a:xfrm>
            <a:off x="1045786" y="5096288"/>
            <a:ext cx="1352263" cy="296416"/>
            <a:chOff x="609847" y="1556792"/>
            <a:chExt cx="7922593" cy="296416"/>
          </a:xfrm>
        </p:grpSpPr>
        <p:cxnSp>
          <p:nvCxnSpPr>
            <p:cNvPr id="69" name="Прямая соединительная линия 68"/>
            <p:cNvCxnSpPr/>
            <p:nvPr/>
          </p:nvCxnSpPr>
          <p:spPr>
            <a:xfrm>
              <a:off x="611560" y="1700808"/>
              <a:ext cx="7920880" cy="0"/>
            </a:xfrm>
            <a:prstGeom prst="line">
              <a:avLst/>
            </a:prstGeom>
            <a:ln w="635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Прямая соединительная линия 69"/>
            <p:cNvCxnSpPr/>
            <p:nvPr/>
          </p:nvCxnSpPr>
          <p:spPr>
            <a:xfrm>
              <a:off x="609847" y="1556792"/>
              <a:ext cx="0" cy="288032"/>
            </a:xfrm>
            <a:prstGeom prst="line">
              <a:avLst/>
            </a:prstGeom>
            <a:ln w="635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Прямая соединительная линия 70"/>
            <p:cNvCxnSpPr/>
            <p:nvPr/>
          </p:nvCxnSpPr>
          <p:spPr>
            <a:xfrm>
              <a:off x="8532440" y="1565176"/>
              <a:ext cx="0" cy="288032"/>
            </a:xfrm>
            <a:prstGeom prst="line">
              <a:avLst/>
            </a:prstGeom>
            <a:ln w="635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Группа 71"/>
          <p:cNvGrpSpPr/>
          <p:nvPr/>
        </p:nvGrpSpPr>
        <p:grpSpPr>
          <a:xfrm>
            <a:off x="2672972" y="5092096"/>
            <a:ext cx="2927746" cy="296416"/>
            <a:chOff x="609847" y="1556792"/>
            <a:chExt cx="7922593" cy="296416"/>
          </a:xfrm>
        </p:grpSpPr>
        <p:cxnSp>
          <p:nvCxnSpPr>
            <p:cNvPr id="73" name="Прямая соединительная линия 72"/>
            <p:cNvCxnSpPr/>
            <p:nvPr/>
          </p:nvCxnSpPr>
          <p:spPr>
            <a:xfrm>
              <a:off x="611560" y="1700808"/>
              <a:ext cx="7920880" cy="0"/>
            </a:xfrm>
            <a:prstGeom prst="line">
              <a:avLst/>
            </a:prstGeom>
            <a:ln w="635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Прямая соединительная линия 73"/>
            <p:cNvCxnSpPr/>
            <p:nvPr/>
          </p:nvCxnSpPr>
          <p:spPr>
            <a:xfrm>
              <a:off x="609847" y="1556792"/>
              <a:ext cx="0" cy="288032"/>
            </a:xfrm>
            <a:prstGeom prst="line">
              <a:avLst/>
            </a:prstGeom>
            <a:ln w="635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Прямая соединительная линия 74"/>
            <p:cNvCxnSpPr/>
            <p:nvPr/>
          </p:nvCxnSpPr>
          <p:spPr>
            <a:xfrm>
              <a:off x="8532440" y="1565176"/>
              <a:ext cx="0" cy="288032"/>
            </a:xfrm>
            <a:prstGeom prst="line">
              <a:avLst/>
            </a:prstGeom>
            <a:ln w="635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TextBox 75"/>
          <p:cNvSpPr txBox="1"/>
          <p:nvPr/>
        </p:nvSpPr>
        <p:spPr>
          <a:xfrm>
            <a:off x="1209608" y="5250093"/>
            <a:ext cx="1181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Segment 1</a:t>
            </a:r>
            <a:endParaRPr lang="ru-RU" dirty="0"/>
          </a:p>
        </p:txBody>
      </p:sp>
      <p:sp>
        <p:nvSpPr>
          <p:cNvPr id="77" name="TextBox 76"/>
          <p:cNvSpPr txBox="1"/>
          <p:nvPr/>
        </p:nvSpPr>
        <p:spPr>
          <a:xfrm>
            <a:off x="1131452" y="4875599"/>
            <a:ext cx="1181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Segment 2</a:t>
            </a:r>
            <a:endParaRPr lang="ru-RU" dirty="0"/>
          </a:p>
        </p:txBody>
      </p:sp>
      <p:sp>
        <p:nvSpPr>
          <p:cNvPr id="78" name="TextBox 77"/>
          <p:cNvSpPr txBox="1"/>
          <p:nvPr/>
        </p:nvSpPr>
        <p:spPr>
          <a:xfrm>
            <a:off x="3452076" y="4860776"/>
            <a:ext cx="1181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Segment 3</a:t>
            </a:r>
            <a:endParaRPr lang="ru-RU" dirty="0"/>
          </a:p>
        </p:txBody>
      </p:sp>
      <p:sp>
        <p:nvSpPr>
          <p:cNvPr id="79" name="TextBox 78"/>
          <p:cNvSpPr txBox="1"/>
          <p:nvPr/>
        </p:nvSpPr>
        <p:spPr>
          <a:xfrm>
            <a:off x="652933" y="2123564"/>
            <a:ext cx="6101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Непересекающиеся  сегменты (корректное управление):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611560" y="4293095"/>
            <a:ext cx="6082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с пересечением (некорректное управление):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683568" y="1052737"/>
            <a:ext cx="7776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Сегмент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участок физической памяти со свободными границами и нефиксированного размера от 16 байт до 64 Кбайт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7839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971600" y="476672"/>
            <a:ext cx="73581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ОГРАНИЧЕНИЕ  НА  ОБЪЕМ  ПАМЯТИ</a:t>
            </a:r>
            <a:endParaRPr lang="ru-RU" sz="2000" b="1" u="sng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6874" y="1012086"/>
            <a:ext cx="4912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Почему только 1Мб физического пространства?</a:t>
            </a:r>
            <a:endParaRPr lang="ru-RU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3203848" y="2354108"/>
            <a:ext cx="2232248" cy="68739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Скругленный прямоугольник 20"/>
          <p:cNvSpPr/>
          <p:nvPr/>
        </p:nvSpPr>
        <p:spPr>
          <a:xfrm>
            <a:off x="1763688" y="1922060"/>
            <a:ext cx="1656184" cy="151216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Скругленный прямоугольник 21"/>
          <p:cNvSpPr/>
          <p:nvPr/>
        </p:nvSpPr>
        <p:spPr>
          <a:xfrm>
            <a:off x="5364088" y="2218475"/>
            <a:ext cx="1224136" cy="99972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/>
          <p:cNvSpPr txBox="1"/>
          <p:nvPr/>
        </p:nvSpPr>
        <p:spPr>
          <a:xfrm>
            <a:off x="5404590" y="2395174"/>
            <a:ext cx="11431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/>
              <a:t>Ram</a:t>
            </a:r>
          </a:p>
          <a:p>
            <a:pPr algn="ctr"/>
            <a:r>
              <a:rPr lang="en-US" b="1" dirty="0" smtClean="0"/>
              <a:t>Controller</a:t>
            </a:r>
            <a:endParaRPr lang="ru-RU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2014540" y="1922059"/>
            <a:ext cx="1154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/>
              <a:t>CPU  8086</a:t>
            </a:r>
            <a:endParaRPr lang="ru-RU" b="1" dirty="0"/>
          </a:p>
        </p:txBody>
      </p:sp>
      <p:cxnSp>
        <p:nvCxnSpPr>
          <p:cNvPr id="18" name="Прямая соединительная линия 17"/>
          <p:cNvCxnSpPr/>
          <p:nvPr/>
        </p:nvCxnSpPr>
        <p:spPr>
          <a:xfrm>
            <a:off x="3275857" y="2426115"/>
            <a:ext cx="2088232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/>
          <p:nvPr/>
        </p:nvCxnSpPr>
        <p:spPr>
          <a:xfrm>
            <a:off x="3275857" y="2498123"/>
            <a:ext cx="2088232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/>
          <p:nvPr/>
        </p:nvCxnSpPr>
        <p:spPr>
          <a:xfrm>
            <a:off x="3275857" y="2578515"/>
            <a:ext cx="2088232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/>
          <p:nvPr/>
        </p:nvCxnSpPr>
        <p:spPr>
          <a:xfrm>
            <a:off x="3275857" y="2786154"/>
            <a:ext cx="2088232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/>
          <p:nvPr/>
        </p:nvCxnSpPr>
        <p:spPr>
          <a:xfrm>
            <a:off x="3275857" y="2858163"/>
            <a:ext cx="2088232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/>
          <p:nvPr/>
        </p:nvCxnSpPr>
        <p:spPr>
          <a:xfrm>
            <a:off x="3275857" y="2930171"/>
            <a:ext cx="2088232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/>
          <p:nvPr/>
        </p:nvCxnSpPr>
        <p:spPr>
          <a:xfrm>
            <a:off x="3275857" y="3002179"/>
            <a:ext cx="2088232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/>
          <p:cNvCxnSpPr/>
          <p:nvPr/>
        </p:nvCxnSpPr>
        <p:spPr>
          <a:xfrm>
            <a:off x="3275857" y="2354107"/>
            <a:ext cx="2088232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Правая фигурная скобка 31"/>
          <p:cNvSpPr/>
          <p:nvPr/>
        </p:nvSpPr>
        <p:spPr>
          <a:xfrm flipH="1">
            <a:off x="3023828" y="2242775"/>
            <a:ext cx="180020" cy="831413"/>
          </a:xfrm>
          <a:prstGeom prst="rightBrace">
            <a:avLst>
              <a:gd name="adj1" fmla="val 8333"/>
              <a:gd name="adj2" fmla="val 50196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TextBox 32"/>
          <p:cNvSpPr txBox="1"/>
          <p:nvPr/>
        </p:nvSpPr>
        <p:spPr>
          <a:xfrm>
            <a:off x="2278850" y="2473815"/>
            <a:ext cx="7809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20 pins</a:t>
            </a:r>
            <a:endParaRPr lang="ru-RU" sz="1600" dirty="0"/>
          </a:p>
        </p:txBody>
      </p:sp>
      <p:sp>
        <p:nvSpPr>
          <p:cNvPr id="34" name="Стрелка вправо 33"/>
          <p:cNvSpPr/>
          <p:nvPr/>
        </p:nvSpPr>
        <p:spPr>
          <a:xfrm rot="5400000">
            <a:off x="4310428" y="2927180"/>
            <a:ext cx="720079" cy="1958276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39" name="Группа 38"/>
          <p:cNvGrpSpPr/>
          <p:nvPr/>
        </p:nvGrpSpPr>
        <p:grpSpPr>
          <a:xfrm>
            <a:off x="3491880" y="4489374"/>
            <a:ext cx="2555776" cy="955849"/>
            <a:chOff x="6588224" y="4869160"/>
            <a:chExt cx="2555776" cy="955849"/>
          </a:xfrm>
        </p:grpSpPr>
        <p:sp>
          <p:nvSpPr>
            <p:cNvPr id="35" name="TextBox 34"/>
            <p:cNvSpPr txBox="1"/>
            <p:nvPr/>
          </p:nvSpPr>
          <p:spPr>
            <a:xfrm>
              <a:off x="6588224" y="4869160"/>
              <a:ext cx="255577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/>
                <a:t>Address</a:t>
              </a:r>
              <a:r>
                <a:rPr lang="en-US" dirty="0" smtClean="0"/>
                <a:t>:   0 – (2    -1) </a:t>
              </a:r>
            </a:p>
            <a:p>
              <a:endParaRPr lang="en-US" dirty="0" smtClean="0"/>
            </a:p>
            <a:p>
              <a:r>
                <a:rPr lang="en-US" b="1" dirty="0" smtClean="0"/>
                <a:t>V      </a:t>
              </a:r>
              <a:r>
                <a:rPr lang="en-US" dirty="0" smtClean="0"/>
                <a:t>    = 2     byte = 1 Mb</a:t>
              </a:r>
              <a:endParaRPr lang="ru-RU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165032" y="4869160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20</a:t>
              </a:r>
              <a:endParaRPr lang="ru-RU" sz="1400" dirty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732240" y="5517232"/>
              <a:ext cx="56618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/>
                <a:t>mem</a:t>
              </a:r>
              <a:endParaRPr lang="ru-RU" sz="1400" b="1" dirty="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524328" y="5353472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20</a:t>
              </a:r>
              <a:endParaRPr lang="ru-RU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53770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971600" y="332656"/>
            <a:ext cx="73581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АДРЕСАЦИЯ  В  РЕАЛЬНОМ  РЕЖИМЕ</a:t>
            </a:r>
            <a:endParaRPr lang="ru-RU" sz="2000" b="1" u="sng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13376" y="1217983"/>
            <a:ext cx="59883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Процессор 16-разрядный и все адресные регистры тоже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Адресная шина 20-разрядная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11561" y="764704"/>
            <a:ext cx="1545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Особенности:</a:t>
            </a:r>
            <a:endParaRPr lang="ru-RU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00153" y="1988840"/>
            <a:ext cx="3161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Формат логического адреса: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895485" y="2620859"/>
            <a:ext cx="2538495" cy="3231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рямоугольник 42"/>
          <p:cNvSpPr/>
          <p:nvPr/>
        </p:nvSpPr>
        <p:spPr>
          <a:xfrm>
            <a:off x="4658887" y="2603123"/>
            <a:ext cx="2511398" cy="34090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2101450" y="2603121"/>
            <a:ext cx="22511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Сег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адрес (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Segment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4946919" y="2603120"/>
            <a:ext cx="20015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Смещение 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Offset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4433981" y="2582996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00152" y="4598676"/>
            <a:ext cx="3518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Получение физического адреса: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Прямоугольник 44"/>
          <p:cNvSpPr/>
          <p:nvPr/>
        </p:nvSpPr>
        <p:spPr>
          <a:xfrm>
            <a:off x="549068" y="5346816"/>
            <a:ext cx="3302853" cy="3231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рямоугольник 45"/>
          <p:cNvSpPr/>
          <p:nvPr/>
        </p:nvSpPr>
        <p:spPr>
          <a:xfrm>
            <a:off x="1835697" y="5922882"/>
            <a:ext cx="3163813" cy="34090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Прямоугольник 47"/>
          <p:cNvSpPr/>
          <p:nvPr/>
        </p:nvSpPr>
        <p:spPr>
          <a:xfrm>
            <a:off x="2626369" y="5913588"/>
            <a:ext cx="20015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Смещение 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Offset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0" name="Прямоугольник 19"/>
          <p:cNvSpPr/>
          <p:nvPr/>
        </p:nvSpPr>
        <p:spPr>
          <a:xfrm>
            <a:off x="549067" y="5274809"/>
            <a:ext cx="4460978" cy="10801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TextBox 50"/>
          <p:cNvSpPr txBox="1"/>
          <p:nvPr/>
        </p:nvSpPr>
        <p:spPr>
          <a:xfrm>
            <a:off x="7032266" y="288724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smtClean="0"/>
              <a:t>0</a:t>
            </a:r>
            <a:endParaRPr lang="ru-RU" sz="1400" dirty="0"/>
          </a:p>
        </p:txBody>
      </p:sp>
      <p:sp>
        <p:nvSpPr>
          <p:cNvPr id="52" name="TextBox 51"/>
          <p:cNvSpPr txBox="1"/>
          <p:nvPr/>
        </p:nvSpPr>
        <p:spPr>
          <a:xfrm>
            <a:off x="4488584" y="2900447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smtClean="0"/>
              <a:t>15</a:t>
            </a:r>
            <a:endParaRPr lang="ru-RU" sz="1400" dirty="0"/>
          </a:p>
        </p:txBody>
      </p:sp>
      <p:sp>
        <p:nvSpPr>
          <p:cNvPr id="53" name="TextBox 52"/>
          <p:cNvSpPr txBox="1"/>
          <p:nvPr/>
        </p:nvSpPr>
        <p:spPr>
          <a:xfrm>
            <a:off x="1711782" y="2892500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smtClean="0"/>
              <a:t>15</a:t>
            </a:r>
            <a:endParaRPr lang="ru-RU" sz="1400" dirty="0"/>
          </a:p>
        </p:txBody>
      </p:sp>
      <p:sp>
        <p:nvSpPr>
          <p:cNvPr id="54" name="TextBox 53"/>
          <p:cNvSpPr txBox="1"/>
          <p:nvPr/>
        </p:nvSpPr>
        <p:spPr>
          <a:xfrm>
            <a:off x="4272560" y="290520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smtClean="0"/>
              <a:t>0</a:t>
            </a:r>
            <a:endParaRPr lang="ru-RU" sz="1400" dirty="0"/>
          </a:p>
        </p:txBody>
      </p:sp>
      <p:sp>
        <p:nvSpPr>
          <p:cNvPr id="55" name="Прямоугольник 54"/>
          <p:cNvSpPr/>
          <p:nvPr/>
        </p:nvSpPr>
        <p:spPr>
          <a:xfrm>
            <a:off x="1063135" y="5323732"/>
            <a:ext cx="22511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Сег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адрес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Segment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Прямоугольник 55"/>
          <p:cNvSpPr/>
          <p:nvPr/>
        </p:nvSpPr>
        <p:spPr>
          <a:xfrm>
            <a:off x="3851920" y="5346816"/>
            <a:ext cx="1158125" cy="32316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TextBox 56"/>
          <p:cNvSpPr txBox="1"/>
          <p:nvPr/>
        </p:nvSpPr>
        <p:spPr>
          <a:xfrm>
            <a:off x="3863914" y="534681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smtClean="0"/>
              <a:t>0</a:t>
            </a:r>
            <a:endParaRPr lang="ru-RU" sz="1400" dirty="0"/>
          </a:p>
        </p:txBody>
      </p:sp>
      <p:sp>
        <p:nvSpPr>
          <p:cNvPr id="58" name="TextBox 57"/>
          <p:cNvSpPr txBox="1"/>
          <p:nvPr/>
        </p:nvSpPr>
        <p:spPr>
          <a:xfrm>
            <a:off x="4734007" y="535451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smtClean="0"/>
              <a:t>0</a:t>
            </a:r>
            <a:endParaRPr lang="ru-RU" sz="1400" dirty="0"/>
          </a:p>
        </p:txBody>
      </p:sp>
      <p:sp>
        <p:nvSpPr>
          <p:cNvPr id="59" name="TextBox 58"/>
          <p:cNvSpPr txBox="1"/>
          <p:nvPr/>
        </p:nvSpPr>
        <p:spPr>
          <a:xfrm>
            <a:off x="4154944" y="535451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smtClean="0"/>
              <a:t>0</a:t>
            </a:r>
            <a:endParaRPr lang="ru-RU" sz="1400" dirty="0"/>
          </a:p>
        </p:txBody>
      </p:sp>
      <p:sp>
        <p:nvSpPr>
          <p:cNvPr id="60" name="TextBox 59"/>
          <p:cNvSpPr txBox="1"/>
          <p:nvPr/>
        </p:nvSpPr>
        <p:spPr>
          <a:xfrm>
            <a:off x="4439978" y="535157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smtClean="0"/>
              <a:t>0</a:t>
            </a:r>
            <a:endParaRPr lang="ru-RU" sz="1400" dirty="0"/>
          </a:p>
        </p:txBody>
      </p:sp>
      <p:sp>
        <p:nvSpPr>
          <p:cNvPr id="61" name="TextBox 60"/>
          <p:cNvSpPr txBox="1"/>
          <p:nvPr/>
        </p:nvSpPr>
        <p:spPr>
          <a:xfrm>
            <a:off x="4872026" y="501317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smtClean="0"/>
              <a:t>0</a:t>
            </a:r>
            <a:endParaRPr lang="ru-RU" sz="1400" dirty="0"/>
          </a:p>
        </p:txBody>
      </p:sp>
      <p:sp>
        <p:nvSpPr>
          <p:cNvPr id="62" name="TextBox 61"/>
          <p:cNvSpPr txBox="1"/>
          <p:nvPr/>
        </p:nvSpPr>
        <p:spPr>
          <a:xfrm>
            <a:off x="395536" y="503109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smtClean="0"/>
              <a:t>19</a:t>
            </a:r>
            <a:endParaRPr lang="ru-RU" sz="1400" dirty="0"/>
          </a:p>
        </p:txBody>
      </p:sp>
      <p:sp>
        <p:nvSpPr>
          <p:cNvPr id="63" name="TextBox 62"/>
          <p:cNvSpPr txBox="1"/>
          <p:nvPr/>
        </p:nvSpPr>
        <p:spPr>
          <a:xfrm>
            <a:off x="3131840" y="556284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+</a:t>
            </a:r>
          </a:p>
        </p:txBody>
      </p:sp>
      <p:sp>
        <p:nvSpPr>
          <p:cNvPr id="64" name="Прямоугольник 63"/>
          <p:cNvSpPr/>
          <p:nvPr/>
        </p:nvSpPr>
        <p:spPr>
          <a:xfrm>
            <a:off x="6228184" y="5678797"/>
            <a:ext cx="2716416" cy="31565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5" name="Прямоугольник 64"/>
          <p:cNvSpPr/>
          <p:nvPr/>
        </p:nvSpPr>
        <p:spPr>
          <a:xfrm>
            <a:off x="6470647" y="5651955"/>
            <a:ext cx="24019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Физический адрес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Стрелка вправо 65"/>
          <p:cNvSpPr/>
          <p:nvPr/>
        </p:nvSpPr>
        <p:spPr>
          <a:xfrm>
            <a:off x="5436096" y="5301209"/>
            <a:ext cx="360040" cy="1043102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TextBox 66"/>
          <p:cNvSpPr txBox="1"/>
          <p:nvPr/>
        </p:nvSpPr>
        <p:spPr>
          <a:xfrm>
            <a:off x="827584" y="3297759"/>
            <a:ext cx="80277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Сегментный адрес помещается в сегментный регистр (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cs,ds,es,fs,gs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Смещение может содержаться в одном из регистрах общего назначения (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bx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di,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bp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в регистре смещений команд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или задаваться явно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Программное обращение по адресу: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Сегментный регистр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&gt;:&lt;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Смещение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8791698" y="538157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smtClean="0"/>
              <a:t>0</a:t>
            </a:r>
            <a:endParaRPr lang="ru-RU" sz="1400" dirty="0"/>
          </a:p>
        </p:txBody>
      </p:sp>
      <p:sp>
        <p:nvSpPr>
          <p:cNvPr id="69" name="TextBox 68"/>
          <p:cNvSpPr txBox="1"/>
          <p:nvPr/>
        </p:nvSpPr>
        <p:spPr>
          <a:xfrm>
            <a:off x="6044480" y="5371019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smtClean="0"/>
              <a:t>19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818067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971600" y="476672"/>
            <a:ext cx="73581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АДРЕСАЦИЯ  В  РЕАЛЬНОМ  РЕЖИМЕ</a:t>
            </a:r>
            <a:endParaRPr lang="ru-RU" sz="2000" b="1" u="sng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35026" y="1092799"/>
            <a:ext cx="774143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ru-RU" sz="1600" u="sng" dirty="0" smtClean="0">
                <a:latin typeface="Times New Roman" pitchFamily="18" charset="0"/>
                <a:cs typeface="Times New Roman" pitchFamily="18" charset="0"/>
              </a:rPr>
              <a:t>Следствие</a:t>
            </a:r>
          </a:p>
          <a:p>
            <a:pPr marL="285750" lvl="0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Сегмент может начинаться с адреса кратного 16 бит (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параграф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285750" lvl="0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Размер сегмента не может быть меньше размера параграфа (16 бит) и не может превышать максимального смещения (2      бит  = 64 Кбит)</a:t>
            </a:r>
          </a:p>
          <a:p>
            <a:pPr marL="285750" lvl="0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Сегменты могут пересекаться </a:t>
            </a:r>
          </a:p>
          <a:p>
            <a:pPr marL="285750" lvl="0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Разные комбинации сегментного адреса и смещения могут давать один и тот же физический адрес</a:t>
            </a:r>
          </a:p>
          <a:p>
            <a:pPr marL="285750" lvl="0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Возникновение «загибания» максимального адреса:  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	   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FFFFh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&lt;&lt; 4 + FFFF = 10FFEF &gt; FFFF</a:t>
            </a:r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734296" y="2215898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 smtClean="0"/>
              <a:t>16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3861459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899592" y="2916234"/>
            <a:ext cx="73581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ЗАЩИЩЕННЫЙ  РЕЖИМ</a:t>
            </a:r>
            <a:endParaRPr lang="ru-RU" sz="3200" b="1" u="sng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6314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/>
          <p:cNvSpPr txBox="1"/>
          <p:nvPr/>
        </p:nvSpPr>
        <p:spPr>
          <a:xfrm>
            <a:off x="971600" y="404664"/>
            <a:ext cx="73581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ЗАЩИЩЕННЫЙ  РЕЖИМ</a:t>
            </a:r>
            <a:endParaRPr lang="ru-RU" sz="2000" b="1" u="sng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39553" y="3068960"/>
            <a:ext cx="839016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ru-RU" sz="1600" u="sng" dirty="0" smtClean="0">
                <a:latin typeface="Times New Roman" pitchFamily="18" charset="0"/>
                <a:cs typeface="Times New Roman" pitchFamily="18" charset="0"/>
              </a:rPr>
              <a:t>Особенности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Адресное пространство разделено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фиксированные части (64 Кб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/ 1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Мб) 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сегменты или страницы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Поддержка множества виртуальных изолированных адресных пространств 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Поддержка 4-уровневого режима правового доступа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lvl="0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Доступно только 4 Гб – 64 Тб памяти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  <a:p>
            <a:pPr marL="285750" lvl="0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Сегменты могут пересекаться между собой</a:t>
            </a:r>
          </a:p>
          <a:p>
            <a:pPr marL="285750" lvl="0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Выделение и управление сегментами и страницами осуществляется на аппаратном уровне</a:t>
            </a:r>
          </a:p>
          <a:p>
            <a:pPr marL="285750" lvl="0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Процессор работает в режиме 32-разрядной адресации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95536" y="2204865"/>
            <a:ext cx="38884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Доступно памяти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:          4 Гб – 64 Тб</a:t>
            </a:r>
          </a:p>
          <a:p>
            <a:pPr marL="285750" lvl="0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Организация памяти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:   сегментная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91807" y="908721"/>
            <a:ext cx="11136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 smtClean="0"/>
              <a:t>Режим</a:t>
            </a:r>
            <a:endParaRPr lang="ru-RU" sz="2400" b="1" dirty="0"/>
          </a:p>
        </p:txBody>
      </p:sp>
      <p:sp>
        <p:nvSpPr>
          <p:cNvPr id="39" name="TextBox 38"/>
          <p:cNvSpPr txBox="1"/>
          <p:nvPr/>
        </p:nvSpPr>
        <p:spPr>
          <a:xfrm>
            <a:off x="1567740" y="1813466"/>
            <a:ext cx="1388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u="sng" dirty="0" smtClean="0"/>
              <a:t>Сегментный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01660" y="1813466"/>
            <a:ext cx="1390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u="sng" dirty="0" smtClean="0"/>
              <a:t>Страничный</a:t>
            </a:r>
            <a:endParaRPr lang="ru-RU" u="sng" dirty="0"/>
          </a:p>
        </p:txBody>
      </p:sp>
      <p:cxnSp>
        <p:nvCxnSpPr>
          <p:cNvPr id="49" name="Прямая со стрелкой 48"/>
          <p:cNvCxnSpPr/>
          <p:nvPr/>
        </p:nvCxnSpPr>
        <p:spPr>
          <a:xfrm flipH="1">
            <a:off x="2667671" y="1370386"/>
            <a:ext cx="1224136" cy="44308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 стрелкой 49"/>
          <p:cNvCxnSpPr/>
          <p:nvPr/>
        </p:nvCxnSpPr>
        <p:spPr>
          <a:xfrm>
            <a:off x="5006022" y="1370387"/>
            <a:ext cx="1262048" cy="47443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4905772" y="2213388"/>
            <a:ext cx="38164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Доступно памяти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:         4 Гб</a:t>
            </a:r>
          </a:p>
          <a:p>
            <a:pPr marL="285750" lvl="0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Организация памяти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:  страничная</a:t>
            </a:r>
          </a:p>
        </p:txBody>
      </p:sp>
    </p:spTree>
    <p:extLst>
      <p:ext uri="{BB962C8B-B14F-4D97-AF65-F5344CB8AC3E}">
        <p14:creationId xmlns:p14="http://schemas.microsoft.com/office/powerpoint/2010/main" val="3962714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/>
          <p:cNvSpPr txBox="1"/>
          <p:nvPr/>
        </p:nvSpPr>
        <p:spPr>
          <a:xfrm>
            <a:off x="971600" y="404664"/>
            <a:ext cx="73581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ЗАЩИЩЕННЫЙ  РЕЖИМ</a:t>
            </a:r>
          </a:p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СТРАНИЧНАЯ  ОГРАНИЗАЦИЯ  ПАМЯТИ</a:t>
            </a:r>
            <a:endParaRPr lang="ru-RU" sz="20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707904" y="2370946"/>
            <a:ext cx="15183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 smtClean="0"/>
              <a:t>Страницы</a:t>
            </a:r>
            <a:endParaRPr lang="ru-RU" sz="2400" b="1" dirty="0"/>
          </a:p>
        </p:txBody>
      </p:sp>
      <p:sp>
        <p:nvSpPr>
          <p:cNvPr id="39" name="TextBox 38"/>
          <p:cNvSpPr txBox="1"/>
          <p:nvPr/>
        </p:nvSpPr>
        <p:spPr>
          <a:xfrm>
            <a:off x="1678354" y="3275692"/>
            <a:ext cx="1322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u="sng" dirty="0" smtClean="0"/>
              <a:t>Логические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15286" y="3347700"/>
            <a:ext cx="1362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u="sng" dirty="0" smtClean="0"/>
              <a:t>Физические</a:t>
            </a:r>
            <a:endParaRPr lang="ru-RU" u="sng" dirty="0"/>
          </a:p>
        </p:txBody>
      </p:sp>
      <p:cxnSp>
        <p:nvCxnSpPr>
          <p:cNvPr id="49" name="Прямая со стрелкой 48"/>
          <p:cNvCxnSpPr/>
          <p:nvPr/>
        </p:nvCxnSpPr>
        <p:spPr>
          <a:xfrm flipH="1">
            <a:off x="2667671" y="2904619"/>
            <a:ext cx="1224136" cy="44308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 стрелкой 49"/>
          <p:cNvCxnSpPr/>
          <p:nvPr/>
        </p:nvCxnSpPr>
        <p:spPr>
          <a:xfrm>
            <a:off x="5006022" y="2904620"/>
            <a:ext cx="1262048" cy="47443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81393" y="1412777"/>
            <a:ext cx="82670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600" b="1" dirty="0"/>
              <a:t>Страничная память</a:t>
            </a:r>
            <a:r>
              <a:rPr lang="ru-RU" sz="1600" dirty="0"/>
              <a:t> — способ организации виртуальной памяти, при котором единицей отображения виртуальных адресов на физические является регион постоянного размера </a:t>
            </a:r>
            <a:r>
              <a:rPr lang="ru-RU" sz="1600" dirty="0" smtClean="0"/>
              <a:t>(страница</a:t>
            </a:r>
            <a:r>
              <a:rPr lang="ru-RU" sz="1600" dirty="0"/>
              <a:t>). </a:t>
            </a:r>
            <a:endParaRPr lang="ru-RU" sz="1600" dirty="0" smtClean="0"/>
          </a:p>
        </p:txBody>
      </p:sp>
      <p:sp>
        <p:nvSpPr>
          <p:cNvPr id="15" name="TextBox 14"/>
          <p:cNvSpPr txBox="1"/>
          <p:nvPr/>
        </p:nvSpPr>
        <p:spPr>
          <a:xfrm>
            <a:off x="847763" y="3724734"/>
            <a:ext cx="36193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Страницы размещаются в логическом адресном пространстве</a:t>
            </a:r>
          </a:p>
          <a:p>
            <a:pPr marL="285750" lvl="0" indent="-285750" algn="just">
              <a:buFont typeface="Wingdings" pitchFamily="2" charset="2"/>
              <a:buChar char="Ø"/>
            </a:pP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Размещение последовательное и начинается с нулевого адреса</a:t>
            </a:r>
          </a:p>
          <a:p>
            <a:pPr marL="285750" lvl="0" indent="-285750" algn="just">
              <a:buFont typeface="Wingdings" pitchFamily="2" charset="2"/>
              <a:buChar char="Ø"/>
            </a:pPr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76056" y="3731549"/>
            <a:ext cx="36193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Страницы размещаются в физической памяти</a:t>
            </a:r>
          </a:p>
          <a:p>
            <a:pPr marL="285750" lvl="0" indent="-285750" algn="just">
              <a:buFont typeface="Wingdings" pitchFamily="2" charset="2"/>
              <a:buChar char="Ø"/>
            </a:pP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Размещение последовательное, но неупорядоченное</a:t>
            </a:r>
          </a:p>
          <a:p>
            <a:pPr marL="285750" lvl="0" indent="-285750" algn="just">
              <a:buFont typeface="Wingdings" pitchFamily="2" charset="2"/>
              <a:buChar char="Ø"/>
            </a:pPr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201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/>
          <p:cNvSpPr txBox="1"/>
          <p:nvPr/>
        </p:nvSpPr>
        <p:spPr>
          <a:xfrm>
            <a:off x="971600" y="332656"/>
            <a:ext cx="73581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ФИЗИЧЕСКИЕ  И  ЛОГИЧЕСКИЕ  СТРАНИЦ</a:t>
            </a:r>
            <a:endParaRPr lang="ru-RU" sz="2000" b="1" u="sng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768151" y="1628800"/>
            <a:ext cx="2016224" cy="475252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1876163" y="1700808"/>
            <a:ext cx="1800200" cy="8640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/>
        </p:nvSpPr>
        <p:spPr>
          <a:xfrm>
            <a:off x="1876163" y="2636913"/>
            <a:ext cx="1800200" cy="8640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/>
        </p:nvSpPr>
        <p:spPr>
          <a:xfrm>
            <a:off x="1876163" y="3573017"/>
            <a:ext cx="1800200" cy="8640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/>
          <p:cNvSpPr/>
          <p:nvPr/>
        </p:nvSpPr>
        <p:spPr>
          <a:xfrm>
            <a:off x="1876163" y="5445225"/>
            <a:ext cx="1800200" cy="8640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2433861" y="4797152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. . . . .</a:t>
            </a:r>
            <a:endParaRPr lang="ru-RU" dirty="0"/>
          </a:p>
        </p:txBody>
      </p:sp>
      <p:sp>
        <p:nvSpPr>
          <p:cNvPr id="20" name="Прямоугольник 19"/>
          <p:cNvSpPr/>
          <p:nvPr/>
        </p:nvSpPr>
        <p:spPr>
          <a:xfrm>
            <a:off x="5255387" y="1628800"/>
            <a:ext cx="2016224" cy="475252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5363399" y="1700808"/>
            <a:ext cx="1800200" cy="86409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extBox 24"/>
          <p:cNvSpPr txBox="1"/>
          <p:nvPr/>
        </p:nvSpPr>
        <p:spPr>
          <a:xfrm>
            <a:off x="5893715" y="3563647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. . . . .</a:t>
            </a:r>
            <a:endParaRPr lang="ru-RU" dirty="0"/>
          </a:p>
        </p:txBody>
      </p:sp>
      <p:sp>
        <p:nvSpPr>
          <p:cNvPr id="26" name="Прямоугольник 25"/>
          <p:cNvSpPr/>
          <p:nvPr/>
        </p:nvSpPr>
        <p:spPr>
          <a:xfrm>
            <a:off x="5363398" y="2636913"/>
            <a:ext cx="1800200" cy="86409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/>
          <p:cNvSpPr/>
          <p:nvPr/>
        </p:nvSpPr>
        <p:spPr>
          <a:xfrm>
            <a:off x="5363398" y="4005065"/>
            <a:ext cx="1800200" cy="86409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/>
          <p:cNvSpPr/>
          <p:nvPr/>
        </p:nvSpPr>
        <p:spPr>
          <a:xfrm>
            <a:off x="5364009" y="5445225"/>
            <a:ext cx="1800200" cy="86409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/>
          <p:cNvSpPr txBox="1"/>
          <p:nvPr/>
        </p:nvSpPr>
        <p:spPr>
          <a:xfrm>
            <a:off x="5921097" y="4981817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. . . . .</a:t>
            </a:r>
            <a:endParaRPr lang="ru-RU" dirty="0"/>
          </a:p>
        </p:txBody>
      </p:sp>
      <p:cxnSp>
        <p:nvCxnSpPr>
          <p:cNvPr id="8" name="Прямая со стрелкой 7"/>
          <p:cNvCxnSpPr>
            <a:stCxn id="3" idx="3"/>
            <a:endCxn id="26" idx="1"/>
          </p:cNvCxnSpPr>
          <p:nvPr/>
        </p:nvCxnSpPr>
        <p:spPr>
          <a:xfrm>
            <a:off x="3676362" y="2132856"/>
            <a:ext cx="1687036" cy="936104"/>
          </a:xfrm>
          <a:prstGeom prst="straightConnector1">
            <a:avLst/>
          </a:prstGeom>
          <a:ln w="19050">
            <a:solidFill>
              <a:schemeClr val="accent3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 стрелкой 39"/>
          <p:cNvCxnSpPr>
            <a:stCxn id="17" idx="3"/>
          </p:cNvCxnSpPr>
          <p:nvPr/>
        </p:nvCxnSpPr>
        <p:spPr>
          <a:xfrm>
            <a:off x="3676363" y="4005065"/>
            <a:ext cx="751622" cy="0"/>
          </a:xfrm>
          <a:prstGeom prst="straightConnector1">
            <a:avLst/>
          </a:prstGeom>
          <a:ln w="19050">
            <a:solidFill>
              <a:schemeClr val="accent3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/>
          <p:cNvCxnSpPr>
            <a:stCxn id="18" idx="3"/>
          </p:cNvCxnSpPr>
          <p:nvPr/>
        </p:nvCxnSpPr>
        <p:spPr>
          <a:xfrm flipV="1">
            <a:off x="3676362" y="4437112"/>
            <a:ext cx="1687036" cy="1440160"/>
          </a:xfrm>
          <a:prstGeom prst="straightConnector1">
            <a:avLst/>
          </a:prstGeom>
          <a:ln w="19050">
            <a:solidFill>
              <a:schemeClr val="accent3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/>
          <p:cNvCxnSpPr/>
          <p:nvPr/>
        </p:nvCxnSpPr>
        <p:spPr>
          <a:xfrm>
            <a:off x="4427984" y="3829690"/>
            <a:ext cx="321805" cy="36004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единительная линия 47"/>
          <p:cNvCxnSpPr/>
          <p:nvPr/>
        </p:nvCxnSpPr>
        <p:spPr>
          <a:xfrm flipV="1">
            <a:off x="4427984" y="3829690"/>
            <a:ext cx="321805" cy="36004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402023" y="1948189"/>
            <a:ext cx="899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LPage</a:t>
            </a:r>
            <a:r>
              <a:rPr lang="en-US" dirty="0" smtClean="0"/>
              <a:t> 1</a:t>
            </a:r>
            <a:endParaRPr lang="ru-RU" dirty="0"/>
          </a:p>
        </p:txBody>
      </p:sp>
      <p:sp>
        <p:nvSpPr>
          <p:cNvPr id="52" name="TextBox 51"/>
          <p:cNvSpPr txBox="1"/>
          <p:nvPr/>
        </p:nvSpPr>
        <p:spPr>
          <a:xfrm>
            <a:off x="2406696" y="2884294"/>
            <a:ext cx="899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LPage</a:t>
            </a:r>
            <a:r>
              <a:rPr lang="en-US" dirty="0" smtClean="0"/>
              <a:t> 2</a:t>
            </a:r>
            <a:endParaRPr lang="ru-RU" dirty="0"/>
          </a:p>
        </p:txBody>
      </p:sp>
      <p:sp>
        <p:nvSpPr>
          <p:cNvPr id="53" name="TextBox 52"/>
          <p:cNvSpPr txBox="1"/>
          <p:nvPr/>
        </p:nvSpPr>
        <p:spPr>
          <a:xfrm>
            <a:off x="2384192" y="3820398"/>
            <a:ext cx="899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LPage</a:t>
            </a:r>
            <a:r>
              <a:rPr lang="en-US" dirty="0" smtClean="0"/>
              <a:t> 3</a:t>
            </a:r>
            <a:endParaRPr lang="ru-RU" dirty="0"/>
          </a:p>
        </p:txBody>
      </p:sp>
      <p:sp>
        <p:nvSpPr>
          <p:cNvPr id="54" name="TextBox 53"/>
          <p:cNvSpPr txBox="1"/>
          <p:nvPr/>
        </p:nvSpPr>
        <p:spPr>
          <a:xfrm>
            <a:off x="2393522" y="5692606"/>
            <a:ext cx="931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LPage</a:t>
            </a:r>
            <a:r>
              <a:rPr lang="en-US" dirty="0" smtClean="0"/>
              <a:t> N</a:t>
            </a:r>
            <a:endParaRPr lang="ru-RU" dirty="0"/>
          </a:p>
        </p:txBody>
      </p:sp>
      <p:sp>
        <p:nvSpPr>
          <p:cNvPr id="55" name="TextBox 54"/>
          <p:cNvSpPr txBox="1"/>
          <p:nvPr/>
        </p:nvSpPr>
        <p:spPr>
          <a:xfrm>
            <a:off x="5814530" y="1948189"/>
            <a:ext cx="907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F</a:t>
            </a:r>
            <a:r>
              <a:rPr lang="en-US" dirty="0" err="1" smtClean="0"/>
              <a:t>Page</a:t>
            </a:r>
            <a:r>
              <a:rPr lang="en-US" dirty="0" smtClean="0"/>
              <a:t> 1</a:t>
            </a:r>
            <a:endParaRPr lang="ru-RU" dirty="0"/>
          </a:p>
        </p:txBody>
      </p:sp>
      <p:sp>
        <p:nvSpPr>
          <p:cNvPr id="56" name="TextBox 55"/>
          <p:cNvSpPr txBox="1"/>
          <p:nvPr/>
        </p:nvSpPr>
        <p:spPr>
          <a:xfrm>
            <a:off x="5782530" y="2884294"/>
            <a:ext cx="907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F</a:t>
            </a:r>
            <a:r>
              <a:rPr lang="en-US" dirty="0" err="1" smtClean="0"/>
              <a:t>Page</a:t>
            </a:r>
            <a:r>
              <a:rPr lang="en-US" dirty="0" smtClean="0"/>
              <a:t> 2</a:t>
            </a:r>
            <a:endParaRPr lang="ru-RU" dirty="0"/>
          </a:p>
        </p:txBody>
      </p:sp>
      <p:sp>
        <p:nvSpPr>
          <p:cNvPr id="57" name="TextBox 56"/>
          <p:cNvSpPr txBox="1"/>
          <p:nvPr/>
        </p:nvSpPr>
        <p:spPr>
          <a:xfrm>
            <a:off x="5828107" y="4252446"/>
            <a:ext cx="910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F</a:t>
            </a:r>
            <a:r>
              <a:rPr lang="en-US" dirty="0" err="1" smtClean="0"/>
              <a:t>Page</a:t>
            </a:r>
            <a:r>
              <a:rPr lang="en-US" dirty="0" smtClean="0"/>
              <a:t> K</a:t>
            </a:r>
            <a:endParaRPr lang="ru-RU" dirty="0"/>
          </a:p>
        </p:txBody>
      </p:sp>
      <p:sp>
        <p:nvSpPr>
          <p:cNvPr id="58" name="TextBox 57"/>
          <p:cNvSpPr txBox="1"/>
          <p:nvPr/>
        </p:nvSpPr>
        <p:spPr>
          <a:xfrm>
            <a:off x="5809911" y="5692606"/>
            <a:ext cx="987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F</a:t>
            </a:r>
            <a:r>
              <a:rPr lang="en-US" dirty="0" err="1" smtClean="0"/>
              <a:t>Page</a:t>
            </a:r>
            <a:r>
              <a:rPr lang="en-US" dirty="0" smtClean="0"/>
              <a:t> M</a:t>
            </a:r>
            <a:endParaRPr lang="ru-RU" dirty="0"/>
          </a:p>
        </p:txBody>
      </p:sp>
      <p:sp>
        <p:nvSpPr>
          <p:cNvPr id="51" name="TextBox 50"/>
          <p:cNvSpPr txBox="1"/>
          <p:nvPr/>
        </p:nvSpPr>
        <p:spPr>
          <a:xfrm>
            <a:off x="99959" y="3112755"/>
            <a:ext cx="13756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dirty="0" smtClean="0"/>
              <a:t>Логические </a:t>
            </a:r>
          </a:p>
          <a:p>
            <a:pPr algn="r"/>
            <a:r>
              <a:rPr lang="ru-RU" dirty="0" smtClean="0"/>
              <a:t>страницы</a:t>
            </a:r>
            <a:endParaRPr lang="ru-RU" dirty="0"/>
          </a:p>
        </p:txBody>
      </p:sp>
      <p:sp>
        <p:nvSpPr>
          <p:cNvPr id="60" name="TextBox 59"/>
          <p:cNvSpPr txBox="1"/>
          <p:nvPr/>
        </p:nvSpPr>
        <p:spPr>
          <a:xfrm>
            <a:off x="1296326" y="982469"/>
            <a:ext cx="29156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Логическое адресное пространство процесса</a:t>
            </a:r>
            <a:endParaRPr lang="ru-RU" dirty="0"/>
          </a:p>
        </p:txBody>
      </p:sp>
      <p:sp>
        <p:nvSpPr>
          <p:cNvPr id="61" name="TextBox 60"/>
          <p:cNvSpPr txBox="1"/>
          <p:nvPr/>
        </p:nvSpPr>
        <p:spPr>
          <a:xfrm>
            <a:off x="4788025" y="980729"/>
            <a:ext cx="29156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Физическое адресное пространство</a:t>
            </a:r>
            <a:endParaRPr lang="ru-RU" dirty="0"/>
          </a:p>
        </p:txBody>
      </p:sp>
      <p:cxnSp>
        <p:nvCxnSpPr>
          <p:cNvPr id="62" name="Прямая соединительная линия 61"/>
          <p:cNvCxnSpPr/>
          <p:nvPr/>
        </p:nvCxnSpPr>
        <p:spPr>
          <a:xfrm flipV="1">
            <a:off x="1475656" y="2132857"/>
            <a:ext cx="504056" cy="11207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/>
          <p:cNvCxnSpPr>
            <a:stCxn id="51" idx="3"/>
          </p:cNvCxnSpPr>
          <p:nvPr/>
        </p:nvCxnSpPr>
        <p:spPr>
          <a:xfrm flipV="1">
            <a:off x="1475657" y="3112756"/>
            <a:ext cx="504055" cy="3231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/>
          <p:nvPr/>
        </p:nvCxnSpPr>
        <p:spPr>
          <a:xfrm>
            <a:off x="1475656" y="3573016"/>
            <a:ext cx="504056" cy="432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Прямая соединительная линия 68"/>
          <p:cNvCxnSpPr/>
          <p:nvPr/>
        </p:nvCxnSpPr>
        <p:spPr>
          <a:xfrm>
            <a:off x="1475656" y="3748314"/>
            <a:ext cx="504056" cy="19849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7740352" y="3449238"/>
            <a:ext cx="14157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Физические </a:t>
            </a:r>
          </a:p>
          <a:p>
            <a:r>
              <a:rPr lang="ru-RU" dirty="0" smtClean="0"/>
              <a:t>страницы</a:t>
            </a:r>
            <a:endParaRPr lang="ru-RU" dirty="0"/>
          </a:p>
        </p:txBody>
      </p:sp>
      <p:cxnSp>
        <p:nvCxnSpPr>
          <p:cNvPr id="79" name="Прямая соединительная линия 78"/>
          <p:cNvCxnSpPr/>
          <p:nvPr/>
        </p:nvCxnSpPr>
        <p:spPr>
          <a:xfrm>
            <a:off x="6948265" y="2132857"/>
            <a:ext cx="755395" cy="1368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Прямая соединительная линия 80"/>
          <p:cNvCxnSpPr/>
          <p:nvPr/>
        </p:nvCxnSpPr>
        <p:spPr>
          <a:xfrm>
            <a:off x="6948265" y="3068959"/>
            <a:ext cx="755395" cy="5760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Прямая соединительная линия 82"/>
          <p:cNvCxnSpPr/>
          <p:nvPr/>
        </p:nvCxnSpPr>
        <p:spPr>
          <a:xfrm flipV="1">
            <a:off x="6948265" y="3829690"/>
            <a:ext cx="755395" cy="6074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Прямая соединительная линия 84"/>
          <p:cNvCxnSpPr/>
          <p:nvPr/>
        </p:nvCxnSpPr>
        <p:spPr>
          <a:xfrm flipV="1">
            <a:off x="7020272" y="3932979"/>
            <a:ext cx="720080" cy="19717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Прямая со стрелкой 86"/>
          <p:cNvCxnSpPr/>
          <p:nvPr/>
        </p:nvCxnSpPr>
        <p:spPr>
          <a:xfrm>
            <a:off x="3707905" y="3100318"/>
            <a:ext cx="751622" cy="0"/>
          </a:xfrm>
          <a:prstGeom prst="straightConnector1">
            <a:avLst/>
          </a:prstGeom>
          <a:ln w="19050">
            <a:solidFill>
              <a:schemeClr val="accent3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Прямая соединительная линия 87"/>
          <p:cNvCxnSpPr/>
          <p:nvPr/>
        </p:nvCxnSpPr>
        <p:spPr>
          <a:xfrm>
            <a:off x="4459526" y="2924944"/>
            <a:ext cx="321805" cy="36004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Прямая соединительная линия 88"/>
          <p:cNvCxnSpPr/>
          <p:nvPr/>
        </p:nvCxnSpPr>
        <p:spPr>
          <a:xfrm flipV="1">
            <a:off x="4459526" y="2924944"/>
            <a:ext cx="321805" cy="36004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1135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/>
          <p:cNvSpPr txBox="1"/>
          <p:nvPr/>
        </p:nvSpPr>
        <p:spPr>
          <a:xfrm>
            <a:off x="971600" y="404664"/>
            <a:ext cx="73581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ЗАЩИЩЕННЫЙ  РЕЖИМ</a:t>
            </a:r>
          </a:p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РАЗБИЕНИЕ  АДРЕСНОГО  ПРОСТРАНСТВА</a:t>
            </a:r>
            <a:endParaRPr lang="ru-RU" sz="20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563888" y="2276873"/>
            <a:ext cx="17490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 smtClean="0"/>
              <a:t>Трансляция</a:t>
            </a:r>
            <a:endParaRPr lang="ru-RU" sz="2400" b="1" dirty="0"/>
          </a:p>
        </p:txBody>
      </p:sp>
      <p:sp>
        <p:nvSpPr>
          <p:cNvPr id="39" name="TextBox 38"/>
          <p:cNvSpPr txBox="1"/>
          <p:nvPr/>
        </p:nvSpPr>
        <p:spPr>
          <a:xfrm>
            <a:off x="1627061" y="3181618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u="sng" dirty="0" smtClean="0"/>
              <a:t>Стандартная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350" y="3181618"/>
            <a:ext cx="1508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u="sng" dirty="0" smtClean="0"/>
              <a:t>Расширенная</a:t>
            </a:r>
            <a:endParaRPr lang="ru-RU" u="sng" dirty="0"/>
          </a:p>
        </p:txBody>
      </p:sp>
      <p:cxnSp>
        <p:nvCxnSpPr>
          <p:cNvPr id="49" name="Прямая со стрелкой 48"/>
          <p:cNvCxnSpPr/>
          <p:nvPr/>
        </p:nvCxnSpPr>
        <p:spPr>
          <a:xfrm flipH="1">
            <a:off x="2667671" y="2738538"/>
            <a:ext cx="1224136" cy="44308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 стрелкой 49"/>
          <p:cNvCxnSpPr/>
          <p:nvPr/>
        </p:nvCxnSpPr>
        <p:spPr>
          <a:xfrm>
            <a:off x="5006022" y="2738538"/>
            <a:ext cx="1262048" cy="47443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1601" y="3550951"/>
            <a:ext cx="307812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Размер страниц 4Кб</a:t>
            </a:r>
          </a:p>
          <a:p>
            <a:pPr marL="285750" lvl="0" indent="-285750" algn="just">
              <a:buFont typeface="Wingdings" pitchFamily="2" charset="2"/>
              <a:buChar char="Ø"/>
            </a:pP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Используется двухуровневая конвертация адреса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81394" y="1404066"/>
            <a:ext cx="82670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600" b="1" dirty="0" smtClean="0"/>
              <a:t>Трансляция адресного пространства </a:t>
            </a:r>
            <a:r>
              <a:rPr lang="ru-RU" sz="1600" dirty="0" smtClean="0"/>
              <a:t>– способ фрагментации адресного пространства с собственным алгоритмом конвертации логических адресов в физические.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82312" y="3555015"/>
            <a:ext cx="307812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Размер страниц 4Мб</a:t>
            </a:r>
          </a:p>
          <a:p>
            <a:pPr marL="285750" lvl="0" indent="-285750" algn="just">
              <a:buFont typeface="Wingdings" pitchFamily="2" charset="2"/>
              <a:buChar char="Ø"/>
            </a:pP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Используется одноуровневая конвертация адреса</a:t>
            </a:r>
          </a:p>
        </p:txBody>
      </p:sp>
    </p:spTree>
    <p:extLst>
      <p:ext uri="{BB962C8B-B14F-4D97-AF65-F5344CB8AC3E}">
        <p14:creationId xmlns:p14="http://schemas.microsoft.com/office/powerpoint/2010/main" val="2087497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/>
          <p:cNvSpPr txBox="1"/>
          <p:nvPr/>
        </p:nvSpPr>
        <p:spPr>
          <a:xfrm>
            <a:off x="395536" y="332656"/>
            <a:ext cx="85341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ЗАЩИЩЕННЫЙ  РЕЖИМ</a:t>
            </a:r>
          </a:p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АДРЕСАЦИЯ  ПРИ  СТАНДАРТНОЙ  ТРАНСЛЯЦИИ  </a:t>
            </a:r>
            <a:endParaRPr lang="ru-RU" sz="20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264303" y="3222268"/>
            <a:ext cx="2088232" cy="23762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/>
          <p:cNvSpPr txBox="1"/>
          <p:nvPr/>
        </p:nvSpPr>
        <p:spPr>
          <a:xfrm>
            <a:off x="1840367" y="3222267"/>
            <a:ext cx="1052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Directory</a:t>
            </a:r>
            <a:endParaRPr lang="ru-RU" dirty="0"/>
          </a:p>
        </p:txBody>
      </p:sp>
      <p:cxnSp>
        <p:nvCxnSpPr>
          <p:cNvPr id="17" name="Прямая соединительная линия 16"/>
          <p:cNvCxnSpPr/>
          <p:nvPr/>
        </p:nvCxnSpPr>
        <p:spPr>
          <a:xfrm>
            <a:off x="1264303" y="3591600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Прямоугольник 33"/>
          <p:cNvSpPr/>
          <p:nvPr/>
        </p:nvSpPr>
        <p:spPr>
          <a:xfrm>
            <a:off x="1336311" y="3830585"/>
            <a:ext cx="1944216" cy="3381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TextBox 35"/>
          <p:cNvSpPr txBox="1"/>
          <p:nvPr/>
        </p:nvSpPr>
        <p:spPr>
          <a:xfrm>
            <a:off x="2103003" y="3795087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PDE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37" name="Прямоугольник 36"/>
          <p:cNvSpPr/>
          <p:nvPr/>
        </p:nvSpPr>
        <p:spPr>
          <a:xfrm>
            <a:off x="1336311" y="4199917"/>
            <a:ext cx="1944216" cy="3381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рямоугольник 40"/>
          <p:cNvSpPr/>
          <p:nvPr/>
        </p:nvSpPr>
        <p:spPr>
          <a:xfrm>
            <a:off x="1336311" y="4910706"/>
            <a:ext cx="1944216" cy="3381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TextBox 42"/>
          <p:cNvSpPr txBox="1"/>
          <p:nvPr/>
        </p:nvSpPr>
        <p:spPr>
          <a:xfrm>
            <a:off x="2136737" y="452210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…</a:t>
            </a:r>
            <a:endParaRPr lang="ru-RU" dirty="0"/>
          </a:p>
        </p:txBody>
      </p:sp>
      <p:sp>
        <p:nvSpPr>
          <p:cNvPr id="80" name="Левая фигурная скобка 79"/>
          <p:cNvSpPr/>
          <p:nvPr/>
        </p:nvSpPr>
        <p:spPr>
          <a:xfrm>
            <a:off x="1048279" y="3830584"/>
            <a:ext cx="216024" cy="140283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1" name="TextBox 80"/>
          <p:cNvSpPr txBox="1"/>
          <p:nvPr/>
        </p:nvSpPr>
        <p:spPr>
          <a:xfrm>
            <a:off x="395537" y="4375449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1024</a:t>
            </a:r>
            <a:endParaRPr lang="ru-RU" dirty="0"/>
          </a:p>
        </p:txBody>
      </p:sp>
      <p:sp>
        <p:nvSpPr>
          <p:cNvPr id="82" name="TextBox 81"/>
          <p:cNvSpPr txBox="1"/>
          <p:nvPr/>
        </p:nvSpPr>
        <p:spPr>
          <a:xfrm>
            <a:off x="2098337" y="4168849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PDE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83" name="TextBox 82"/>
          <p:cNvSpPr txBox="1"/>
          <p:nvPr/>
        </p:nvSpPr>
        <p:spPr>
          <a:xfrm>
            <a:off x="2098337" y="4891438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PDE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84" name="Прямоугольник 83"/>
          <p:cNvSpPr/>
          <p:nvPr/>
        </p:nvSpPr>
        <p:spPr>
          <a:xfrm>
            <a:off x="4665319" y="2855777"/>
            <a:ext cx="1440160" cy="139006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5" name="TextBox 84"/>
          <p:cNvSpPr txBox="1"/>
          <p:nvPr/>
        </p:nvSpPr>
        <p:spPr>
          <a:xfrm>
            <a:off x="4881343" y="2852935"/>
            <a:ext cx="1017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Table # 1</a:t>
            </a:r>
            <a:endParaRPr lang="ru-RU" dirty="0"/>
          </a:p>
        </p:txBody>
      </p:sp>
      <p:cxnSp>
        <p:nvCxnSpPr>
          <p:cNvPr id="86" name="Прямая соединительная линия 85"/>
          <p:cNvCxnSpPr/>
          <p:nvPr/>
        </p:nvCxnSpPr>
        <p:spPr>
          <a:xfrm>
            <a:off x="4665319" y="3210062"/>
            <a:ext cx="1440160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Прямоугольник 86"/>
          <p:cNvSpPr/>
          <p:nvPr/>
        </p:nvSpPr>
        <p:spPr>
          <a:xfrm>
            <a:off x="4716017" y="3268926"/>
            <a:ext cx="1317455" cy="3381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8" name="TextBox 87"/>
          <p:cNvSpPr txBox="1"/>
          <p:nvPr/>
        </p:nvSpPr>
        <p:spPr>
          <a:xfrm>
            <a:off x="5158224" y="3241114"/>
            <a:ext cx="466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PTE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90" name="Прямоугольник 89"/>
          <p:cNvSpPr/>
          <p:nvPr/>
        </p:nvSpPr>
        <p:spPr>
          <a:xfrm>
            <a:off x="4716017" y="3691681"/>
            <a:ext cx="1317455" cy="3381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2" name="TextBox 91"/>
          <p:cNvSpPr txBox="1"/>
          <p:nvPr/>
        </p:nvSpPr>
        <p:spPr>
          <a:xfrm>
            <a:off x="5218167" y="3925438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…</a:t>
            </a:r>
            <a:endParaRPr lang="ru-RU" dirty="0"/>
          </a:p>
        </p:txBody>
      </p:sp>
      <p:sp>
        <p:nvSpPr>
          <p:cNvPr id="93" name="TextBox 92"/>
          <p:cNvSpPr txBox="1"/>
          <p:nvPr/>
        </p:nvSpPr>
        <p:spPr>
          <a:xfrm>
            <a:off x="5158224" y="3625207"/>
            <a:ext cx="466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PTE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94" name="Прямоугольник 93"/>
          <p:cNvSpPr/>
          <p:nvPr/>
        </p:nvSpPr>
        <p:spPr>
          <a:xfrm>
            <a:off x="4716016" y="4748028"/>
            <a:ext cx="1440160" cy="139006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5" name="TextBox 94"/>
          <p:cNvSpPr txBox="1"/>
          <p:nvPr/>
        </p:nvSpPr>
        <p:spPr>
          <a:xfrm>
            <a:off x="4932040" y="4745187"/>
            <a:ext cx="1017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Table # 1</a:t>
            </a:r>
            <a:endParaRPr lang="ru-RU" dirty="0"/>
          </a:p>
        </p:txBody>
      </p:sp>
      <p:cxnSp>
        <p:nvCxnSpPr>
          <p:cNvPr id="96" name="Прямая соединительная линия 95"/>
          <p:cNvCxnSpPr/>
          <p:nvPr/>
        </p:nvCxnSpPr>
        <p:spPr>
          <a:xfrm>
            <a:off x="4716016" y="5102314"/>
            <a:ext cx="1440160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Прямоугольник 96"/>
          <p:cNvSpPr/>
          <p:nvPr/>
        </p:nvSpPr>
        <p:spPr>
          <a:xfrm>
            <a:off x="4766714" y="5161178"/>
            <a:ext cx="1317455" cy="3381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8" name="TextBox 97"/>
          <p:cNvSpPr txBox="1"/>
          <p:nvPr/>
        </p:nvSpPr>
        <p:spPr>
          <a:xfrm>
            <a:off x="5208921" y="5133366"/>
            <a:ext cx="466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PTE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100" name="Прямоугольник 99"/>
          <p:cNvSpPr/>
          <p:nvPr/>
        </p:nvSpPr>
        <p:spPr>
          <a:xfrm>
            <a:off x="4766714" y="5583933"/>
            <a:ext cx="1317455" cy="3381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1" name="TextBox 100"/>
          <p:cNvSpPr txBox="1"/>
          <p:nvPr/>
        </p:nvSpPr>
        <p:spPr>
          <a:xfrm>
            <a:off x="5268864" y="5817690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…</a:t>
            </a:r>
            <a:endParaRPr lang="ru-RU" dirty="0"/>
          </a:p>
        </p:txBody>
      </p:sp>
      <p:sp>
        <p:nvSpPr>
          <p:cNvPr id="102" name="TextBox 101"/>
          <p:cNvSpPr txBox="1"/>
          <p:nvPr/>
        </p:nvSpPr>
        <p:spPr>
          <a:xfrm>
            <a:off x="5208921" y="5517459"/>
            <a:ext cx="466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PTE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103" name="Прямоугольник 102"/>
          <p:cNvSpPr/>
          <p:nvPr/>
        </p:nvSpPr>
        <p:spPr>
          <a:xfrm>
            <a:off x="7061824" y="3064704"/>
            <a:ext cx="1440160" cy="124604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4" name="TextBox 103"/>
          <p:cNvSpPr txBox="1"/>
          <p:nvPr/>
        </p:nvSpPr>
        <p:spPr>
          <a:xfrm>
            <a:off x="7264939" y="3064704"/>
            <a:ext cx="969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Page # 1</a:t>
            </a:r>
            <a:endParaRPr lang="ru-RU" dirty="0"/>
          </a:p>
        </p:txBody>
      </p:sp>
      <p:cxnSp>
        <p:nvCxnSpPr>
          <p:cNvPr id="105" name="Прямая соединительная линия 104"/>
          <p:cNvCxnSpPr/>
          <p:nvPr/>
        </p:nvCxnSpPr>
        <p:spPr>
          <a:xfrm>
            <a:off x="7052924" y="3434036"/>
            <a:ext cx="1440160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Прямоугольник 105"/>
          <p:cNvSpPr/>
          <p:nvPr/>
        </p:nvSpPr>
        <p:spPr>
          <a:xfrm>
            <a:off x="7140707" y="3496752"/>
            <a:ext cx="1296144" cy="75143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7" name="Прямоугольник 106"/>
          <p:cNvSpPr/>
          <p:nvPr/>
        </p:nvSpPr>
        <p:spPr>
          <a:xfrm>
            <a:off x="7092280" y="5135284"/>
            <a:ext cx="1440160" cy="124604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8" name="TextBox 107"/>
          <p:cNvSpPr txBox="1"/>
          <p:nvPr/>
        </p:nvSpPr>
        <p:spPr>
          <a:xfrm>
            <a:off x="7295395" y="5135284"/>
            <a:ext cx="969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Page # 1</a:t>
            </a:r>
            <a:endParaRPr lang="ru-RU" dirty="0"/>
          </a:p>
        </p:txBody>
      </p:sp>
      <p:cxnSp>
        <p:nvCxnSpPr>
          <p:cNvPr id="109" name="Прямая соединительная линия 108"/>
          <p:cNvCxnSpPr/>
          <p:nvPr/>
        </p:nvCxnSpPr>
        <p:spPr>
          <a:xfrm>
            <a:off x="7083380" y="5504616"/>
            <a:ext cx="1440160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Прямоугольник 109"/>
          <p:cNvSpPr/>
          <p:nvPr/>
        </p:nvSpPr>
        <p:spPr>
          <a:xfrm>
            <a:off x="7171163" y="5567332"/>
            <a:ext cx="1296144" cy="75143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1" name="TextBox 110"/>
          <p:cNvSpPr txBox="1"/>
          <p:nvPr/>
        </p:nvSpPr>
        <p:spPr>
          <a:xfrm>
            <a:off x="7452320" y="4523289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. . . . . </a:t>
            </a:r>
            <a:endParaRPr lang="ru-RU" dirty="0"/>
          </a:p>
        </p:txBody>
      </p:sp>
      <p:cxnSp>
        <p:nvCxnSpPr>
          <p:cNvPr id="3" name="Соединительная линия уступом 2"/>
          <p:cNvCxnSpPr>
            <a:stCxn id="34" idx="3"/>
          </p:cNvCxnSpPr>
          <p:nvPr/>
        </p:nvCxnSpPr>
        <p:spPr>
          <a:xfrm flipV="1">
            <a:off x="3280527" y="3037602"/>
            <a:ext cx="1370130" cy="962049"/>
          </a:xfrm>
          <a:prstGeom prst="bentConnector3">
            <a:avLst/>
          </a:prstGeom>
          <a:ln w="19050">
            <a:solidFill>
              <a:schemeClr val="accent4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Соединительная линия уступом 111"/>
          <p:cNvCxnSpPr>
            <a:stCxn id="37" idx="3"/>
          </p:cNvCxnSpPr>
          <p:nvPr/>
        </p:nvCxnSpPr>
        <p:spPr>
          <a:xfrm>
            <a:off x="3280527" y="4368984"/>
            <a:ext cx="1414178" cy="563791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4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Соединительная линия уступом 115"/>
          <p:cNvCxnSpPr>
            <a:stCxn id="90" idx="3"/>
          </p:cNvCxnSpPr>
          <p:nvPr/>
        </p:nvCxnSpPr>
        <p:spPr>
          <a:xfrm flipV="1">
            <a:off x="6033472" y="3268926"/>
            <a:ext cx="1014434" cy="591822"/>
          </a:xfrm>
          <a:prstGeom prst="bentConnector3">
            <a:avLst/>
          </a:prstGeom>
          <a:ln w="19050">
            <a:solidFill>
              <a:schemeClr val="accent3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Прямая со стрелкой 127"/>
          <p:cNvCxnSpPr>
            <a:stCxn id="97" idx="3"/>
          </p:cNvCxnSpPr>
          <p:nvPr/>
        </p:nvCxnSpPr>
        <p:spPr>
          <a:xfrm>
            <a:off x="6084168" y="5330243"/>
            <a:ext cx="968756" cy="0"/>
          </a:xfrm>
          <a:prstGeom prst="straightConnector1">
            <a:avLst/>
          </a:prstGeom>
          <a:ln w="19050">
            <a:solidFill>
              <a:schemeClr val="accent3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323528" y="1241466"/>
            <a:ext cx="84249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 smtClean="0">
                <a:cs typeface="Times New Roman" panose="02020603050405020304" pitchFamily="18" charset="0"/>
              </a:rPr>
              <a:t>PDE (Page Directory Entry) </a:t>
            </a:r>
            <a:r>
              <a:rPr lang="en-US" sz="1600" dirty="0" smtClean="0">
                <a:cs typeface="Times New Roman" panose="02020603050405020304" pitchFamily="18" charset="0"/>
              </a:rPr>
              <a:t>– 32-</a:t>
            </a:r>
            <a:r>
              <a:rPr lang="ru-RU" sz="1600" dirty="0" smtClean="0">
                <a:cs typeface="Times New Roman" panose="02020603050405020304" pitchFamily="18" charset="0"/>
              </a:rPr>
              <a:t>х битная структура, содержащая данные о расположении и свойствах  таблицы страниц.</a:t>
            </a:r>
          </a:p>
          <a:p>
            <a:pPr algn="just"/>
            <a:endParaRPr lang="en-US" sz="1600" dirty="0" smtClean="0"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 smtClean="0">
                <a:cs typeface="Times New Roman" panose="02020603050405020304" pitchFamily="18" charset="0"/>
              </a:rPr>
              <a:t>PTE </a:t>
            </a:r>
            <a:r>
              <a:rPr lang="en-US" sz="1600" b="1" dirty="0">
                <a:cs typeface="Times New Roman" panose="02020603050405020304" pitchFamily="18" charset="0"/>
              </a:rPr>
              <a:t>(Page </a:t>
            </a:r>
            <a:r>
              <a:rPr lang="en-US" sz="1600" b="1" dirty="0" smtClean="0">
                <a:cs typeface="Times New Roman" panose="02020603050405020304" pitchFamily="18" charset="0"/>
              </a:rPr>
              <a:t>Table Entry</a:t>
            </a:r>
            <a:r>
              <a:rPr lang="en-US" sz="1600" b="1" dirty="0">
                <a:cs typeface="Times New Roman" panose="02020603050405020304" pitchFamily="18" charset="0"/>
              </a:rPr>
              <a:t>) </a:t>
            </a:r>
            <a:r>
              <a:rPr lang="en-US" sz="1600" dirty="0" smtClean="0">
                <a:cs typeface="Times New Roman" panose="02020603050405020304" pitchFamily="18" charset="0"/>
              </a:rPr>
              <a:t>–</a:t>
            </a:r>
            <a:r>
              <a:rPr lang="ru-RU" sz="1600" dirty="0" smtClean="0">
                <a:cs typeface="Times New Roman" panose="02020603050405020304" pitchFamily="18" charset="0"/>
              </a:rPr>
              <a:t> </a:t>
            </a:r>
            <a:r>
              <a:rPr lang="en-US" sz="1600" dirty="0">
                <a:cs typeface="Times New Roman" panose="02020603050405020304" pitchFamily="18" charset="0"/>
              </a:rPr>
              <a:t>32-</a:t>
            </a:r>
            <a:r>
              <a:rPr lang="ru-RU" sz="1600" dirty="0">
                <a:cs typeface="Times New Roman" panose="02020603050405020304" pitchFamily="18" charset="0"/>
              </a:rPr>
              <a:t>х битная структура, </a:t>
            </a:r>
            <a:r>
              <a:rPr lang="ru-RU" sz="1600" dirty="0" smtClean="0">
                <a:cs typeface="Times New Roman" panose="02020603050405020304" pitchFamily="18" charset="0"/>
              </a:rPr>
              <a:t>описывающая местонахождение и флаги доступа отдельных страниц.</a:t>
            </a:r>
            <a:endParaRPr lang="en-US" sz="1600" dirty="0">
              <a:cs typeface="Times New Roman" panose="02020603050405020304" pitchFamily="18" charset="0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1523193" y="2874422"/>
            <a:ext cx="16035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/>
              <a:t>Каталог страниц</a:t>
            </a:r>
            <a:endParaRPr lang="ru-RU" sz="1600" dirty="0"/>
          </a:p>
        </p:txBody>
      </p:sp>
      <p:sp>
        <p:nvSpPr>
          <p:cNvPr id="139" name="TextBox 138"/>
          <p:cNvSpPr txBox="1"/>
          <p:nvPr/>
        </p:nvSpPr>
        <p:spPr>
          <a:xfrm>
            <a:off x="4584080" y="2564905"/>
            <a:ext cx="16441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/>
              <a:t>Таблица страниц</a:t>
            </a:r>
            <a:endParaRPr lang="ru-RU" sz="1600" dirty="0"/>
          </a:p>
        </p:txBody>
      </p:sp>
      <p:sp>
        <p:nvSpPr>
          <p:cNvPr id="140" name="TextBox 139"/>
          <p:cNvSpPr txBox="1"/>
          <p:nvPr/>
        </p:nvSpPr>
        <p:spPr>
          <a:xfrm>
            <a:off x="4572001" y="4458598"/>
            <a:ext cx="16441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/>
              <a:t>Таблица страниц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960004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/>
          <p:cNvSpPr txBox="1"/>
          <p:nvPr/>
        </p:nvSpPr>
        <p:spPr>
          <a:xfrm>
            <a:off x="358747" y="260648"/>
            <a:ext cx="85709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ЗАЩИЩЕННЫЙ  РЕЖИМ</a:t>
            </a:r>
          </a:p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ИНТЕРПРЕТАЦИЯ  АДРЕСА  ПРИ  СТАНДАРТНОЙ ТРАНСЛЯЦИИ</a:t>
            </a:r>
            <a:endParaRPr lang="ru-RU" sz="20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899593" y="4000960"/>
            <a:ext cx="2088232" cy="23762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/>
          <p:cNvSpPr txBox="1"/>
          <p:nvPr/>
        </p:nvSpPr>
        <p:spPr>
          <a:xfrm>
            <a:off x="1475656" y="4000960"/>
            <a:ext cx="1052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Directory</a:t>
            </a:r>
            <a:endParaRPr lang="ru-RU" dirty="0"/>
          </a:p>
        </p:txBody>
      </p:sp>
      <p:cxnSp>
        <p:nvCxnSpPr>
          <p:cNvPr id="17" name="Прямая соединительная линия 16"/>
          <p:cNvCxnSpPr/>
          <p:nvPr/>
        </p:nvCxnSpPr>
        <p:spPr>
          <a:xfrm>
            <a:off x="899593" y="4370292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Прямоугольник 33"/>
          <p:cNvSpPr/>
          <p:nvPr/>
        </p:nvSpPr>
        <p:spPr>
          <a:xfrm>
            <a:off x="971601" y="4609277"/>
            <a:ext cx="1944216" cy="3381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TextBox 35"/>
          <p:cNvSpPr txBox="1"/>
          <p:nvPr/>
        </p:nvSpPr>
        <p:spPr>
          <a:xfrm>
            <a:off x="1738292" y="4573779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PDE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37" name="Прямоугольник 36"/>
          <p:cNvSpPr/>
          <p:nvPr/>
        </p:nvSpPr>
        <p:spPr>
          <a:xfrm>
            <a:off x="971601" y="4978609"/>
            <a:ext cx="1944216" cy="3381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рямоугольник 40"/>
          <p:cNvSpPr/>
          <p:nvPr/>
        </p:nvSpPr>
        <p:spPr>
          <a:xfrm>
            <a:off x="971601" y="5689397"/>
            <a:ext cx="1944216" cy="3381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TextBox 42"/>
          <p:cNvSpPr txBox="1"/>
          <p:nvPr/>
        </p:nvSpPr>
        <p:spPr>
          <a:xfrm>
            <a:off x="1772026" y="5300798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…</a:t>
            </a:r>
            <a:endParaRPr lang="ru-RU" dirty="0"/>
          </a:p>
        </p:txBody>
      </p:sp>
      <p:sp>
        <p:nvSpPr>
          <p:cNvPr id="82" name="TextBox 81"/>
          <p:cNvSpPr txBox="1"/>
          <p:nvPr/>
        </p:nvSpPr>
        <p:spPr>
          <a:xfrm>
            <a:off x="1733626" y="4947541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PDE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83" name="TextBox 82"/>
          <p:cNvSpPr txBox="1"/>
          <p:nvPr/>
        </p:nvSpPr>
        <p:spPr>
          <a:xfrm>
            <a:off x="1733626" y="5670130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PDE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107" name="Прямоугольник 106"/>
          <p:cNvSpPr/>
          <p:nvPr/>
        </p:nvSpPr>
        <p:spPr>
          <a:xfrm>
            <a:off x="7092280" y="4064842"/>
            <a:ext cx="1440160" cy="231238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8" name="TextBox 107"/>
          <p:cNvSpPr txBox="1"/>
          <p:nvPr/>
        </p:nvSpPr>
        <p:spPr>
          <a:xfrm>
            <a:off x="7295395" y="4064843"/>
            <a:ext cx="969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Page # 1</a:t>
            </a:r>
            <a:endParaRPr lang="ru-RU" dirty="0"/>
          </a:p>
        </p:txBody>
      </p:sp>
      <p:cxnSp>
        <p:nvCxnSpPr>
          <p:cNvPr id="109" name="Прямая соединительная линия 108"/>
          <p:cNvCxnSpPr/>
          <p:nvPr/>
        </p:nvCxnSpPr>
        <p:spPr>
          <a:xfrm>
            <a:off x="7083380" y="4434175"/>
            <a:ext cx="1440160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Прямоугольник 109"/>
          <p:cNvSpPr/>
          <p:nvPr/>
        </p:nvSpPr>
        <p:spPr>
          <a:xfrm>
            <a:off x="7171163" y="4496890"/>
            <a:ext cx="1296144" cy="179903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" name="Соединительная линия уступом 2"/>
          <p:cNvCxnSpPr>
            <a:stCxn id="34" idx="3"/>
          </p:cNvCxnSpPr>
          <p:nvPr/>
        </p:nvCxnSpPr>
        <p:spPr>
          <a:xfrm flipV="1">
            <a:off x="2915817" y="4249510"/>
            <a:ext cx="1362911" cy="528834"/>
          </a:xfrm>
          <a:prstGeom prst="bentConnector3">
            <a:avLst/>
          </a:prstGeom>
          <a:ln w="19050">
            <a:solidFill>
              <a:schemeClr val="accent4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Прямоугольник 55"/>
          <p:cNvSpPr/>
          <p:nvPr/>
        </p:nvSpPr>
        <p:spPr>
          <a:xfrm>
            <a:off x="4300608" y="4064842"/>
            <a:ext cx="1440160" cy="2312382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TextBox 56"/>
          <p:cNvSpPr txBox="1"/>
          <p:nvPr/>
        </p:nvSpPr>
        <p:spPr>
          <a:xfrm>
            <a:off x="4517798" y="4064843"/>
            <a:ext cx="1017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Table # 1</a:t>
            </a:r>
            <a:endParaRPr lang="ru-RU" dirty="0"/>
          </a:p>
        </p:txBody>
      </p:sp>
      <p:cxnSp>
        <p:nvCxnSpPr>
          <p:cNvPr id="58" name="Прямая соединительная линия 57"/>
          <p:cNvCxnSpPr/>
          <p:nvPr/>
        </p:nvCxnSpPr>
        <p:spPr>
          <a:xfrm>
            <a:off x="4300608" y="4419128"/>
            <a:ext cx="1440160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Прямоугольник 58"/>
          <p:cNvSpPr/>
          <p:nvPr/>
        </p:nvSpPr>
        <p:spPr>
          <a:xfrm>
            <a:off x="4351306" y="4477991"/>
            <a:ext cx="1317455" cy="3381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0" name="TextBox 59"/>
          <p:cNvSpPr txBox="1"/>
          <p:nvPr/>
        </p:nvSpPr>
        <p:spPr>
          <a:xfrm>
            <a:off x="4793514" y="4450180"/>
            <a:ext cx="466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PTE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61" name="Прямоугольник 60"/>
          <p:cNvSpPr/>
          <p:nvPr/>
        </p:nvSpPr>
        <p:spPr>
          <a:xfrm>
            <a:off x="4351306" y="4900748"/>
            <a:ext cx="1317455" cy="3381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" name="TextBox 61"/>
          <p:cNvSpPr txBox="1"/>
          <p:nvPr/>
        </p:nvSpPr>
        <p:spPr>
          <a:xfrm>
            <a:off x="4853456" y="5134504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…</a:t>
            </a:r>
            <a:endParaRPr lang="ru-RU" dirty="0"/>
          </a:p>
        </p:txBody>
      </p:sp>
      <p:sp>
        <p:nvSpPr>
          <p:cNvPr id="63" name="TextBox 62"/>
          <p:cNvSpPr txBox="1"/>
          <p:nvPr/>
        </p:nvSpPr>
        <p:spPr>
          <a:xfrm>
            <a:off x="4793514" y="4834274"/>
            <a:ext cx="466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PTE</a:t>
            </a:r>
            <a:r>
              <a:rPr lang="en-US" dirty="0" smtClean="0"/>
              <a:t> </a:t>
            </a:r>
            <a:endParaRPr lang="ru-RU" dirty="0"/>
          </a:p>
        </p:txBody>
      </p:sp>
      <p:cxnSp>
        <p:nvCxnSpPr>
          <p:cNvPr id="65" name="Соединительная линия уступом 64"/>
          <p:cNvCxnSpPr/>
          <p:nvPr/>
        </p:nvCxnSpPr>
        <p:spPr>
          <a:xfrm flipV="1">
            <a:off x="5668760" y="4249510"/>
            <a:ext cx="1414620" cy="853770"/>
          </a:xfrm>
          <a:prstGeom prst="bentConnector3">
            <a:avLst/>
          </a:prstGeom>
          <a:ln w="19050">
            <a:solidFill>
              <a:schemeClr val="accent4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Прямоугольник 67"/>
          <p:cNvSpPr/>
          <p:nvPr/>
        </p:nvSpPr>
        <p:spPr>
          <a:xfrm>
            <a:off x="335469" y="2852936"/>
            <a:ext cx="2782971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0" name="TextBox 69"/>
          <p:cNvSpPr txBox="1"/>
          <p:nvPr/>
        </p:nvSpPr>
        <p:spPr>
          <a:xfrm>
            <a:off x="6117185" y="3221667"/>
            <a:ext cx="393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/>
              <a:t>1</a:t>
            </a:r>
            <a:r>
              <a:rPr lang="en-US" sz="1600" dirty="0" smtClean="0"/>
              <a:t>1</a:t>
            </a:r>
            <a:endParaRPr lang="ru-RU" sz="1600" dirty="0"/>
          </a:p>
        </p:txBody>
      </p:sp>
      <p:sp>
        <p:nvSpPr>
          <p:cNvPr id="71" name="TextBox 70"/>
          <p:cNvSpPr txBox="1"/>
          <p:nvPr/>
        </p:nvSpPr>
        <p:spPr>
          <a:xfrm>
            <a:off x="2987823" y="3221667"/>
            <a:ext cx="393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/>
              <a:t>2</a:t>
            </a:r>
            <a:r>
              <a:rPr lang="en-US" sz="1600" dirty="0" smtClean="0"/>
              <a:t>1</a:t>
            </a:r>
            <a:endParaRPr lang="ru-RU" sz="1600" dirty="0"/>
          </a:p>
        </p:txBody>
      </p:sp>
      <p:sp>
        <p:nvSpPr>
          <p:cNvPr id="72" name="TextBox 71"/>
          <p:cNvSpPr txBox="1"/>
          <p:nvPr/>
        </p:nvSpPr>
        <p:spPr>
          <a:xfrm>
            <a:off x="251519" y="3212976"/>
            <a:ext cx="393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/>
              <a:t>31</a:t>
            </a:r>
            <a:endParaRPr lang="ru-RU" sz="1600" dirty="0"/>
          </a:p>
        </p:txBody>
      </p:sp>
      <p:sp>
        <p:nvSpPr>
          <p:cNvPr id="74" name="TextBox 73"/>
          <p:cNvSpPr txBox="1"/>
          <p:nvPr/>
        </p:nvSpPr>
        <p:spPr>
          <a:xfrm>
            <a:off x="1271694" y="2891190"/>
            <a:ext cx="1450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Catalog Index</a:t>
            </a:r>
            <a:endParaRPr lang="ru-RU" dirty="0"/>
          </a:p>
        </p:txBody>
      </p:sp>
      <p:sp>
        <p:nvSpPr>
          <p:cNvPr id="75" name="Прямоугольник 74"/>
          <p:cNvSpPr/>
          <p:nvPr/>
        </p:nvSpPr>
        <p:spPr>
          <a:xfrm>
            <a:off x="6187540" y="2852936"/>
            <a:ext cx="2725230" cy="43204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6" name="TextBox 75"/>
          <p:cNvSpPr txBox="1"/>
          <p:nvPr/>
        </p:nvSpPr>
        <p:spPr>
          <a:xfrm>
            <a:off x="8690366" y="3230358"/>
            <a:ext cx="3461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0</a:t>
            </a:r>
            <a:endParaRPr lang="ru-RU" sz="1600" dirty="0"/>
          </a:p>
        </p:txBody>
      </p:sp>
      <p:sp>
        <p:nvSpPr>
          <p:cNvPr id="78" name="TextBox 77"/>
          <p:cNvSpPr txBox="1"/>
          <p:nvPr/>
        </p:nvSpPr>
        <p:spPr>
          <a:xfrm>
            <a:off x="7129941" y="2861627"/>
            <a:ext cx="1435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Offset</a:t>
            </a:r>
            <a:endParaRPr lang="ru-RU" dirty="0"/>
          </a:p>
        </p:txBody>
      </p:sp>
      <p:sp>
        <p:nvSpPr>
          <p:cNvPr id="79" name="Прямоугольник 78"/>
          <p:cNvSpPr/>
          <p:nvPr/>
        </p:nvSpPr>
        <p:spPr>
          <a:xfrm>
            <a:off x="3092848" y="2852936"/>
            <a:ext cx="3094692" cy="4320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9" name="TextBox 88"/>
          <p:cNvSpPr txBox="1"/>
          <p:nvPr/>
        </p:nvSpPr>
        <p:spPr>
          <a:xfrm>
            <a:off x="4172969" y="2891190"/>
            <a:ext cx="1245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Table Index</a:t>
            </a:r>
            <a:endParaRPr lang="ru-RU" dirty="0"/>
          </a:p>
        </p:txBody>
      </p:sp>
      <p:cxnSp>
        <p:nvCxnSpPr>
          <p:cNvPr id="25" name="Прямая соединительная линия 24"/>
          <p:cNvCxnSpPr/>
          <p:nvPr/>
        </p:nvCxnSpPr>
        <p:spPr>
          <a:xfrm>
            <a:off x="644576" y="3305596"/>
            <a:ext cx="0" cy="1487451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/>
          <p:cNvCxnSpPr/>
          <p:nvPr/>
        </p:nvCxnSpPr>
        <p:spPr>
          <a:xfrm>
            <a:off x="644576" y="4793048"/>
            <a:ext cx="255016" cy="0"/>
          </a:xfrm>
          <a:prstGeom prst="straightConnector1">
            <a:avLst/>
          </a:prstGeom>
          <a:ln w="158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Прямая соединительная линия 112"/>
          <p:cNvCxnSpPr/>
          <p:nvPr/>
        </p:nvCxnSpPr>
        <p:spPr>
          <a:xfrm>
            <a:off x="4028952" y="3305596"/>
            <a:ext cx="0" cy="1775484"/>
          </a:xfrm>
          <a:prstGeom prst="line">
            <a:avLst/>
          </a:prstGeom>
          <a:ln w="158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Прямая со стрелкой 113"/>
          <p:cNvCxnSpPr/>
          <p:nvPr/>
        </p:nvCxnSpPr>
        <p:spPr>
          <a:xfrm>
            <a:off x="4028952" y="5081080"/>
            <a:ext cx="255016" cy="0"/>
          </a:xfrm>
          <a:prstGeom prst="straightConnector1">
            <a:avLst/>
          </a:prstGeom>
          <a:ln w="15875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Прямая соединительная линия 114"/>
          <p:cNvCxnSpPr/>
          <p:nvPr/>
        </p:nvCxnSpPr>
        <p:spPr>
          <a:xfrm>
            <a:off x="6837264" y="3305596"/>
            <a:ext cx="0" cy="1513916"/>
          </a:xfrm>
          <a:prstGeom prst="line">
            <a:avLst/>
          </a:prstGeom>
          <a:ln w="158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Прямая со стрелкой 116"/>
          <p:cNvCxnSpPr/>
          <p:nvPr/>
        </p:nvCxnSpPr>
        <p:spPr>
          <a:xfrm>
            <a:off x="6837264" y="4819511"/>
            <a:ext cx="255016" cy="0"/>
          </a:xfrm>
          <a:prstGeom prst="straightConnector1">
            <a:avLst/>
          </a:prstGeom>
          <a:ln w="15875">
            <a:solidFill>
              <a:schemeClr val="accent3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530399" y="1067252"/>
            <a:ext cx="815996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1600" b="1" dirty="0" smtClean="0">
                <a:cs typeface="Times New Roman" panose="02020603050405020304" pitchFamily="18" charset="0"/>
              </a:rPr>
              <a:t>Линейный адрес состоит из 3-х частей: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1600" dirty="0" smtClean="0">
                <a:cs typeface="Times New Roman" panose="02020603050405020304" pitchFamily="18" charset="0"/>
              </a:rPr>
              <a:t>Индекс в каталоге страниц</a:t>
            </a:r>
            <a:r>
              <a:rPr lang="en-US" sz="1600" dirty="0" smtClean="0">
                <a:cs typeface="Times New Roman" panose="02020603050405020304" pitchFamily="18" charset="0"/>
              </a:rPr>
              <a:t>(catalog index)</a:t>
            </a:r>
            <a:r>
              <a:rPr lang="ru-RU" sz="1600" dirty="0" smtClean="0">
                <a:cs typeface="Times New Roman" panose="02020603050405020304" pitchFamily="18" charset="0"/>
              </a:rPr>
              <a:t> – номер </a:t>
            </a:r>
            <a:r>
              <a:rPr lang="en-US" sz="1600" dirty="0" smtClean="0">
                <a:cs typeface="Times New Roman" panose="02020603050405020304" pitchFamily="18" charset="0"/>
              </a:rPr>
              <a:t>PDE</a:t>
            </a:r>
            <a:r>
              <a:rPr lang="ru-RU" sz="1600" dirty="0" smtClean="0">
                <a:cs typeface="Times New Roman" panose="02020603050405020304" pitchFamily="18" charset="0"/>
              </a:rPr>
              <a:t>, описывающей таблицу каталогов</a:t>
            </a:r>
            <a:endParaRPr lang="en-US" sz="1600" dirty="0" smtClean="0"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1600" dirty="0">
                <a:cs typeface="Times New Roman" panose="02020603050405020304" pitchFamily="18" charset="0"/>
              </a:rPr>
              <a:t>Индекс в таблице </a:t>
            </a:r>
            <a:r>
              <a:rPr lang="ru-RU" sz="1600" dirty="0" smtClean="0">
                <a:cs typeface="Times New Roman" panose="02020603050405020304" pitchFamily="18" charset="0"/>
              </a:rPr>
              <a:t>страниц</a:t>
            </a:r>
            <a:r>
              <a:rPr lang="en-US" sz="1600" dirty="0" smtClean="0">
                <a:cs typeface="Times New Roman" panose="02020603050405020304" pitchFamily="18" charset="0"/>
              </a:rPr>
              <a:t>(catalog </a:t>
            </a:r>
            <a:r>
              <a:rPr lang="en-US" sz="1600" dirty="0">
                <a:cs typeface="Times New Roman" panose="02020603050405020304" pitchFamily="18" charset="0"/>
              </a:rPr>
              <a:t>index)</a:t>
            </a:r>
            <a:r>
              <a:rPr lang="ru-RU" sz="1600" dirty="0">
                <a:cs typeface="Times New Roman" panose="02020603050405020304" pitchFamily="18" charset="0"/>
              </a:rPr>
              <a:t> – номер </a:t>
            </a:r>
            <a:r>
              <a:rPr lang="en-US" sz="1600" dirty="0" smtClean="0">
                <a:cs typeface="Times New Roman" panose="02020603050405020304" pitchFamily="18" charset="0"/>
              </a:rPr>
              <a:t>PTE</a:t>
            </a:r>
            <a:r>
              <a:rPr lang="ru-RU" sz="1600" dirty="0">
                <a:cs typeface="Times New Roman" panose="02020603050405020304" pitchFamily="18" charset="0"/>
              </a:rPr>
              <a:t>, описывающей </a:t>
            </a:r>
            <a:r>
              <a:rPr lang="ru-RU" sz="1600" dirty="0" smtClean="0">
                <a:cs typeface="Times New Roman" panose="02020603050405020304" pitchFamily="18" charset="0"/>
              </a:rPr>
              <a:t>страницу</a:t>
            </a:r>
            <a:endParaRPr lang="ru-RU" sz="1600" dirty="0"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1600" dirty="0" smtClean="0">
                <a:cs typeface="Times New Roman" panose="02020603050405020304" pitchFamily="18" charset="0"/>
              </a:rPr>
              <a:t>Страничное смещение </a:t>
            </a:r>
            <a:r>
              <a:rPr lang="en-US" sz="1600" dirty="0" smtClean="0">
                <a:cs typeface="Times New Roman" panose="02020603050405020304" pitchFamily="18" charset="0"/>
              </a:rPr>
              <a:t>(catalog </a:t>
            </a:r>
            <a:r>
              <a:rPr lang="en-US" sz="1600" dirty="0">
                <a:cs typeface="Times New Roman" panose="02020603050405020304" pitchFamily="18" charset="0"/>
              </a:rPr>
              <a:t>index)</a:t>
            </a:r>
            <a:r>
              <a:rPr lang="ru-RU" sz="1600" dirty="0">
                <a:cs typeface="Times New Roman" panose="02020603050405020304" pitchFamily="18" charset="0"/>
              </a:rPr>
              <a:t> – </a:t>
            </a:r>
            <a:r>
              <a:rPr lang="ru-RU" sz="1600" dirty="0" smtClean="0">
                <a:cs typeface="Times New Roman" panose="02020603050405020304" pitchFamily="18" charset="0"/>
              </a:rPr>
              <a:t>смещение относительно начала страницы</a:t>
            </a:r>
            <a:endParaRPr lang="ru-RU" sz="16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2518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/>
          <p:cNvSpPr txBox="1"/>
          <p:nvPr/>
        </p:nvSpPr>
        <p:spPr>
          <a:xfrm>
            <a:off x="971600" y="404664"/>
            <a:ext cx="73581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ЗАЩИЩЕННЫЙ  РЕЖИМ</a:t>
            </a:r>
          </a:p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АДРЕСАЦИЯ  ПРИ  РАСШИРЕННОЙ  ТРАНСЛЯЦИИ</a:t>
            </a:r>
            <a:endParaRPr lang="ru-RU" sz="20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2200408" y="3417498"/>
            <a:ext cx="2088232" cy="23762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/>
          <p:cNvSpPr txBox="1"/>
          <p:nvPr/>
        </p:nvSpPr>
        <p:spPr>
          <a:xfrm>
            <a:off x="2776471" y="3417497"/>
            <a:ext cx="1052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Directory</a:t>
            </a:r>
            <a:endParaRPr lang="ru-RU" dirty="0"/>
          </a:p>
        </p:txBody>
      </p:sp>
      <p:cxnSp>
        <p:nvCxnSpPr>
          <p:cNvPr id="17" name="Прямая соединительная линия 16"/>
          <p:cNvCxnSpPr/>
          <p:nvPr/>
        </p:nvCxnSpPr>
        <p:spPr>
          <a:xfrm>
            <a:off x="2200408" y="3786830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Прямоугольник 30"/>
          <p:cNvSpPr/>
          <p:nvPr/>
        </p:nvSpPr>
        <p:spPr>
          <a:xfrm>
            <a:off x="5586761" y="3068960"/>
            <a:ext cx="1440160" cy="124604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TextBox 31"/>
          <p:cNvSpPr txBox="1"/>
          <p:nvPr/>
        </p:nvSpPr>
        <p:spPr>
          <a:xfrm>
            <a:off x="5789876" y="3068959"/>
            <a:ext cx="969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Page # 1</a:t>
            </a:r>
            <a:endParaRPr lang="ru-RU" dirty="0"/>
          </a:p>
        </p:txBody>
      </p:sp>
      <p:cxnSp>
        <p:nvCxnSpPr>
          <p:cNvPr id="33" name="Прямая соединительная линия 32"/>
          <p:cNvCxnSpPr/>
          <p:nvPr/>
        </p:nvCxnSpPr>
        <p:spPr>
          <a:xfrm>
            <a:off x="5577861" y="3438292"/>
            <a:ext cx="1440160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Прямоугольник 33"/>
          <p:cNvSpPr/>
          <p:nvPr/>
        </p:nvSpPr>
        <p:spPr>
          <a:xfrm>
            <a:off x="2272416" y="4025816"/>
            <a:ext cx="1944216" cy="3381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TextBox 35"/>
          <p:cNvSpPr txBox="1"/>
          <p:nvPr/>
        </p:nvSpPr>
        <p:spPr>
          <a:xfrm>
            <a:off x="3039107" y="3990318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PDE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37" name="Прямоугольник 36"/>
          <p:cNvSpPr/>
          <p:nvPr/>
        </p:nvSpPr>
        <p:spPr>
          <a:xfrm>
            <a:off x="2272416" y="4395147"/>
            <a:ext cx="1944216" cy="3381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рямоугольник 40"/>
          <p:cNvSpPr/>
          <p:nvPr/>
        </p:nvSpPr>
        <p:spPr>
          <a:xfrm>
            <a:off x="2272416" y="5105936"/>
            <a:ext cx="1944216" cy="3381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TextBox 42"/>
          <p:cNvSpPr txBox="1"/>
          <p:nvPr/>
        </p:nvSpPr>
        <p:spPr>
          <a:xfrm>
            <a:off x="3072841" y="4717337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…</a:t>
            </a:r>
            <a:endParaRPr lang="ru-RU" dirty="0"/>
          </a:p>
        </p:txBody>
      </p:sp>
      <p:sp>
        <p:nvSpPr>
          <p:cNvPr id="69" name="Прямоугольник 68"/>
          <p:cNvSpPr/>
          <p:nvPr/>
        </p:nvSpPr>
        <p:spPr>
          <a:xfrm>
            <a:off x="5665645" y="3501008"/>
            <a:ext cx="1296144" cy="75143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0" name="Левая фигурная скобка 79"/>
          <p:cNvSpPr/>
          <p:nvPr/>
        </p:nvSpPr>
        <p:spPr>
          <a:xfrm>
            <a:off x="1984384" y="4025814"/>
            <a:ext cx="216024" cy="140283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1" name="TextBox 80"/>
          <p:cNvSpPr txBox="1"/>
          <p:nvPr/>
        </p:nvSpPr>
        <p:spPr>
          <a:xfrm>
            <a:off x="1331641" y="4570678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1024</a:t>
            </a:r>
            <a:endParaRPr lang="ru-RU" dirty="0"/>
          </a:p>
        </p:txBody>
      </p:sp>
      <p:sp>
        <p:nvSpPr>
          <p:cNvPr id="82" name="TextBox 81"/>
          <p:cNvSpPr txBox="1"/>
          <p:nvPr/>
        </p:nvSpPr>
        <p:spPr>
          <a:xfrm>
            <a:off x="3034441" y="4364080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PDE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83" name="TextBox 82"/>
          <p:cNvSpPr txBox="1"/>
          <p:nvPr/>
        </p:nvSpPr>
        <p:spPr>
          <a:xfrm>
            <a:off x="3034441" y="5086669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PDE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103" name="Прямоугольник 102"/>
          <p:cNvSpPr/>
          <p:nvPr/>
        </p:nvSpPr>
        <p:spPr>
          <a:xfrm>
            <a:off x="5665644" y="4926324"/>
            <a:ext cx="1440160" cy="124604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4" name="TextBox 103"/>
          <p:cNvSpPr txBox="1"/>
          <p:nvPr/>
        </p:nvSpPr>
        <p:spPr>
          <a:xfrm>
            <a:off x="5868759" y="4926324"/>
            <a:ext cx="969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Page # 1</a:t>
            </a:r>
            <a:endParaRPr lang="ru-RU" dirty="0"/>
          </a:p>
        </p:txBody>
      </p:sp>
      <p:cxnSp>
        <p:nvCxnSpPr>
          <p:cNvPr id="105" name="Прямая соединительная линия 104"/>
          <p:cNvCxnSpPr/>
          <p:nvPr/>
        </p:nvCxnSpPr>
        <p:spPr>
          <a:xfrm>
            <a:off x="5656744" y="5295656"/>
            <a:ext cx="1440160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Прямоугольник 105"/>
          <p:cNvSpPr/>
          <p:nvPr/>
        </p:nvSpPr>
        <p:spPr>
          <a:xfrm>
            <a:off x="5744527" y="5358372"/>
            <a:ext cx="1296144" cy="75143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" name="Соединительная линия уступом 2"/>
          <p:cNvCxnSpPr>
            <a:stCxn id="34" idx="3"/>
          </p:cNvCxnSpPr>
          <p:nvPr/>
        </p:nvCxnSpPr>
        <p:spPr>
          <a:xfrm flipV="1">
            <a:off x="4216632" y="3232833"/>
            <a:ext cx="1370130" cy="962049"/>
          </a:xfrm>
          <a:prstGeom prst="bentConnector3">
            <a:avLst/>
          </a:prstGeom>
          <a:ln w="19050">
            <a:solidFill>
              <a:schemeClr val="accent4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Соединительная линия уступом 111"/>
          <p:cNvCxnSpPr>
            <a:stCxn id="37" idx="3"/>
          </p:cNvCxnSpPr>
          <p:nvPr/>
        </p:nvCxnSpPr>
        <p:spPr>
          <a:xfrm>
            <a:off x="4216632" y="4564213"/>
            <a:ext cx="1414178" cy="563791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4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323528" y="1231965"/>
            <a:ext cx="86061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 smtClean="0">
                <a:cs typeface="Times New Roman" panose="02020603050405020304" pitchFamily="18" charset="0"/>
              </a:rPr>
              <a:t>PDE (Page Directory Entry) </a:t>
            </a:r>
            <a:r>
              <a:rPr lang="en-US" sz="1600" dirty="0" smtClean="0">
                <a:cs typeface="Times New Roman" panose="02020603050405020304" pitchFamily="18" charset="0"/>
              </a:rPr>
              <a:t>– 32-</a:t>
            </a:r>
            <a:r>
              <a:rPr lang="ru-RU" sz="1600" dirty="0" smtClean="0">
                <a:cs typeface="Times New Roman" panose="02020603050405020304" pitchFamily="18" charset="0"/>
              </a:rPr>
              <a:t>х битная структура, содержащая данные о расположении и свойствах  таблицы страниц.</a:t>
            </a:r>
          </a:p>
        </p:txBody>
      </p:sp>
    </p:spTree>
    <p:extLst>
      <p:ext uri="{BB962C8B-B14F-4D97-AF65-F5344CB8AC3E}">
        <p14:creationId xmlns:p14="http://schemas.microsoft.com/office/powerpoint/2010/main" val="2395471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/>
          <p:cNvSpPr txBox="1"/>
          <p:nvPr/>
        </p:nvSpPr>
        <p:spPr>
          <a:xfrm>
            <a:off x="448048" y="260649"/>
            <a:ext cx="84816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ЗАЩИЩЕННЫЙ  РЕЖИМ</a:t>
            </a:r>
          </a:p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ИНТЕРПРЕТАЦИЯ  АДРЕСА  ПРИ  РАСШИРЕННОЙ  ТРАНСЛЯЦИИ</a:t>
            </a:r>
            <a:endParaRPr lang="ru-RU" sz="20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940721" y="4000960"/>
            <a:ext cx="2088232" cy="23762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/>
          <p:cNvSpPr txBox="1"/>
          <p:nvPr/>
        </p:nvSpPr>
        <p:spPr>
          <a:xfrm>
            <a:off x="2516785" y="4000960"/>
            <a:ext cx="1052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Directory</a:t>
            </a:r>
            <a:endParaRPr lang="ru-RU" dirty="0"/>
          </a:p>
        </p:txBody>
      </p:sp>
      <p:cxnSp>
        <p:nvCxnSpPr>
          <p:cNvPr id="17" name="Прямая соединительная линия 16"/>
          <p:cNvCxnSpPr/>
          <p:nvPr/>
        </p:nvCxnSpPr>
        <p:spPr>
          <a:xfrm>
            <a:off x="1940721" y="4370292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Прямоугольник 33"/>
          <p:cNvSpPr/>
          <p:nvPr/>
        </p:nvSpPr>
        <p:spPr>
          <a:xfrm>
            <a:off x="2012729" y="4609277"/>
            <a:ext cx="1944216" cy="3381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TextBox 35"/>
          <p:cNvSpPr txBox="1"/>
          <p:nvPr/>
        </p:nvSpPr>
        <p:spPr>
          <a:xfrm>
            <a:off x="2779420" y="4573779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PDE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37" name="Прямоугольник 36"/>
          <p:cNvSpPr/>
          <p:nvPr/>
        </p:nvSpPr>
        <p:spPr>
          <a:xfrm>
            <a:off x="2012729" y="4978609"/>
            <a:ext cx="1944216" cy="3381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рямоугольник 40"/>
          <p:cNvSpPr/>
          <p:nvPr/>
        </p:nvSpPr>
        <p:spPr>
          <a:xfrm>
            <a:off x="2012729" y="5689397"/>
            <a:ext cx="1944216" cy="3381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TextBox 42"/>
          <p:cNvSpPr txBox="1"/>
          <p:nvPr/>
        </p:nvSpPr>
        <p:spPr>
          <a:xfrm>
            <a:off x="2813154" y="5300798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…</a:t>
            </a:r>
            <a:endParaRPr lang="ru-RU" dirty="0"/>
          </a:p>
        </p:txBody>
      </p:sp>
      <p:sp>
        <p:nvSpPr>
          <p:cNvPr id="82" name="TextBox 81"/>
          <p:cNvSpPr txBox="1"/>
          <p:nvPr/>
        </p:nvSpPr>
        <p:spPr>
          <a:xfrm>
            <a:off x="2774754" y="4947541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PDE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83" name="TextBox 82"/>
          <p:cNvSpPr txBox="1"/>
          <p:nvPr/>
        </p:nvSpPr>
        <p:spPr>
          <a:xfrm>
            <a:off x="2774754" y="5670130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PDE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107" name="Прямоугольник 106"/>
          <p:cNvSpPr/>
          <p:nvPr/>
        </p:nvSpPr>
        <p:spPr>
          <a:xfrm>
            <a:off x="5796136" y="4064842"/>
            <a:ext cx="1440160" cy="231238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8" name="TextBox 107"/>
          <p:cNvSpPr txBox="1"/>
          <p:nvPr/>
        </p:nvSpPr>
        <p:spPr>
          <a:xfrm>
            <a:off x="5999251" y="4064843"/>
            <a:ext cx="969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Page # 1</a:t>
            </a:r>
            <a:endParaRPr lang="ru-RU" dirty="0"/>
          </a:p>
        </p:txBody>
      </p:sp>
      <p:cxnSp>
        <p:nvCxnSpPr>
          <p:cNvPr id="109" name="Прямая соединительная линия 108"/>
          <p:cNvCxnSpPr/>
          <p:nvPr/>
        </p:nvCxnSpPr>
        <p:spPr>
          <a:xfrm>
            <a:off x="5787236" y="4434175"/>
            <a:ext cx="1440160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Прямоугольник 109"/>
          <p:cNvSpPr/>
          <p:nvPr/>
        </p:nvSpPr>
        <p:spPr>
          <a:xfrm>
            <a:off x="5875019" y="4496890"/>
            <a:ext cx="1296144" cy="179903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" name="Соединительная линия уступом 2"/>
          <p:cNvCxnSpPr>
            <a:stCxn id="34" idx="3"/>
          </p:cNvCxnSpPr>
          <p:nvPr/>
        </p:nvCxnSpPr>
        <p:spPr>
          <a:xfrm flipV="1">
            <a:off x="3956944" y="4249510"/>
            <a:ext cx="1830292" cy="528834"/>
          </a:xfrm>
          <a:prstGeom prst="bentConnector3">
            <a:avLst/>
          </a:prstGeom>
          <a:ln w="19050">
            <a:solidFill>
              <a:schemeClr val="accent4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Прямоугольник 67"/>
          <p:cNvSpPr/>
          <p:nvPr/>
        </p:nvSpPr>
        <p:spPr>
          <a:xfrm>
            <a:off x="335469" y="2852936"/>
            <a:ext cx="2782971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1" name="TextBox 70"/>
          <p:cNvSpPr txBox="1"/>
          <p:nvPr/>
        </p:nvSpPr>
        <p:spPr>
          <a:xfrm>
            <a:off x="3026815" y="3221667"/>
            <a:ext cx="393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/>
              <a:t>2</a:t>
            </a:r>
            <a:r>
              <a:rPr lang="en-US" sz="1600" dirty="0" smtClean="0"/>
              <a:t>1</a:t>
            </a:r>
            <a:endParaRPr lang="ru-RU" sz="1600" dirty="0"/>
          </a:p>
        </p:txBody>
      </p:sp>
      <p:sp>
        <p:nvSpPr>
          <p:cNvPr id="72" name="TextBox 71"/>
          <p:cNvSpPr txBox="1"/>
          <p:nvPr/>
        </p:nvSpPr>
        <p:spPr>
          <a:xfrm>
            <a:off x="251519" y="3212976"/>
            <a:ext cx="393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/>
              <a:t>31</a:t>
            </a:r>
            <a:endParaRPr lang="ru-RU" sz="1600" dirty="0"/>
          </a:p>
        </p:txBody>
      </p:sp>
      <p:sp>
        <p:nvSpPr>
          <p:cNvPr id="74" name="TextBox 73"/>
          <p:cNvSpPr txBox="1"/>
          <p:nvPr/>
        </p:nvSpPr>
        <p:spPr>
          <a:xfrm>
            <a:off x="1271694" y="2891190"/>
            <a:ext cx="1450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Catalog Index</a:t>
            </a:r>
            <a:endParaRPr lang="ru-RU" dirty="0"/>
          </a:p>
        </p:txBody>
      </p:sp>
      <p:sp>
        <p:nvSpPr>
          <p:cNvPr id="75" name="Прямоугольник 74"/>
          <p:cNvSpPr/>
          <p:nvPr/>
        </p:nvSpPr>
        <p:spPr>
          <a:xfrm>
            <a:off x="3118440" y="2852936"/>
            <a:ext cx="5794331" cy="43204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6" name="TextBox 75"/>
          <p:cNvSpPr txBox="1"/>
          <p:nvPr/>
        </p:nvSpPr>
        <p:spPr>
          <a:xfrm>
            <a:off x="8690366" y="3230358"/>
            <a:ext cx="3461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0</a:t>
            </a:r>
            <a:endParaRPr lang="ru-RU" sz="1600" dirty="0"/>
          </a:p>
        </p:txBody>
      </p:sp>
      <p:sp>
        <p:nvSpPr>
          <p:cNvPr id="78" name="TextBox 77"/>
          <p:cNvSpPr txBox="1"/>
          <p:nvPr/>
        </p:nvSpPr>
        <p:spPr>
          <a:xfrm>
            <a:off x="5296726" y="2884294"/>
            <a:ext cx="1435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Offset</a:t>
            </a:r>
            <a:endParaRPr lang="ru-RU" dirty="0"/>
          </a:p>
        </p:txBody>
      </p:sp>
      <p:cxnSp>
        <p:nvCxnSpPr>
          <p:cNvPr id="25" name="Прямая соединительная линия 24"/>
          <p:cNvCxnSpPr/>
          <p:nvPr/>
        </p:nvCxnSpPr>
        <p:spPr>
          <a:xfrm>
            <a:off x="1685704" y="3296102"/>
            <a:ext cx="0" cy="1487451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/>
          <p:cNvCxnSpPr/>
          <p:nvPr/>
        </p:nvCxnSpPr>
        <p:spPr>
          <a:xfrm>
            <a:off x="1685705" y="4793048"/>
            <a:ext cx="255016" cy="0"/>
          </a:xfrm>
          <a:prstGeom prst="straightConnector1">
            <a:avLst/>
          </a:prstGeom>
          <a:ln w="158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Прямая соединительная линия 114"/>
          <p:cNvCxnSpPr/>
          <p:nvPr/>
        </p:nvCxnSpPr>
        <p:spPr>
          <a:xfrm>
            <a:off x="5541120" y="3307885"/>
            <a:ext cx="0" cy="1513916"/>
          </a:xfrm>
          <a:prstGeom prst="line">
            <a:avLst/>
          </a:prstGeom>
          <a:ln w="158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Прямая со стрелкой 116"/>
          <p:cNvCxnSpPr/>
          <p:nvPr/>
        </p:nvCxnSpPr>
        <p:spPr>
          <a:xfrm>
            <a:off x="5541120" y="4819511"/>
            <a:ext cx="255016" cy="0"/>
          </a:xfrm>
          <a:prstGeom prst="straightConnector1">
            <a:avLst/>
          </a:prstGeom>
          <a:ln w="15875">
            <a:solidFill>
              <a:schemeClr val="accent3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530399" y="1412777"/>
            <a:ext cx="81599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1600" b="1" dirty="0" smtClean="0">
                <a:cs typeface="Times New Roman" panose="02020603050405020304" pitchFamily="18" charset="0"/>
              </a:rPr>
              <a:t>Линейный адрес состоит из 2-х частей: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1600" dirty="0" smtClean="0">
                <a:cs typeface="Times New Roman" panose="02020603050405020304" pitchFamily="18" charset="0"/>
              </a:rPr>
              <a:t>Индекс в каталоге страниц</a:t>
            </a:r>
            <a:r>
              <a:rPr lang="en-US" sz="1600" dirty="0" smtClean="0">
                <a:cs typeface="Times New Roman" panose="02020603050405020304" pitchFamily="18" charset="0"/>
              </a:rPr>
              <a:t>(catalog index)</a:t>
            </a:r>
            <a:r>
              <a:rPr lang="ru-RU" sz="1600" dirty="0" smtClean="0">
                <a:cs typeface="Times New Roman" panose="02020603050405020304" pitchFamily="18" charset="0"/>
              </a:rPr>
              <a:t> – номер </a:t>
            </a:r>
            <a:r>
              <a:rPr lang="en-US" sz="1600" dirty="0" smtClean="0">
                <a:cs typeface="Times New Roman" panose="02020603050405020304" pitchFamily="18" charset="0"/>
              </a:rPr>
              <a:t>PDE</a:t>
            </a:r>
            <a:r>
              <a:rPr lang="ru-RU" sz="1600" dirty="0" smtClean="0">
                <a:cs typeface="Times New Roman" panose="02020603050405020304" pitchFamily="18" charset="0"/>
              </a:rPr>
              <a:t>, описывающей страницу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1600" dirty="0" smtClean="0">
                <a:cs typeface="Times New Roman" panose="02020603050405020304" pitchFamily="18" charset="0"/>
              </a:rPr>
              <a:t>Страничное смещение </a:t>
            </a:r>
            <a:r>
              <a:rPr lang="en-US" sz="1600" dirty="0" smtClean="0">
                <a:cs typeface="Times New Roman" panose="02020603050405020304" pitchFamily="18" charset="0"/>
              </a:rPr>
              <a:t>(catalog </a:t>
            </a:r>
            <a:r>
              <a:rPr lang="en-US" sz="1600" dirty="0">
                <a:cs typeface="Times New Roman" panose="02020603050405020304" pitchFamily="18" charset="0"/>
              </a:rPr>
              <a:t>index)</a:t>
            </a:r>
            <a:r>
              <a:rPr lang="ru-RU" sz="1600" dirty="0">
                <a:cs typeface="Times New Roman" panose="02020603050405020304" pitchFamily="18" charset="0"/>
              </a:rPr>
              <a:t> – </a:t>
            </a:r>
            <a:r>
              <a:rPr lang="ru-RU" sz="1600" dirty="0" smtClean="0">
                <a:cs typeface="Times New Roman" panose="02020603050405020304" pitchFamily="18" charset="0"/>
              </a:rPr>
              <a:t>смещение относительно начала страницы</a:t>
            </a:r>
            <a:endParaRPr lang="ru-RU" sz="16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3159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/>
          <p:cNvSpPr txBox="1"/>
          <p:nvPr/>
        </p:nvSpPr>
        <p:spPr>
          <a:xfrm>
            <a:off x="971600" y="260648"/>
            <a:ext cx="73581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ЗАЩИЩЕННЫЙ  РЕЖИМ</a:t>
            </a:r>
            <a:endParaRPr lang="en-US" sz="2000" b="1" dirty="0" smtClean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УПРАВЛЯЮЩИЕ  РАГИСТРЫ  ПРОЦЕССОРА</a:t>
            </a:r>
          </a:p>
        </p:txBody>
      </p:sp>
      <p:sp>
        <p:nvSpPr>
          <p:cNvPr id="39" name="Прямоугольник 38"/>
          <p:cNvSpPr/>
          <p:nvPr/>
        </p:nvSpPr>
        <p:spPr>
          <a:xfrm>
            <a:off x="479362" y="1420142"/>
            <a:ext cx="8456903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TextBox 45"/>
          <p:cNvSpPr txBox="1"/>
          <p:nvPr/>
        </p:nvSpPr>
        <p:spPr>
          <a:xfrm>
            <a:off x="8778876" y="178018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/>
              <a:t>0</a:t>
            </a:r>
            <a:endParaRPr lang="ru-RU" sz="1600" dirty="0"/>
          </a:p>
        </p:txBody>
      </p:sp>
      <p:sp>
        <p:nvSpPr>
          <p:cNvPr id="47" name="TextBox 46"/>
          <p:cNvSpPr txBox="1"/>
          <p:nvPr/>
        </p:nvSpPr>
        <p:spPr>
          <a:xfrm>
            <a:off x="4540641" y="1780182"/>
            <a:ext cx="393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/>
              <a:t>15</a:t>
            </a:r>
            <a:endParaRPr lang="ru-RU" sz="1600" dirty="0"/>
          </a:p>
        </p:txBody>
      </p:sp>
      <p:sp>
        <p:nvSpPr>
          <p:cNvPr id="48" name="TextBox 47"/>
          <p:cNvSpPr txBox="1"/>
          <p:nvPr/>
        </p:nvSpPr>
        <p:spPr>
          <a:xfrm>
            <a:off x="362520" y="1780182"/>
            <a:ext cx="393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/>
              <a:t>31</a:t>
            </a:r>
            <a:endParaRPr lang="ru-RU" sz="1600" dirty="0"/>
          </a:p>
        </p:txBody>
      </p:sp>
      <p:sp>
        <p:nvSpPr>
          <p:cNvPr id="63" name="TextBox 62"/>
          <p:cNvSpPr txBox="1"/>
          <p:nvPr/>
        </p:nvSpPr>
        <p:spPr>
          <a:xfrm>
            <a:off x="395952" y="4277415"/>
            <a:ext cx="856853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 –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флаг защищенного режима; 0 – реальный режим, 1 – защищенный режим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PG –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флаг страничной адресации; 0 – страничная адресация отключена, 1 – включена 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Catalog base –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физический адрес начала каталога страниц в оперативной памяти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PSE –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флаг расширения страниц; влияет на размер страниц: 0 – 4Кб; 1 – 4Мб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Прямоугольник 125"/>
          <p:cNvSpPr/>
          <p:nvPr/>
        </p:nvSpPr>
        <p:spPr>
          <a:xfrm>
            <a:off x="449838" y="3072643"/>
            <a:ext cx="5429053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7" name="TextBox 126"/>
          <p:cNvSpPr txBox="1"/>
          <p:nvPr/>
        </p:nvSpPr>
        <p:spPr>
          <a:xfrm>
            <a:off x="8819642" y="3432683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/>
              <a:t>0</a:t>
            </a:r>
            <a:endParaRPr lang="ru-RU" sz="1600" dirty="0"/>
          </a:p>
        </p:txBody>
      </p:sp>
      <p:sp>
        <p:nvSpPr>
          <p:cNvPr id="128" name="TextBox 127"/>
          <p:cNvSpPr txBox="1"/>
          <p:nvPr/>
        </p:nvSpPr>
        <p:spPr>
          <a:xfrm>
            <a:off x="4581408" y="3432683"/>
            <a:ext cx="393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/>
              <a:t>15</a:t>
            </a:r>
            <a:endParaRPr lang="ru-RU" sz="1600" dirty="0"/>
          </a:p>
        </p:txBody>
      </p:sp>
      <p:sp>
        <p:nvSpPr>
          <p:cNvPr id="129" name="TextBox 128"/>
          <p:cNvSpPr txBox="1"/>
          <p:nvPr/>
        </p:nvSpPr>
        <p:spPr>
          <a:xfrm>
            <a:off x="362520" y="3432683"/>
            <a:ext cx="393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/>
              <a:t>31</a:t>
            </a:r>
            <a:endParaRPr lang="ru-RU" sz="1600" dirty="0"/>
          </a:p>
        </p:txBody>
      </p:sp>
      <p:sp>
        <p:nvSpPr>
          <p:cNvPr id="130" name="TextBox 129"/>
          <p:cNvSpPr txBox="1"/>
          <p:nvPr/>
        </p:nvSpPr>
        <p:spPr>
          <a:xfrm>
            <a:off x="1957813" y="3104001"/>
            <a:ext cx="1241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Base (0-15)</a:t>
            </a:r>
            <a:endParaRPr lang="ru-RU" dirty="0"/>
          </a:p>
        </p:txBody>
      </p:sp>
      <p:grpSp>
        <p:nvGrpSpPr>
          <p:cNvPr id="131" name="Группа 130"/>
          <p:cNvGrpSpPr/>
          <p:nvPr/>
        </p:nvGrpSpPr>
        <p:grpSpPr>
          <a:xfrm>
            <a:off x="8453894" y="3072641"/>
            <a:ext cx="595560" cy="432048"/>
            <a:chOff x="8286921" y="1412776"/>
            <a:chExt cx="595560" cy="432048"/>
          </a:xfrm>
        </p:grpSpPr>
        <p:sp>
          <p:nvSpPr>
            <p:cNvPr id="132" name="Прямоугольник 131"/>
            <p:cNvSpPr/>
            <p:nvPr/>
          </p:nvSpPr>
          <p:spPr>
            <a:xfrm>
              <a:off x="8329714" y="1412776"/>
              <a:ext cx="451962" cy="432048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8286921" y="1455841"/>
              <a:ext cx="5955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/>
                <a:t>VME</a:t>
              </a:r>
              <a:endParaRPr lang="ru-RU" sz="1600" dirty="0"/>
            </a:p>
          </p:txBody>
        </p:sp>
      </p:grpSp>
      <p:grpSp>
        <p:nvGrpSpPr>
          <p:cNvPr id="134" name="Группа 133"/>
          <p:cNvGrpSpPr/>
          <p:nvPr/>
        </p:nvGrpSpPr>
        <p:grpSpPr>
          <a:xfrm>
            <a:off x="8021846" y="3068958"/>
            <a:ext cx="595560" cy="432048"/>
            <a:chOff x="8286921" y="1412776"/>
            <a:chExt cx="595560" cy="432048"/>
          </a:xfrm>
        </p:grpSpPr>
        <p:sp>
          <p:nvSpPr>
            <p:cNvPr id="135" name="Прямоугольник 134"/>
            <p:cNvSpPr/>
            <p:nvPr/>
          </p:nvSpPr>
          <p:spPr>
            <a:xfrm>
              <a:off x="8329714" y="1412776"/>
              <a:ext cx="451962" cy="432048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8286921" y="1455841"/>
              <a:ext cx="5955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/>
                <a:t> PVI</a:t>
              </a:r>
              <a:endParaRPr lang="ru-RU" sz="1600" dirty="0"/>
            </a:p>
          </p:txBody>
        </p:sp>
      </p:grpSp>
      <p:grpSp>
        <p:nvGrpSpPr>
          <p:cNvPr id="137" name="Группа 136"/>
          <p:cNvGrpSpPr/>
          <p:nvPr/>
        </p:nvGrpSpPr>
        <p:grpSpPr>
          <a:xfrm>
            <a:off x="7589798" y="3072641"/>
            <a:ext cx="595560" cy="432048"/>
            <a:chOff x="8286921" y="1412776"/>
            <a:chExt cx="595560" cy="432048"/>
          </a:xfrm>
        </p:grpSpPr>
        <p:sp>
          <p:nvSpPr>
            <p:cNvPr id="138" name="Прямоугольник 137"/>
            <p:cNvSpPr/>
            <p:nvPr/>
          </p:nvSpPr>
          <p:spPr>
            <a:xfrm>
              <a:off x="8329714" y="1412776"/>
              <a:ext cx="451962" cy="432048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9" name="TextBox 138"/>
            <p:cNvSpPr txBox="1"/>
            <p:nvPr/>
          </p:nvSpPr>
          <p:spPr>
            <a:xfrm>
              <a:off x="8286921" y="1455841"/>
              <a:ext cx="5955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/>
                <a:t> TSD</a:t>
              </a:r>
              <a:endParaRPr lang="ru-RU" sz="1600" dirty="0"/>
            </a:p>
          </p:txBody>
        </p:sp>
      </p:grpSp>
      <p:grpSp>
        <p:nvGrpSpPr>
          <p:cNvPr id="140" name="Группа 139"/>
          <p:cNvGrpSpPr/>
          <p:nvPr/>
        </p:nvGrpSpPr>
        <p:grpSpPr>
          <a:xfrm>
            <a:off x="7157750" y="3074326"/>
            <a:ext cx="595560" cy="432048"/>
            <a:chOff x="8286921" y="1412776"/>
            <a:chExt cx="595560" cy="432048"/>
          </a:xfrm>
        </p:grpSpPr>
        <p:sp>
          <p:nvSpPr>
            <p:cNvPr id="141" name="Прямоугольник 140"/>
            <p:cNvSpPr/>
            <p:nvPr/>
          </p:nvSpPr>
          <p:spPr>
            <a:xfrm>
              <a:off x="8329714" y="1412776"/>
              <a:ext cx="451962" cy="432048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8286921" y="1455841"/>
              <a:ext cx="5955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/>
                <a:t>  DE</a:t>
              </a:r>
              <a:endParaRPr lang="ru-RU" sz="1600" dirty="0"/>
            </a:p>
          </p:txBody>
        </p:sp>
      </p:grpSp>
      <p:sp>
        <p:nvSpPr>
          <p:cNvPr id="143" name="Прямоугольник 142"/>
          <p:cNvSpPr/>
          <p:nvPr/>
        </p:nvSpPr>
        <p:spPr>
          <a:xfrm>
            <a:off x="6292734" y="3076449"/>
            <a:ext cx="451962" cy="4357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44" name="Группа 143"/>
          <p:cNvGrpSpPr/>
          <p:nvPr/>
        </p:nvGrpSpPr>
        <p:grpSpPr>
          <a:xfrm>
            <a:off x="5836097" y="3076447"/>
            <a:ext cx="595560" cy="432048"/>
            <a:chOff x="8286921" y="1412776"/>
            <a:chExt cx="595560" cy="432048"/>
          </a:xfrm>
        </p:grpSpPr>
        <p:sp>
          <p:nvSpPr>
            <p:cNvPr id="145" name="Прямоугольник 144"/>
            <p:cNvSpPr/>
            <p:nvPr/>
          </p:nvSpPr>
          <p:spPr>
            <a:xfrm>
              <a:off x="8329714" y="1412776"/>
              <a:ext cx="451962" cy="432048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8286921" y="1455841"/>
              <a:ext cx="5955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/>
                <a:t>MCE</a:t>
              </a:r>
              <a:endParaRPr lang="ru-RU" sz="1600" dirty="0"/>
            </a:p>
          </p:txBody>
        </p:sp>
      </p:grpSp>
      <p:sp>
        <p:nvSpPr>
          <p:cNvPr id="147" name="Прямоугольник 146"/>
          <p:cNvSpPr/>
          <p:nvPr/>
        </p:nvSpPr>
        <p:spPr>
          <a:xfrm>
            <a:off x="6735894" y="3074327"/>
            <a:ext cx="451962" cy="4320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8" name="TextBox 147"/>
          <p:cNvSpPr txBox="1"/>
          <p:nvPr/>
        </p:nvSpPr>
        <p:spPr>
          <a:xfrm>
            <a:off x="6693101" y="3117392"/>
            <a:ext cx="59556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 PSE</a:t>
            </a:r>
            <a:endParaRPr lang="ru-RU" sz="1600" dirty="0"/>
          </a:p>
        </p:txBody>
      </p:sp>
      <p:sp>
        <p:nvSpPr>
          <p:cNvPr id="150" name="Прямоугольник 149"/>
          <p:cNvSpPr/>
          <p:nvPr/>
        </p:nvSpPr>
        <p:spPr>
          <a:xfrm>
            <a:off x="482530" y="1418985"/>
            <a:ext cx="451962" cy="4320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1" name="TextBox 150"/>
          <p:cNvSpPr txBox="1"/>
          <p:nvPr/>
        </p:nvSpPr>
        <p:spPr>
          <a:xfrm>
            <a:off x="439736" y="1462049"/>
            <a:ext cx="5955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 PG</a:t>
            </a:r>
            <a:endParaRPr lang="ru-RU" sz="1600" dirty="0"/>
          </a:p>
        </p:txBody>
      </p:sp>
      <p:grpSp>
        <p:nvGrpSpPr>
          <p:cNvPr id="152" name="Группа 151"/>
          <p:cNvGrpSpPr/>
          <p:nvPr/>
        </p:nvGrpSpPr>
        <p:grpSpPr>
          <a:xfrm>
            <a:off x="871784" y="1420141"/>
            <a:ext cx="595560" cy="432048"/>
            <a:chOff x="8286921" y="1412776"/>
            <a:chExt cx="595560" cy="432048"/>
          </a:xfrm>
        </p:grpSpPr>
        <p:sp>
          <p:nvSpPr>
            <p:cNvPr id="153" name="Прямоугольник 152"/>
            <p:cNvSpPr/>
            <p:nvPr/>
          </p:nvSpPr>
          <p:spPr>
            <a:xfrm>
              <a:off x="8329714" y="1412776"/>
              <a:ext cx="451962" cy="432048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8286921" y="1455841"/>
              <a:ext cx="5955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/>
                <a:t>  CD</a:t>
              </a:r>
              <a:endParaRPr lang="ru-RU" sz="1600" dirty="0"/>
            </a:p>
          </p:txBody>
        </p:sp>
      </p:grpSp>
      <p:grpSp>
        <p:nvGrpSpPr>
          <p:cNvPr id="155" name="Группа 154"/>
          <p:cNvGrpSpPr/>
          <p:nvPr/>
        </p:nvGrpSpPr>
        <p:grpSpPr>
          <a:xfrm>
            <a:off x="1303832" y="1420141"/>
            <a:ext cx="595560" cy="432048"/>
            <a:chOff x="8286921" y="1412776"/>
            <a:chExt cx="595560" cy="432048"/>
          </a:xfrm>
        </p:grpSpPr>
        <p:sp>
          <p:nvSpPr>
            <p:cNvPr id="156" name="Прямоугольник 155"/>
            <p:cNvSpPr/>
            <p:nvPr/>
          </p:nvSpPr>
          <p:spPr>
            <a:xfrm>
              <a:off x="8329714" y="1412776"/>
              <a:ext cx="451962" cy="432048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7" name="TextBox 156"/>
            <p:cNvSpPr txBox="1"/>
            <p:nvPr/>
          </p:nvSpPr>
          <p:spPr>
            <a:xfrm>
              <a:off x="8286921" y="1455841"/>
              <a:ext cx="5955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/>
                <a:t> NW</a:t>
              </a:r>
              <a:endParaRPr lang="ru-RU" sz="1600" dirty="0"/>
            </a:p>
          </p:txBody>
        </p:sp>
      </p:grpSp>
      <p:grpSp>
        <p:nvGrpSpPr>
          <p:cNvPr id="158" name="Группа 157"/>
          <p:cNvGrpSpPr/>
          <p:nvPr/>
        </p:nvGrpSpPr>
        <p:grpSpPr>
          <a:xfrm>
            <a:off x="7621040" y="1415301"/>
            <a:ext cx="595560" cy="432048"/>
            <a:chOff x="8286921" y="1412776"/>
            <a:chExt cx="595560" cy="432048"/>
          </a:xfrm>
        </p:grpSpPr>
        <p:sp>
          <p:nvSpPr>
            <p:cNvPr id="159" name="Прямоугольник 158"/>
            <p:cNvSpPr/>
            <p:nvPr/>
          </p:nvSpPr>
          <p:spPr>
            <a:xfrm>
              <a:off x="8329714" y="1412776"/>
              <a:ext cx="451962" cy="432048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8286921" y="1455841"/>
              <a:ext cx="5955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/>
                <a:t> EM</a:t>
              </a:r>
              <a:endParaRPr lang="ru-RU" sz="1600" dirty="0"/>
            </a:p>
          </p:txBody>
        </p:sp>
      </p:grpSp>
      <p:grpSp>
        <p:nvGrpSpPr>
          <p:cNvPr id="161" name="Группа 160"/>
          <p:cNvGrpSpPr/>
          <p:nvPr/>
        </p:nvGrpSpPr>
        <p:grpSpPr>
          <a:xfrm>
            <a:off x="8053088" y="1416458"/>
            <a:ext cx="595560" cy="432048"/>
            <a:chOff x="8286921" y="1412776"/>
            <a:chExt cx="595560" cy="432048"/>
          </a:xfrm>
        </p:grpSpPr>
        <p:sp>
          <p:nvSpPr>
            <p:cNvPr id="162" name="Прямоугольник 161"/>
            <p:cNvSpPr/>
            <p:nvPr/>
          </p:nvSpPr>
          <p:spPr>
            <a:xfrm>
              <a:off x="8329714" y="1412776"/>
              <a:ext cx="451962" cy="432048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3" name="TextBox 162"/>
            <p:cNvSpPr txBox="1"/>
            <p:nvPr/>
          </p:nvSpPr>
          <p:spPr>
            <a:xfrm>
              <a:off x="8286921" y="1455841"/>
              <a:ext cx="5955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/>
                <a:t>  MP</a:t>
              </a:r>
              <a:endParaRPr lang="ru-RU" sz="1600" dirty="0"/>
            </a:p>
          </p:txBody>
        </p:sp>
      </p:grpSp>
      <p:sp>
        <p:nvSpPr>
          <p:cNvPr id="165" name="Прямоугольник 164"/>
          <p:cNvSpPr/>
          <p:nvPr/>
        </p:nvSpPr>
        <p:spPr>
          <a:xfrm>
            <a:off x="8527929" y="1416459"/>
            <a:ext cx="451962" cy="4320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6" name="TextBox 165"/>
          <p:cNvSpPr txBox="1"/>
          <p:nvPr/>
        </p:nvSpPr>
        <p:spPr>
          <a:xfrm>
            <a:off x="8485136" y="1459523"/>
            <a:ext cx="5955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 PE</a:t>
            </a:r>
            <a:endParaRPr lang="ru-RU" sz="1600" dirty="0"/>
          </a:p>
        </p:txBody>
      </p:sp>
      <p:grpSp>
        <p:nvGrpSpPr>
          <p:cNvPr id="167" name="Группа 166"/>
          <p:cNvGrpSpPr/>
          <p:nvPr/>
        </p:nvGrpSpPr>
        <p:grpSpPr>
          <a:xfrm>
            <a:off x="6303044" y="1418983"/>
            <a:ext cx="595560" cy="432048"/>
            <a:chOff x="8286921" y="1412776"/>
            <a:chExt cx="595560" cy="432048"/>
          </a:xfrm>
        </p:grpSpPr>
        <p:sp>
          <p:nvSpPr>
            <p:cNvPr id="168" name="Прямоугольник 167"/>
            <p:cNvSpPr/>
            <p:nvPr/>
          </p:nvSpPr>
          <p:spPr>
            <a:xfrm>
              <a:off x="8329714" y="1412776"/>
              <a:ext cx="451962" cy="432048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9" name="TextBox 168"/>
            <p:cNvSpPr txBox="1"/>
            <p:nvPr/>
          </p:nvSpPr>
          <p:spPr>
            <a:xfrm>
              <a:off x="8286921" y="1455841"/>
              <a:ext cx="5955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/>
                <a:t> NE</a:t>
              </a:r>
              <a:endParaRPr lang="ru-RU" sz="1600" dirty="0"/>
            </a:p>
          </p:txBody>
        </p:sp>
      </p:grpSp>
      <p:grpSp>
        <p:nvGrpSpPr>
          <p:cNvPr id="170" name="Группа 169"/>
          <p:cNvGrpSpPr/>
          <p:nvPr/>
        </p:nvGrpSpPr>
        <p:grpSpPr>
          <a:xfrm>
            <a:off x="6735092" y="1420141"/>
            <a:ext cx="595560" cy="432048"/>
            <a:chOff x="8286921" y="1412776"/>
            <a:chExt cx="595560" cy="432048"/>
          </a:xfrm>
        </p:grpSpPr>
        <p:sp>
          <p:nvSpPr>
            <p:cNvPr id="171" name="Прямоугольник 170"/>
            <p:cNvSpPr/>
            <p:nvPr/>
          </p:nvSpPr>
          <p:spPr>
            <a:xfrm>
              <a:off x="8329714" y="1412776"/>
              <a:ext cx="451962" cy="432048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2" name="TextBox 171"/>
            <p:cNvSpPr txBox="1"/>
            <p:nvPr/>
          </p:nvSpPr>
          <p:spPr>
            <a:xfrm>
              <a:off x="8286921" y="1455841"/>
              <a:ext cx="5955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/>
                <a:t>  ET</a:t>
              </a:r>
              <a:endParaRPr lang="ru-RU" sz="1600" dirty="0"/>
            </a:p>
          </p:txBody>
        </p:sp>
      </p:grpSp>
      <p:grpSp>
        <p:nvGrpSpPr>
          <p:cNvPr id="173" name="Группа 172"/>
          <p:cNvGrpSpPr/>
          <p:nvPr/>
        </p:nvGrpSpPr>
        <p:grpSpPr>
          <a:xfrm>
            <a:off x="7167140" y="1420141"/>
            <a:ext cx="595560" cy="432048"/>
            <a:chOff x="8286921" y="1412776"/>
            <a:chExt cx="595560" cy="432048"/>
          </a:xfrm>
        </p:grpSpPr>
        <p:sp>
          <p:nvSpPr>
            <p:cNvPr id="174" name="Прямоугольник 173"/>
            <p:cNvSpPr/>
            <p:nvPr/>
          </p:nvSpPr>
          <p:spPr>
            <a:xfrm>
              <a:off x="8329714" y="1412776"/>
              <a:ext cx="451962" cy="432048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8286921" y="1455841"/>
              <a:ext cx="5955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/>
                <a:t>  TS</a:t>
              </a:r>
              <a:endParaRPr lang="ru-RU" sz="1600" dirty="0"/>
            </a:p>
          </p:txBody>
        </p:sp>
      </p:grpSp>
      <p:grpSp>
        <p:nvGrpSpPr>
          <p:cNvPr id="176" name="Группа 175"/>
          <p:cNvGrpSpPr/>
          <p:nvPr/>
        </p:nvGrpSpPr>
        <p:grpSpPr>
          <a:xfrm>
            <a:off x="3171050" y="1420141"/>
            <a:ext cx="595560" cy="432048"/>
            <a:chOff x="8286921" y="1412776"/>
            <a:chExt cx="595560" cy="432048"/>
          </a:xfrm>
        </p:grpSpPr>
        <p:sp>
          <p:nvSpPr>
            <p:cNvPr id="177" name="Прямоугольник 176"/>
            <p:cNvSpPr/>
            <p:nvPr/>
          </p:nvSpPr>
          <p:spPr>
            <a:xfrm>
              <a:off x="8329714" y="1412776"/>
              <a:ext cx="451962" cy="432048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8" name="TextBox 177"/>
            <p:cNvSpPr txBox="1"/>
            <p:nvPr/>
          </p:nvSpPr>
          <p:spPr>
            <a:xfrm>
              <a:off x="8286921" y="1455841"/>
              <a:ext cx="5955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/>
                <a:t> AM</a:t>
              </a:r>
              <a:endParaRPr lang="ru-RU" sz="1600" dirty="0"/>
            </a:p>
          </p:txBody>
        </p:sp>
      </p:grpSp>
      <p:grpSp>
        <p:nvGrpSpPr>
          <p:cNvPr id="179" name="Группа 178"/>
          <p:cNvGrpSpPr/>
          <p:nvPr/>
        </p:nvGrpSpPr>
        <p:grpSpPr>
          <a:xfrm>
            <a:off x="4112252" y="1412774"/>
            <a:ext cx="595560" cy="432048"/>
            <a:chOff x="8286921" y="1412776"/>
            <a:chExt cx="595560" cy="432048"/>
          </a:xfrm>
        </p:grpSpPr>
        <p:sp>
          <p:nvSpPr>
            <p:cNvPr id="180" name="Прямоугольник 179"/>
            <p:cNvSpPr/>
            <p:nvPr/>
          </p:nvSpPr>
          <p:spPr>
            <a:xfrm>
              <a:off x="8329714" y="1412776"/>
              <a:ext cx="451962" cy="432048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1" name="TextBox 180"/>
            <p:cNvSpPr txBox="1"/>
            <p:nvPr/>
          </p:nvSpPr>
          <p:spPr>
            <a:xfrm>
              <a:off x="8286921" y="1455841"/>
              <a:ext cx="5955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/>
                <a:t> WP</a:t>
              </a:r>
              <a:endParaRPr lang="ru-RU" sz="1600" dirty="0"/>
            </a:p>
          </p:txBody>
        </p:sp>
      </p:grpSp>
      <p:sp>
        <p:nvSpPr>
          <p:cNvPr id="206" name="Прямоугольник 205"/>
          <p:cNvSpPr/>
          <p:nvPr/>
        </p:nvSpPr>
        <p:spPr>
          <a:xfrm>
            <a:off x="468409" y="2241174"/>
            <a:ext cx="8531771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7" name="TextBox 206"/>
          <p:cNvSpPr txBox="1"/>
          <p:nvPr/>
        </p:nvSpPr>
        <p:spPr>
          <a:xfrm>
            <a:off x="8767923" y="2601215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/>
              <a:t>0</a:t>
            </a:r>
            <a:endParaRPr lang="ru-RU" sz="1600" dirty="0"/>
          </a:p>
        </p:txBody>
      </p:sp>
      <p:sp>
        <p:nvSpPr>
          <p:cNvPr id="208" name="TextBox 207"/>
          <p:cNvSpPr txBox="1"/>
          <p:nvPr/>
        </p:nvSpPr>
        <p:spPr>
          <a:xfrm>
            <a:off x="4529689" y="2601215"/>
            <a:ext cx="393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/>
              <a:t>15</a:t>
            </a:r>
            <a:endParaRPr lang="ru-RU" sz="1600" dirty="0"/>
          </a:p>
        </p:txBody>
      </p:sp>
      <p:sp>
        <p:nvSpPr>
          <p:cNvPr id="209" name="TextBox 208"/>
          <p:cNvSpPr txBox="1"/>
          <p:nvPr/>
        </p:nvSpPr>
        <p:spPr>
          <a:xfrm>
            <a:off x="362520" y="2601215"/>
            <a:ext cx="393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/>
              <a:t>31</a:t>
            </a:r>
            <a:endParaRPr lang="ru-RU" sz="1600" dirty="0"/>
          </a:p>
        </p:txBody>
      </p:sp>
      <p:sp>
        <p:nvSpPr>
          <p:cNvPr id="210" name="TextBox 209"/>
          <p:cNvSpPr txBox="1"/>
          <p:nvPr/>
        </p:nvSpPr>
        <p:spPr>
          <a:xfrm>
            <a:off x="1919682" y="2286265"/>
            <a:ext cx="1241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Base (0-15)</a:t>
            </a:r>
            <a:endParaRPr lang="ru-RU" dirty="0"/>
          </a:p>
        </p:txBody>
      </p:sp>
      <p:sp>
        <p:nvSpPr>
          <p:cNvPr id="211" name="Прямоугольник 210"/>
          <p:cNvSpPr/>
          <p:nvPr/>
        </p:nvSpPr>
        <p:spPr>
          <a:xfrm>
            <a:off x="7252075" y="2242858"/>
            <a:ext cx="451962" cy="4320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2" name="TextBox 211"/>
          <p:cNvSpPr txBox="1"/>
          <p:nvPr/>
        </p:nvSpPr>
        <p:spPr>
          <a:xfrm>
            <a:off x="7209281" y="2285922"/>
            <a:ext cx="59556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PWT</a:t>
            </a:r>
            <a:endParaRPr lang="ru-RU" sz="1600" dirty="0"/>
          </a:p>
        </p:txBody>
      </p:sp>
      <p:sp>
        <p:nvSpPr>
          <p:cNvPr id="213" name="Прямоугольник 212"/>
          <p:cNvSpPr/>
          <p:nvPr/>
        </p:nvSpPr>
        <p:spPr>
          <a:xfrm>
            <a:off x="6796730" y="2242858"/>
            <a:ext cx="451962" cy="4320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4" name="TextBox 213"/>
          <p:cNvSpPr txBox="1"/>
          <p:nvPr/>
        </p:nvSpPr>
        <p:spPr>
          <a:xfrm>
            <a:off x="6744632" y="2285923"/>
            <a:ext cx="59556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 PCD</a:t>
            </a:r>
            <a:endParaRPr lang="ru-RU" sz="1600" dirty="0"/>
          </a:p>
        </p:txBody>
      </p:sp>
      <p:sp>
        <p:nvSpPr>
          <p:cNvPr id="215" name="Прямоугольник 214"/>
          <p:cNvSpPr/>
          <p:nvPr/>
        </p:nvSpPr>
        <p:spPr>
          <a:xfrm>
            <a:off x="470126" y="2233808"/>
            <a:ext cx="4157170" cy="4320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6" name="TextBox 215"/>
          <p:cNvSpPr txBox="1"/>
          <p:nvPr/>
        </p:nvSpPr>
        <p:spPr>
          <a:xfrm>
            <a:off x="-36512" y="1469509"/>
            <a:ext cx="59556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CR0</a:t>
            </a:r>
            <a:endParaRPr lang="ru-RU" sz="1600" dirty="0"/>
          </a:p>
        </p:txBody>
      </p:sp>
      <p:sp>
        <p:nvSpPr>
          <p:cNvPr id="217" name="TextBox 216"/>
          <p:cNvSpPr txBox="1"/>
          <p:nvPr/>
        </p:nvSpPr>
        <p:spPr>
          <a:xfrm>
            <a:off x="-36512" y="2262661"/>
            <a:ext cx="59556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CR</a:t>
            </a:r>
            <a:r>
              <a:rPr lang="ru-RU" sz="1600" dirty="0" smtClean="0"/>
              <a:t>3</a:t>
            </a:r>
            <a:endParaRPr lang="ru-RU" sz="1600" dirty="0"/>
          </a:p>
        </p:txBody>
      </p:sp>
      <p:sp>
        <p:nvSpPr>
          <p:cNvPr id="219" name="TextBox 218"/>
          <p:cNvSpPr txBox="1"/>
          <p:nvPr/>
        </p:nvSpPr>
        <p:spPr>
          <a:xfrm>
            <a:off x="1798587" y="2265166"/>
            <a:ext cx="1428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Catalog  base</a:t>
            </a:r>
            <a:endParaRPr lang="ru-RU" dirty="0"/>
          </a:p>
        </p:txBody>
      </p:sp>
      <p:sp>
        <p:nvSpPr>
          <p:cNvPr id="220" name="TextBox 219"/>
          <p:cNvSpPr txBox="1"/>
          <p:nvPr/>
        </p:nvSpPr>
        <p:spPr>
          <a:xfrm>
            <a:off x="-36512" y="3090446"/>
            <a:ext cx="59556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CR4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533811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/>
          <p:cNvSpPr txBox="1"/>
          <p:nvPr/>
        </p:nvSpPr>
        <p:spPr>
          <a:xfrm>
            <a:off x="971600" y="260648"/>
            <a:ext cx="73581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ЗАЩИЩЕННЫЙ  РЕЖИМ</a:t>
            </a:r>
          </a:p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ВКЛЮЧЕНИЕ  СТРАНИЧНОЙ  АДРЕСАЦИИ</a:t>
            </a:r>
            <a:endParaRPr lang="ru-RU" sz="20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323529" y="1484785"/>
            <a:ext cx="731644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1600" b="1" dirty="0" smtClean="0">
                <a:cs typeface="Times New Roman" panose="02020603050405020304" pitchFamily="18" charset="0"/>
              </a:rPr>
              <a:t>Последовательность действий при инициализации страничной адресации: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1600" dirty="0" smtClean="0">
                <a:cs typeface="Times New Roman" panose="02020603050405020304" pitchFamily="18" charset="0"/>
              </a:rPr>
              <a:t>Создать в оперативной памяти сегмент кода и данных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1600" dirty="0">
                <a:cs typeface="Times New Roman" panose="02020603050405020304" pitchFamily="18" charset="0"/>
              </a:rPr>
              <a:t>Сформировать </a:t>
            </a:r>
            <a:r>
              <a:rPr lang="en-US" sz="1600" dirty="0">
                <a:cs typeface="Times New Roman" panose="02020603050405020304" pitchFamily="18" charset="0"/>
              </a:rPr>
              <a:t>GDT </a:t>
            </a:r>
            <a:r>
              <a:rPr lang="ru-RU" sz="1600" dirty="0">
                <a:cs typeface="Times New Roman" panose="02020603050405020304" pitchFamily="18" charset="0"/>
              </a:rPr>
              <a:t>и </a:t>
            </a:r>
            <a:r>
              <a:rPr lang="en-US" sz="1600" dirty="0">
                <a:cs typeface="Times New Roman" panose="02020603050405020304" pitchFamily="18" charset="0"/>
              </a:rPr>
              <a:t>IDT </a:t>
            </a:r>
            <a:r>
              <a:rPr lang="ru-RU" sz="1600" dirty="0">
                <a:cs typeface="Times New Roman" panose="02020603050405020304" pitchFamily="18" charset="0"/>
              </a:rPr>
              <a:t>в оперативной памяти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1600" dirty="0" smtClean="0">
                <a:cs typeface="Times New Roman" panose="02020603050405020304" pitchFamily="18" charset="0"/>
              </a:rPr>
              <a:t>Вставить в </a:t>
            </a:r>
            <a:r>
              <a:rPr lang="en-US" sz="1600" dirty="0" smtClean="0">
                <a:cs typeface="Times New Roman" panose="02020603050405020304" pitchFamily="18" charset="0"/>
              </a:rPr>
              <a:t>GDT </a:t>
            </a:r>
            <a:r>
              <a:rPr lang="ru-RU" sz="1600" dirty="0" smtClean="0">
                <a:cs typeface="Times New Roman" panose="02020603050405020304" pitchFamily="18" charset="0"/>
              </a:rPr>
              <a:t>и </a:t>
            </a:r>
            <a:r>
              <a:rPr lang="en-US" sz="1600" dirty="0" smtClean="0">
                <a:cs typeface="Times New Roman" panose="02020603050405020304" pitchFamily="18" charset="0"/>
              </a:rPr>
              <a:t>IDT </a:t>
            </a:r>
            <a:r>
              <a:rPr lang="ru-RU" sz="1600" dirty="0" smtClean="0">
                <a:cs typeface="Times New Roman" panose="02020603050405020304" pitchFamily="18" charset="0"/>
              </a:rPr>
              <a:t>два дескриптора и два обработчика исключений</a:t>
            </a:r>
            <a:endParaRPr lang="en-US" sz="1600" dirty="0" smtClean="0"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1600" dirty="0" smtClean="0">
                <a:cs typeface="Times New Roman" panose="02020603050405020304" pitchFamily="18" charset="0"/>
              </a:rPr>
              <a:t>Передать управление на «точку входа» в защищенный режим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1600" dirty="0" smtClean="0">
                <a:cs typeface="Times New Roman" panose="02020603050405020304" pitchFamily="18" charset="0"/>
              </a:rPr>
              <a:t>Сформировать в памяти каталоги и таблицы страниц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1600" dirty="0" smtClean="0">
                <a:cs typeface="Times New Roman" panose="02020603050405020304" pitchFamily="18" charset="0"/>
              </a:rPr>
              <a:t>Поместить в </a:t>
            </a:r>
            <a:r>
              <a:rPr lang="en-US" sz="1600" dirty="0" smtClean="0">
                <a:cs typeface="Times New Roman" panose="02020603050405020304" pitchFamily="18" charset="0"/>
              </a:rPr>
              <a:t>CR3 </a:t>
            </a:r>
            <a:r>
              <a:rPr lang="ru-RU" sz="1600" dirty="0" smtClean="0">
                <a:cs typeface="Times New Roman" panose="02020603050405020304" pitchFamily="18" charset="0"/>
              </a:rPr>
              <a:t>адрес каталога страниц</a:t>
            </a:r>
            <a:endParaRPr lang="en-US" sz="1600" dirty="0" smtClean="0"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1600" dirty="0">
                <a:cs typeface="Times New Roman" panose="02020603050405020304" pitchFamily="18" charset="0"/>
              </a:rPr>
              <a:t>Выставить </a:t>
            </a:r>
            <a:r>
              <a:rPr lang="ru-RU" sz="1600" dirty="0" smtClean="0">
                <a:cs typeface="Times New Roman" panose="02020603050405020304" pitchFamily="18" charset="0"/>
              </a:rPr>
              <a:t>флаг </a:t>
            </a:r>
            <a:r>
              <a:rPr lang="en-US" sz="1600" dirty="0" smtClean="0">
                <a:cs typeface="Times New Roman" panose="02020603050405020304" pitchFamily="18" charset="0"/>
              </a:rPr>
              <a:t>CR0.PG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1600" dirty="0" smtClean="0">
                <a:cs typeface="Times New Roman" panose="02020603050405020304" pitchFamily="18" charset="0"/>
              </a:rPr>
              <a:t>Выставить флаги </a:t>
            </a:r>
            <a:r>
              <a:rPr lang="en-US" sz="1600" dirty="0" smtClean="0">
                <a:cs typeface="Times New Roman" panose="02020603050405020304" pitchFamily="18" charset="0"/>
              </a:rPr>
              <a:t>CR3.PWT </a:t>
            </a:r>
            <a:r>
              <a:rPr lang="ru-RU" sz="1600" dirty="0" smtClean="0">
                <a:cs typeface="Times New Roman" panose="02020603050405020304" pitchFamily="18" charset="0"/>
              </a:rPr>
              <a:t>или </a:t>
            </a:r>
            <a:r>
              <a:rPr lang="en-US" sz="1600" dirty="0" smtClean="0">
                <a:cs typeface="Times New Roman" panose="02020603050405020304" pitchFamily="18" charset="0"/>
              </a:rPr>
              <a:t>CR3.PCD</a:t>
            </a:r>
            <a:endParaRPr lang="ru-RU" sz="1600" dirty="0" smtClean="0"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ru-RU" sz="1600" dirty="0">
              <a:cs typeface="Times New Roman" panose="02020603050405020304" pitchFamily="18" charset="0"/>
            </a:endParaRPr>
          </a:p>
        </p:txBody>
      </p:sp>
      <p:sp>
        <p:nvSpPr>
          <p:cNvPr id="2" name="Правая фигурная скобка 1"/>
          <p:cNvSpPr/>
          <p:nvPr/>
        </p:nvSpPr>
        <p:spPr>
          <a:xfrm>
            <a:off x="6804249" y="2060849"/>
            <a:ext cx="504056" cy="131676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авая фигурная скобка 7"/>
          <p:cNvSpPr/>
          <p:nvPr/>
        </p:nvSpPr>
        <p:spPr>
          <a:xfrm>
            <a:off x="6804249" y="3429001"/>
            <a:ext cx="504056" cy="144016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7380313" y="2396065"/>
            <a:ext cx="12073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Реальный </a:t>
            </a:r>
          </a:p>
          <a:p>
            <a:r>
              <a:rPr lang="ru-RU" dirty="0" smtClean="0"/>
              <a:t>режим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7423227" y="3501009"/>
            <a:ext cx="16132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Защищенный </a:t>
            </a:r>
          </a:p>
          <a:p>
            <a:r>
              <a:rPr lang="ru-RU" dirty="0" smtClean="0"/>
              <a:t>Режим, </a:t>
            </a:r>
          </a:p>
          <a:p>
            <a:r>
              <a:rPr lang="ru-RU" dirty="0"/>
              <a:t>с</a:t>
            </a:r>
            <a:r>
              <a:rPr lang="ru-RU" dirty="0" smtClean="0"/>
              <a:t>егментная память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34473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635</TotalTime>
  <Words>1986</Words>
  <Application>Microsoft Office PowerPoint</Application>
  <PresentationFormat>Экран (4:3)</PresentationFormat>
  <Paragraphs>576</Paragraphs>
  <Slides>46</Slides>
  <Notes>18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46</vt:i4>
      </vt:variant>
    </vt:vector>
  </HeadingPairs>
  <TitlesOfParts>
    <vt:vector size="47" baseType="lpstr"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ШИНЫ</vt:lpstr>
      <vt:lpstr>Принцип работы шины типа «Observer»</vt:lpstr>
      <vt:lpstr>Шины</vt:lpstr>
      <vt:lpstr>Шины</vt:lpstr>
      <vt:lpstr>Архитектура ПК</vt:lpstr>
      <vt:lpstr>ПРОЦЕССОР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Вычислительные конвейеры</vt:lpstr>
      <vt:lpstr>Вычислительные конвейеры</vt:lpstr>
      <vt:lpstr>Вычислительные конвейеры</vt:lpstr>
      <vt:lpstr>ОРГАНИЗАЦИЯ  ПАМЯТИ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Virger</dc:creator>
  <cp:lastModifiedBy>Virger</cp:lastModifiedBy>
  <cp:revision>87</cp:revision>
  <dcterms:created xsi:type="dcterms:W3CDTF">2015-02-19T21:04:10Z</dcterms:created>
  <dcterms:modified xsi:type="dcterms:W3CDTF">2025-09-09T18:06:41Z</dcterms:modified>
</cp:coreProperties>
</file>