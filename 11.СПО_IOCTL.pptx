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60" r:id="rId3"/>
    <p:sldId id="261" r:id="rId4"/>
    <p:sldId id="262" r:id="rId5"/>
    <p:sldId id="263" r:id="rId6"/>
    <p:sldId id="265" r:id="rId7"/>
    <p:sldId id="266" r:id="rId8"/>
    <p:sldId id="267" r:id="rId9"/>
    <p:sldId id="268" r:id="rId10"/>
    <p:sldId id="269" r:id="rId11"/>
    <p:sldId id="274" r:id="rId12"/>
    <p:sldId id="271" r:id="rId13"/>
    <p:sldId id="270" r:id="rId14"/>
    <p:sldId id="272" r:id="rId15"/>
    <p:sldId id="273" r:id="rId16"/>
  </p:sldIdLst>
  <p:sldSz cx="9906000" cy="6858000" type="A4"/>
  <p:notesSz cx="6858000" cy="9906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01"/>
    <p:restoredTop sz="82183"/>
  </p:normalViewPr>
  <p:slideViewPr>
    <p:cSldViewPr snapToGrid="0" snapToObjects="1">
      <p:cViewPr varScale="1">
        <p:scale>
          <a:sx n="94" d="100"/>
          <a:sy n="94" d="100"/>
        </p:scale>
        <p:origin x="-597" y="-69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2100" b="0" strike="noStrike" spc="-1">
                <a:solidFill>
                  <a:srgbClr val="000000"/>
                </a:solidFill>
                <a:latin typeface="Verdana"/>
              </a:rPr>
              <a:t>Click to move the slide</a:t>
            </a:r>
          </a:p>
        </p:txBody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48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48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48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8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E534E8EA-2B8A-429B-92DD-0E58B1FF2005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359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E534E8EA-2B8A-429B-92DD-0E58B1FF2005}" type="slidenum">
              <a:rPr lang="en-US" sz="1400" b="0" strike="noStrike" spc="-1" smtClean="0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7947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2450160" y="3672720"/>
            <a:ext cx="6535440" cy="4561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406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2450520" y="2571840"/>
            <a:ext cx="6535440" cy="335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406080"/>
          </a:xfrm>
          <a:prstGeom prst="rect">
            <a:avLst/>
          </a:prstGeom>
        </p:spPr>
        <p:txBody>
          <a:bodyPr lIns="0" tIns="0" rIns="0" bIns="0">
            <a:normAutofit fontScale="34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2450160" y="3909960"/>
            <a:ext cx="6535440" cy="193680"/>
          </a:xfrm>
          <a:prstGeom prst="rect">
            <a:avLst/>
          </a:prstGeom>
        </p:spPr>
        <p:txBody>
          <a:bodyPr lIns="0" tIns="0" rIns="0" bIns="0">
            <a:normAutofit fontScale="32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799240" y="36975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245016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799240" y="3909960"/>
            <a:ext cx="318924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450520" y="2571840"/>
            <a:ext cx="6535440" cy="723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10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245016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5984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869880" y="36975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245016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65984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869880" y="3909960"/>
            <a:ext cx="2104200" cy="193680"/>
          </a:xfrm>
          <a:prstGeom prst="rect">
            <a:avLst/>
          </a:prstGeom>
        </p:spPr>
        <p:txBody>
          <a:bodyPr lIns="0" tIns="0" rIns="0" bIns="0">
            <a:normAutofit fontScale="11000"/>
          </a:bodyPr>
          <a:lstStyle/>
          <a:p>
            <a:endParaRPr lang="ru-RU" sz="3050" b="0" strike="noStrike" spc="-1">
              <a:solidFill>
                <a:srgbClr val="000000"/>
              </a:solidFill>
              <a:latin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2100" b="0" strike="noStrike" spc="-1">
                <a:solidFill>
                  <a:srgbClr val="000000"/>
                </a:solidFill>
                <a:latin typeface="Verdana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050" b="0" strike="noStrike" spc="-1">
                <a:solidFill>
                  <a:srgbClr val="000000"/>
                </a:solidFill>
                <a:latin typeface="Verdana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50" b="0" strike="noStrike" spc="-1">
                <a:solidFill>
                  <a:srgbClr val="000000"/>
                </a:solidFill>
                <a:latin typeface="Verdana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950" b="0" strike="noStrike" spc="-1">
                <a:solidFill>
                  <a:srgbClr val="000000"/>
                </a:solidFill>
                <a:latin typeface="Verdana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950" b="0" strike="noStrike" spc="-1">
                <a:solidFill>
                  <a:srgbClr val="000000"/>
                </a:solidFill>
                <a:latin typeface="Verdana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solidFill>
                  <a:srgbClr val="000000"/>
                </a:solidFill>
                <a:latin typeface="Verdana"/>
              </a:rPr>
              <a:t>Seventh Outline Level</a:t>
            </a:r>
          </a:p>
        </p:txBody>
      </p:sp>
      <p:cxnSp>
        <p:nvCxnSpPr>
          <p:cNvPr id="4" name="Google Shape;89;p1"/>
          <p:cNvCxnSpPr/>
          <p:nvPr userDrawn="1"/>
        </p:nvCxnSpPr>
        <p:spPr>
          <a:xfrm>
            <a:off x="320946" y="187274"/>
            <a:ext cx="9275727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" name="Google Shape;90;p1"/>
          <p:cNvCxnSpPr/>
          <p:nvPr userDrawn="1"/>
        </p:nvCxnSpPr>
        <p:spPr>
          <a:xfrm rot="5400000">
            <a:off x="71707" y="438101"/>
            <a:ext cx="500066" cy="1588"/>
          </a:xfrm>
          <a:prstGeom prst="straightConnector1">
            <a:avLst/>
          </a:prstGeom>
          <a:noFill/>
          <a:ln w="19050" cap="flat" cmpd="sng">
            <a:solidFill>
              <a:srgbClr val="FABF8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Google Shape;91;p1"/>
          <p:cNvCxnSpPr/>
          <p:nvPr userDrawn="1"/>
        </p:nvCxnSpPr>
        <p:spPr>
          <a:xfrm>
            <a:off x="322535" y="6676802"/>
            <a:ext cx="9382780" cy="1588"/>
          </a:xfrm>
          <a:prstGeom prst="straightConnector1">
            <a:avLst/>
          </a:prstGeom>
          <a:noFill/>
          <a:ln w="9525" cap="flat" cmpd="sng">
            <a:solidFill>
              <a:srgbClr val="E36C0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991108" y="2233776"/>
            <a:ext cx="80648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</a:rPr>
              <a:t>ОПЕРАЦИИ </a:t>
            </a:r>
            <a:r>
              <a:rPr lang="en-US" sz="3200" b="1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</a:rPr>
              <a:t> IOCTL</a:t>
            </a:r>
            <a:endParaRPr lang="ru-RU" sz="3200" b="1" dirty="0">
              <a:solidFill>
                <a:srgbClr val="0A379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Google Shape;94;p1"/>
          <p:cNvSpPr txBox="1"/>
          <p:nvPr/>
        </p:nvSpPr>
        <p:spPr>
          <a:xfrm>
            <a:off x="3737671" y="6154046"/>
            <a:ext cx="305823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u="none" strike="noStrike" cap="none" dirty="0" err="1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Нижний</a:t>
            </a:r>
            <a:r>
              <a:rPr lang="en-US" b="1" i="1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i="1" u="none" strike="noStrike" cap="none" dirty="0" err="1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Новгород</a:t>
            </a:r>
            <a:r>
              <a:rPr lang="en-US" b="1" i="1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b="1" i="1" u="none" strike="noStrike" cap="none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ru-RU" b="1" i="1" u="none" strike="noStrike" cap="none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b="1" i="1" u="none" strike="noStrike" cap="none" dirty="0" smtClean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5г</a:t>
            </a:r>
            <a:r>
              <a:rPr lang="en-US" sz="1600" b="1" i="1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US" sz="2000" b="1" i="0" u="none" strike="noStrike" cap="none" dirty="0">
                <a:solidFill>
                  <a:srgbClr val="0A37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1" dirty="0">
              <a:solidFill>
                <a:srgbClr val="0A37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ДРАЙВЕР КАК ПОСРЕДНИК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455040" y="10526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Проблема:</a:t>
            </a:r>
            <a:r>
              <a:rPr lang="ru-RU" dirty="0"/>
              <a:t> Как приложение может взаимодействовать с "железом</a:t>
            </a:r>
            <a:r>
              <a:rPr lang="ru-RU" dirty="0" smtClean="0"/>
              <a:t>"?</a:t>
            </a:r>
            <a:endParaRPr lang="en-US" dirty="0" smtClean="0"/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/>
              <a:t>Решение:</a:t>
            </a:r>
            <a:r>
              <a:rPr lang="ru-RU" dirty="0"/>
              <a:t> Драйвер предоставляет унифицированный интерфейс через </a:t>
            </a:r>
            <a:r>
              <a:rPr lang="ru-RU" b="1" dirty="0"/>
              <a:t>файловую </a:t>
            </a:r>
            <a:r>
              <a:rPr lang="ru-RU" b="1" dirty="0" smtClean="0"/>
              <a:t>систему</a:t>
            </a:r>
            <a:endParaRPr lang="en-US" dirty="0"/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/>
              <a:t>Концепция:</a:t>
            </a:r>
            <a:r>
              <a:rPr lang="ru-RU" dirty="0"/>
              <a:t> "Всё есть файл" (</a:t>
            </a:r>
            <a:r>
              <a:rPr lang="ru-RU" dirty="0" err="1"/>
              <a:t>Everything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a </a:t>
            </a:r>
            <a:r>
              <a:rPr lang="ru-RU" dirty="0" err="1"/>
              <a:t>file</a:t>
            </a:r>
            <a:r>
              <a:rPr lang="ru-RU" dirty="0"/>
              <a:t>).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Устройство представляется в системе как файл (/</a:t>
            </a:r>
            <a:r>
              <a:rPr lang="ru-RU" dirty="0" err="1"/>
              <a:t>dev</a:t>
            </a:r>
            <a:r>
              <a:rPr lang="ru-RU" dirty="0"/>
              <a:t>/</a:t>
            </a:r>
            <a:r>
              <a:rPr lang="ru-RU" dirty="0" err="1"/>
              <a:t>my_device</a:t>
            </a:r>
            <a:r>
              <a:rPr lang="ru-RU" dirty="0"/>
              <a:t>).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Приложение использует стандартные системные вызовы: </a:t>
            </a:r>
            <a:r>
              <a:rPr lang="ru-RU" dirty="0" err="1"/>
              <a:t>open</a:t>
            </a:r>
            <a:r>
              <a:rPr lang="ru-RU" dirty="0"/>
              <a:t>(), </a:t>
            </a:r>
            <a:r>
              <a:rPr lang="ru-RU" dirty="0" err="1"/>
              <a:t>read</a:t>
            </a:r>
            <a:r>
              <a:rPr lang="ru-RU" dirty="0"/>
              <a:t>(), </a:t>
            </a:r>
            <a:r>
              <a:rPr lang="ru-RU" dirty="0" err="1"/>
              <a:t>write</a:t>
            </a:r>
            <a:r>
              <a:rPr lang="ru-RU" dirty="0"/>
              <a:t>(), </a:t>
            </a:r>
            <a:r>
              <a:rPr lang="ru-RU" dirty="0" err="1"/>
              <a:t>ioctl</a:t>
            </a:r>
            <a:r>
              <a:rPr lang="ru-RU" dirty="0"/>
              <a:t>(), </a:t>
            </a:r>
            <a:r>
              <a:rPr lang="ru-RU" dirty="0" err="1"/>
              <a:t>close</a:t>
            </a:r>
            <a:r>
              <a:rPr lang="ru-RU" dirty="0"/>
              <a:t>().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Эти вызовы попадают в соответствующие функции драйвера.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ДРАЙВЕР КАК ПОСРЕДНИК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553425" y="1052640"/>
            <a:ext cx="8942760" cy="4643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Символьные устройства (</a:t>
            </a:r>
            <a:r>
              <a:rPr lang="ru-RU" b="1" dirty="0" err="1"/>
              <a:t>Character</a:t>
            </a:r>
            <a:r>
              <a:rPr lang="ru-RU" b="1" dirty="0"/>
              <a:t> </a:t>
            </a:r>
            <a:r>
              <a:rPr lang="ru-RU" b="1" dirty="0" err="1"/>
              <a:t>Devices</a:t>
            </a:r>
            <a:r>
              <a:rPr lang="ru-RU" b="1" dirty="0"/>
              <a:t>)</a:t>
            </a:r>
            <a:endParaRPr lang="ru-RU" dirty="0"/>
          </a:p>
          <a:p>
            <a:pPr lvl="1">
              <a:lnSpc>
                <a:spcPct val="150000"/>
              </a:lnSpc>
            </a:pPr>
            <a:r>
              <a:rPr lang="ru-RU" dirty="0"/>
              <a:t>Доступ к данным последовательный, побайтовый.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Примеры: клавиатура, мышь, последовательный порт, принтер.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Файл в /</a:t>
            </a:r>
            <a:r>
              <a:rPr lang="ru-RU" dirty="0" err="1"/>
              <a:t>dev</a:t>
            </a:r>
            <a:r>
              <a:rPr lang="ru-RU" dirty="0"/>
              <a:t>/: c в начале прав доступа (</a:t>
            </a:r>
            <a:r>
              <a:rPr lang="ru-RU" dirty="0" err="1"/>
              <a:t>crw</a:t>
            </a:r>
            <a:r>
              <a:rPr lang="ru-RU" dirty="0"/>
              <a:t>--w----).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Блочные устройства (</a:t>
            </a:r>
            <a:r>
              <a:rPr lang="ru-RU" b="1" dirty="0" err="1"/>
              <a:t>Block</a:t>
            </a:r>
            <a:r>
              <a:rPr lang="ru-RU" b="1" dirty="0"/>
              <a:t> </a:t>
            </a:r>
            <a:r>
              <a:rPr lang="ru-RU" b="1" dirty="0" err="1"/>
              <a:t>Devices</a:t>
            </a:r>
            <a:r>
              <a:rPr lang="ru-RU" b="1" dirty="0"/>
              <a:t>)</a:t>
            </a:r>
            <a:endParaRPr lang="ru-RU" dirty="0"/>
          </a:p>
          <a:p>
            <a:pPr lvl="1">
              <a:lnSpc>
                <a:spcPct val="150000"/>
              </a:lnSpc>
            </a:pPr>
            <a:r>
              <a:rPr lang="ru-RU" dirty="0"/>
              <a:t>Доступ к данным блочный, возможен в любом порядке.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Примеры: жёсткие диски, SSD, USB-</a:t>
            </a:r>
            <a:r>
              <a:rPr lang="ru-RU" dirty="0" err="1"/>
              <a:t>флешки</a:t>
            </a:r>
            <a:r>
              <a:rPr lang="ru-RU" dirty="0"/>
              <a:t>.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Файл в /</a:t>
            </a:r>
            <a:r>
              <a:rPr lang="ru-RU" dirty="0" err="1"/>
              <a:t>dev</a:t>
            </a:r>
            <a:r>
              <a:rPr lang="ru-RU" dirty="0"/>
              <a:t>/: b в начале прав доступа (</a:t>
            </a:r>
            <a:r>
              <a:rPr lang="ru-RU" dirty="0" err="1"/>
              <a:t>brw-rw</a:t>
            </a:r>
            <a:r>
              <a:rPr lang="ru-RU" dirty="0"/>
              <a:t>----).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Имеют собственную подсистему с кэшированием и планированием запросов.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Сетевые устройства (</a:t>
            </a:r>
            <a:r>
              <a:rPr lang="ru-RU" b="1" dirty="0" err="1"/>
              <a:t>Network</a:t>
            </a:r>
            <a:r>
              <a:rPr lang="ru-RU" b="1" dirty="0"/>
              <a:t> </a:t>
            </a:r>
            <a:r>
              <a:rPr lang="ru-RU" b="1" dirty="0" err="1"/>
              <a:t>Devices</a:t>
            </a:r>
            <a:r>
              <a:rPr lang="ru-RU" b="1" dirty="0"/>
              <a:t>)</a:t>
            </a:r>
            <a:endParaRPr lang="ru-RU" dirty="0"/>
          </a:p>
          <a:p>
            <a:pPr lvl="1">
              <a:lnSpc>
                <a:spcPct val="150000"/>
              </a:lnSpc>
            </a:pPr>
            <a:r>
              <a:rPr lang="ru-RU" dirty="0"/>
              <a:t>Не представлены в виде файлов в /</a:t>
            </a:r>
            <a:r>
              <a:rPr lang="ru-RU" dirty="0" err="1"/>
              <a:t>dev</a:t>
            </a:r>
            <a:r>
              <a:rPr lang="ru-RU" dirty="0"/>
              <a:t>/.</a:t>
            </a:r>
          </a:p>
          <a:p>
            <a:pPr lvl="1">
              <a:lnSpc>
                <a:spcPct val="150000"/>
              </a:lnSpc>
            </a:pPr>
            <a:r>
              <a:rPr lang="ru-RU" dirty="0"/>
              <a:t>Используют специализированный сетевой интерфейс (сокеты).</a:t>
            </a:r>
          </a:p>
        </p:txBody>
      </p:sp>
    </p:spTree>
    <p:extLst>
      <p:ext uri="{BB962C8B-B14F-4D97-AF65-F5344CB8AC3E}">
        <p14:creationId xmlns:p14="http://schemas.microsoft.com/office/powerpoint/2010/main" val="2679612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СТРУКТУРА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FILE_OPERATIONS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318304" y="2777263"/>
            <a:ext cx="9500886" cy="384923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file_operations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module *owner;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loff_t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(*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llseek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 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file *,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loff_t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ssize_t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(*read) 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file *, char __user *,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loff_t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*);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ssize_t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(*write) 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file *,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char __user *,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size_t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loff_t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*);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long (*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unlocked_ioctl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 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file *, unsigned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unsigned long);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(*open) 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inode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*,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file *);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(*release) 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inode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*,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file *);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// ... </a:t>
            </a:r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и многие другие</a:t>
            </a:r>
          </a:p>
          <a:p>
            <a:pPr>
              <a:lnSpc>
                <a:spcPct val="150000"/>
              </a:lnSpc>
            </a:pPr>
            <a:r>
              <a:rPr lang="ru-RU" sz="1600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ru-RU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81481" y="978127"/>
            <a:ext cx="91213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Назначение:</a:t>
            </a:r>
            <a:r>
              <a:rPr lang="ru-RU" dirty="0"/>
              <a:t> Это "таблица виртуальных функций" драйвера. Ядро ищет в ней адреса функций, которые нужно вызвать при системном вызове.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Определение:</a:t>
            </a:r>
            <a:r>
              <a:rPr lang="ru-RU" dirty="0"/>
              <a:t> Набор указателей на функции. Драйвер инициализирует только те, которые он поддерживает.</a:t>
            </a:r>
          </a:p>
        </p:txBody>
      </p:sp>
    </p:spTree>
    <p:extLst>
      <p:ext uri="{BB962C8B-B14F-4D97-AF65-F5344CB8AC3E}">
        <p14:creationId xmlns:p14="http://schemas.microsoft.com/office/powerpoint/2010/main" val="291773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ПРИМЕР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РЕГИСТРАЦИИ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 FILE_OPERATIONS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09" name="TextShape 3"/>
          <p:cNvSpPr txBox="1"/>
          <p:nvPr/>
        </p:nvSpPr>
        <p:spPr>
          <a:xfrm>
            <a:off x="295154" y="988975"/>
            <a:ext cx="9554902" cy="384923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static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file_operations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my_fops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.owner = THIS_MODULE,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.open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my_device_open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.release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my_device_release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.read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my_device_read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.write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my_device_write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.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unlocked_ioctl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my_device_ioctl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};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static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__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init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my_init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(void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){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major;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major =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register_chrdev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(0, 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my_device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", &amp;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my_fops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 //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Динамический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номер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// ...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создание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dev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my_device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return 0;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521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ЧТО ТАКОЕ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IOCTL?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37549" y="1443841"/>
            <a:ext cx="8299048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1" dirty="0" err="1"/>
              <a:t>Input</a:t>
            </a:r>
            <a:r>
              <a:rPr lang="ru-RU" b="1" dirty="0"/>
              <a:t>/</a:t>
            </a:r>
            <a:r>
              <a:rPr lang="ru-RU" b="1" dirty="0" err="1"/>
              <a:t>Output</a:t>
            </a:r>
            <a:r>
              <a:rPr lang="ru-RU" b="1" dirty="0"/>
              <a:t> </a:t>
            </a:r>
            <a:r>
              <a:rPr lang="ru-RU" b="1" dirty="0" err="1" smtClean="0"/>
              <a:t>Control</a:t>
            </a:r>
            <a:r>
              <a:rPr lang="en-US" b="1" dirty="0" smtClean="0"/>
              <a:t> </a:t>
            </a:r>
            <a:r>
              <a:rPr lang="en-US" dirty="0" smtClean="0"/>
              <a:t>- </a:t>
            </a:r>
            <a:r>
              <a:rPr lang="ru-RU" dirty="0" smtClean="0"/>
              <a:t>универсальный </a:t>
            </a:r>
            <a:r>
              <a:rPr lang="ru-RU" dirty="0"/>
              <a:t>механизм для передачи управляющих команд драйверу, которые не вписываются в модель </a:t>
            </a:r>
            <a:r>
              <a:rPr lang="ru-RU" dirty="0" err="1"/>
              <a:t>read</a:t>
            </a:r>
            <a:r>
              <a:rPr lang="ru-RU" dirty="0"/>
              <a:t>/</a:t>
            </a:r>
            <a:r>
              <a:rPr lang="ru-RU" dirty="0" err="1"/>
              <a:t>write</a:t>
            </a:r>
            <a:r>
              <a:rPr lang="ru-RU" dirty="0"/>
              <a:t>.</a:t>
            </a:r>
          </a:p>
          <a:p>
            <a:pPr algn="just">
              <a:lnSpc>
                <a:spcPct val="150000"/>
              </a:lnSpc>
            </a:pP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b="1" dirty="0"/>
              <a:t>Использование</a:t>
            </a:r>
            <a:r>
              <a:rPr lang="ru-RU" dirty="0"/>
              <a:t>: Настройка параметров устройства, получение статуса, переключение режимов работы.</a:t>
            </a:r>
          </a:p>
          <a:p>
            <a:pPr algn="just">
              <a:lnSpc>
                <a:spcPct val="150000"/>
              </a:lnSpc>
            </a:pP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b="1" dirty="0"/>
              <a:t>Пример</a:t>
            </a:r>
            <a:r>
              <a:rPr lang="ru-RU" dirty="0"/>
              <a:t>: установка скорости последовательного порта, сброс устройства, запрос версии драйвера.</a:t>
            </a:r>
          </a:p>
        </p:txBody>
      </p:sp>
    </p:spTree>
    <p:extLst>
      <p:ext uri="{BB962C8B-B14F-4D97-AF65-F5344CB8AC3E}">
        <p14:creationId xmlns:p14="http://schemas.microsoft.com/office/powerpoint/2010/main" val="738864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IOCTL С ТОЧКИ ЗРЕНИЯ ПРИЛОЖЕНИЯ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7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37549" y="1443841"/>
            <a:ext cx="829904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ioctl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fd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, unsigned long request, ... /*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*/);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273215" y="2274838"/>
            <a:ext cx="796338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ru-RU" dirty="0" err="1"/>
              <a:t>fd</a:t>
            </a:r>
            <a:r>
              <a:rPr lang="ru-RU" dirty="0"/>
              <a:t>: Файловый дескриптор, полученный из </a:t>
            </a:r>
            <a:r>
              <a:rPr lang="ru-RU" dirty="0" err="1"/>
              <a:t>open</a:t>
            </a:r>
            <a:r>
              <a:rPr lang="ru-RU" dirty="0"/>
              <a:t>().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ru-RU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ru-RU" dirty="0" err="1"/>
              <a:t>request</a:t>
            </a:r>
            <a:r>
              <a:rPr lang="ru-RU" dirty="0"/>
              <a:t>: Код команды. Определяется драйвером.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ru-RU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ru-RU" dirty="0" err="1"/>
              <a:t>arg</a:t>
            </a:r>
            <a:r>
              <a:rPr lang="ru-RU" dirty="0"/>
              <a:t>: Дополнительный аргумент (указатель, число). Передаётся "как есть".</a:t>
            </a:r>
          </a:p>
        </p:txBody>
      </p:sp>
    </p:spTree>
    <p:extLst>
      <p:ext uri="{BB962C8B-B14F-4D97-AF65-F5344CB8AC3E}">
        <p14:creationId xmlns:p14="http://schemas.microsoft.com/office/powerpoint/2010/main" val="21710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IOCTL С ТОЧКИ ЗРЕНИЯ ПРИЛОЖЕНИЯ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8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37549" y="1067664"/>
            <a:ext cx="8299048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open("/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dev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my_device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", O_RDWR);</a:t>
            </a:r>
          </a:p>
          <a:p>
            <a:pPr algn="just">
              <a:lnSpc>
                <a:spcPct val="150000"/>
              </a:lnSpc>
            </a:pP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baud_rate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= 115200;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// 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Установка скорости (команда 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SET_BAUD, </a:t>
            </a:r>
            <a:r>
              <a:rPr lang="ru-RU" sz="1600" dirty="0">
                <a:latin typeface="Courier New" pitchFamily="49" charset="0"/>
                <a:cs typeface="Courier New" pitchFamily="49" charset="0"/>
              </a:rPr>
              <a:t>передаём указатель на значение)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ioctl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, MY_DEVICE_SET_BAUD, &amp;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baud_rate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 == -1) {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perror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ioctl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failed");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>
              <a:lnSpc>
                <a:spcPct val="150000"/>
              </a:lnSpc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status;</a:t>
            </a:r>
          </a:p>
          <a:p>
            <a:pPr algn="just">
              <a:lnSpc>
                <a:spcPct val="150000"/>
              </a:lnSpc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if 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ioctl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fd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, MY_DEVICE_GET_STATUS, &amp;status) == -1) {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perror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en-US" sz="1600" b="1" dirty="0" err="1">
                <a:latin typeface="Courier New" pitchFamily="49" charset="0"/>
                <a:cs typeface="Courier New" pitchFamily="49" charset="0"/>
              </a:rPr>
              <a:t>ioctl</a:t>
            </a: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failed");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close(</a:t>
            </a:r>
            <a:r>
              <a:rPr lang="en-US" sz="1600" dirty="0" err="1">
                <a:latin typeface="Courier New" pitchFamily="49" charset="0"/>
                <a:cs typeface="Courier New" pitchFamily="49" charset="0"/>
              </a:rPr>
              <a:t>fd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);</a:t>
            </a:r>
            <a:endParaRPr lang="ru-RU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810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ПРОТОТИП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IOCTL 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В ДРАЙВЕРЕ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9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937549" y="1067664"/>
            <a:ext cx="8299048" cy="430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/>
              <a:t>long (*</a:t>
            </a:r>
            <a:r>
              <a:rPr lang="en-US" sz="1600" b="1" dirty="0" err="1"/>
              <a:t>unlocked_ioctl</a:t>
            </a:r>
            <a:r>
              <a:rPr lang="en-US" sz="1600" b="1" dirty="0"/>
              <a:t>) (</a:t>
            </a:r>
            <a:r>
              <a:rPr lang="en-US" sz="1600" b="1" dirty="0" err="1"/>
              <a:t>struct</a:t>
            </a:r>
            <a:r>
              <a:rPr lang="en-US" sz="1600" b="1" dirty="0"/>
              <a:t> file *</a:t>
            </a:r>
            <a:r>
              <a:rPr lang="en-US" sz="1600" b="1" dirty="0" err="1"/>
              <a:t>filp</a:t>
            </a:r>
            <a:r>
              <a:rPr lang="en-US" sz="1600" b="1" dirty="0"/>
              <a:t>, unsigned </a:t>
            </a:r>
            <a:r>
              <a:rPr lang="en-US" sz="1600" b="1" dirty="0" err="1"/>
              <a:t>int</a:t>
            </a:r>
            <a:r>
              <a:rPr lang="en-US" sz="1600" b="1" dirty="0"/>
              <a:t> </a:t>
            </a:r>
            <a:r>
              <a:rPr lang="en-US" sz="1600" b="1" dirty="0" err="1"/>
              <a:t>cmd</a:t>
            </a:r>
            <a:r>
              <a:rPr lang="en-US" sz="1600" b="1" dirty="0"/>
              <a:t>, unsigned long </a:t>
            </a:r>
            <a:r>
              <a:rPr lang="en-US" sz="1600" b="1" dirty="0" err="1"/>
              <a:t>arg</a:t>
            </a:r>
            <a:r>
              <a:rPr lang="en-US" sz="1600" b="1" dirty="0"/>
              <a:t>);</a:t>
            </a:r>
            <a:endParaRPr lang="ru-RU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24290" y="1763568"/>
            <a:ext cx="847315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Не использует </a:t>
            </a:r>
            <a:r>
              <a:rPr lang="ru-RU" dirty="0" err="1"/>
              <a:t>Big</a:t>
            </a:r>
            <a:r>
              <a:rPr lang="ru-RU" dirty="0"/>
              <a:t> </a:t>
            </a:r>
            <a:r>
              <a:rPr lang="ru-RU" dirty="0" err="1"/>
              <a:t>Kernel</a:t>
            </a:r>
            <a:r>
              <a:rPr lang="ru-RU" dirty="0"/>
              <a:t> </a:t>
            </a:r>
            <a:r>
              <a:rPr lang="ru-RU" dirty="0" err="1"/>
              <a:t>Lock</a:t>
            </a:r>
            <a:r>
              <a:rPr lang="ru-RU" dirty="0"/>
              <a:t> (BKL), что улучшает производительность.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Используется в современных </a:t>
            </a:r>
            <a:r>
              <a:rPr lang="ru-RU" dirty="0" smtClean="0"/>
              <a:t>драйверах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Параллелизм</a:t>
            </a:r>
            <a:r>
              <a:rPr lang="ru-RU" dirty="0"/>
              <a:t> - несколько процессов могут одновременно вызывать </a:t>
            </a:r>
            <a:r>
              <a:rPr lang="ru-RU" dirty="0" err="1" smtClean="0"/>
              <a:t>ioctl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864032" y="3524597"/>
            <a:ext cx="829904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 smtClean="0"/>
              <a:t>Типичные </a:t>
            </a:r>
            <a:r>
              <a:rPr lang="ru-RU" b="1" dirty="0"/>
              <a:t>сценарии использования: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Сетевые устройства</a:t>
            </a:r>
            <a:r>
              <a:rPr lang="ru-RU" dirty="0"/>
              <a:t> - настройка IP, MAC-адресов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Аудиоустройства</a:t>
            </a:r>
            <a:r>
              <a:rPr lang="ru-RU" dirty="0"/>
              <a:t> - регулировка громкости, выбор источника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Датчики</a:t>
            </a:r>
            <a:r>
              <a:rPr lang="ru-RU" dirty="0"/>
              <a:t> - калибровка, настройка точности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Дисплеи</a:t>
            </a:r>
            <a:r>
              <a:rPr lang="ru-RU" dirty="0"/>
              <a:t> - яркость, контрастность, разрешение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b="1" dirty="0"/>
              <a:t>Системные устройства</a:t>
            </a:r>
            <a:r>
              <a:rPr lang="ru-RU" dirty="0"/>
              <a:t> - перезагрузка, сброс настроек</a:t>
            </a:r>
          </a:p>
        </p:txBody>
      </p:sp>
    </p:spTree>
    <p:extLst>
      <p:ext uri="{BB962C8B-B14F-4D97-AF65-F5344CB8AC3E}">
        <p14:creationId xmlns:p14="http://schemas.microsoft.com/office/powerpoint/2010/main" val="4090745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СОЗДАНИЕ 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IOCTL-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КОМАНД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10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25190" y="1080661"/>
            <a:ext cx="8473150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 smtClean="0"/>
              <a:t>Проблема</a:t>
            </a:r>
            <a:r>
              <a:rPr lang="ru-RU" b="1" dirty="0"/>
              <a:t>:</a:t>
            </a:r>
            <a:r>
              <a:rPr lang="ru-RU" dirty="0"/>
              <a:t> Коды команд должны быть уникальными, чтобы не было конфликтов между драйверами.</a:t>
            </a:r>
          </a:p>
          <a:p>
            <a:pPr>
              <a:lnSpc>
                <a:spcPct val="150000"/>
              </a:lnSpc>
            </a:pPr>
            <a:r>
              <a:rPr lang="ru-RU" b="1" dirty="0" smtClean="0"/>
              <a:t>Макросы</a:t>
            </a:r>
            <a:r>
              <a:rPr lang="ru-RU" b="1" dirty="0"/>
              <a:t>:</a:t>
            </a:r>
            <a:r>
              <a:rPr lang="ru-RU" dirty="0"/>
              <a:t> (определены в &lt;</a:t>
            </a:r>
            <a:r>
              <a:rPr lang="ru-RU" dirty="0" err="1"/>
              <a:t>linux</a:t>
            </a:r>
            <a:r>
              <a:rPr lang="ru-RU" dirty="0"/>
              <a:t>/</a:t>
            </a:r>
            <a:r>
              <a:rPr lang="ru-RU" dirty="0" err="1"/>
              <a:t>ioctl.h</a:t>
            </a:r>
            <a:r>
              <a:rPr lang="ru-RU" dirty="0"/>
              <a:t>&gt;)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_IO(</a:t>
            </a:r>
            <a:r>
              <a:rPr lang="ru-RU" dirty="0" err="1"/>
              <a:t>type</a:t>
            </a:r>
            <a:r>
              <a:rPr lang="ru-RU" dirty="0"/>
              <a:t>, </a:t>
            </a:r>
            <a:r>
              <a:rPr lang="ru-RU" dirty="0" err="1"/>
              <a:t>nr</a:t>
            </a:r>
            <a:r>
              <a:rPr lang="ru-RU" dirty="0"/>
              <a:t>): Команда без передачи данных.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_IOR(</a:t>
            </a:r>
            <a:r>
              <a:rPr lang="ru-RU" dirty="0" err="1"/>
              <a:t>type</a:t>
            </a:r>
            <a:r>
              <a:rPr lang="ru-RU" dirty="0"/>
              <a:t>, </a:t>
            </a:r>
            <a:r>
              <a:rPr lang="ru-RU" dirty="0" err="1"/>
              <a:t>nr</a:t>
            </a:r>
            <a:r>
              <a:rPr lang="ru-RU" dirty="0"/>
              <a:t>, </a:t>
            </a:r>
            <a:r>
              <a:rPr lang="ru-RU" dirty="0" err="1"/>
              <a:t>datatype</a:t>
            </a:r>
            <a:r>
              <a:rPr lang="ru-RU" dirty="0"/>
              <a:t>): Чтение данных из драйвера (</a:t>
            </a:r>
            <a:r>
              <a:rPr lang="ru-RU" dirty="0" err="1"/>
              <a:t>Read</a:t>
            </a:r>
            <a:r>
              <a:rPr lang="ru-RU" dirty="0"/>
              <a:t>).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_IOW(</a:t>
            </a:r>
            <a:r>
              <a:rPr lang="ru-RU" dirty="0" err="1"/>
              <a:t>type</a:t>
            </a:r>
            <a:r>
              <a:rPr lang="ru-RU" dirty="0"/>
              <a:t>, </a:t>
            </a:r>
            <a:r>
              <a:rPr lang="ru-RU" dirty="0" err="1"/>
              <a:t>nr</a:t>
            </a:r>
            <a:r>
              <a:rPr lang="ru-RU" dirty="0"/>
              <a:t>, </a:t>
            </a:r>
            <a:r>
              <a:rPr lang="ru-RU" dirty="0" err="1"/>
              <a:t>datatype</a:t>
            </a:r>
            <a:r>
              <a:rPr lang="ru-RU" dirty="0"/>
              <a:t>): Запись данных в драйвер (</a:t>
            </a:r>
            <a:r>
              <a:rPr lang="ru-RU" dirty="0" err="1"/>
              <a:t>Write</a:t>
            </a:r>
            <a:r>
              <a:rPr lang="ru-RU" dirty="0"/>
              <a:t>).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/>
              <a:t>_IOWR(</a:t>
            </a:r>
            <a:r>
              <a:rPr lang="ru-RU" dirty="0" err="1"/>
              <a:t>type</a:t>
            </a:r>
            <a:r>
              <a:rPr lang="ru-RU" dirty="0"/>
              <a:t>, </a:t>
            </a:r>
            <a:r>
              <a:rPr lang="ru-RU" dirty="0" err="1"/>
              <a:t>nr</a:t>
            </a:r>
            <a:r>
              <a:rPr lang="ru-RU" dirty="0"/>
              <a:t>, </a:t>
            </a:r>
            <a:r>
              <a:rPr lang="ru-RU" dirty="0" err="1"/>
              <a:t>datatype</a:t>
            </a:r>
            <a:r>
              <a:rPr lang="ru-RU" dirty="0"/>
              <a:t>): Двунаправленная передача данных (</a:t>
            </a:r>
            <a:r>
              <a:rPr lang="ru-RU" dirty="0" err="1"/>
              <a:t>Read</a:t>
            </a:r>
            <a:r>
              <a:rPr lang="ru-RU" dirty="0"/>
              <a:t>/</a:t>
            </a:r>
            <a:r>
              <a:rPr lang="ru-RU" dirty="0" err="1"/>
              <a:t>Write</a:t>
            </a:r>
            <a:r>
              <a:rPr lang="ru-RU" dirty="0" smtClean="0"/>
              <a:t>)</a:t>
            </a:r>
            <a:endParaRPr lang="en-US" dirty="0" smtClean="0"/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endParaRPr lang="ru-RU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ru-RU" dirty="0" err="1"/>
              <a:t>type</a:t>
            </a:r>
            <a:r>
              <a:rPr lang="ru-RU" dirty="0"/>
              <a:t>: 8-битный "магический" номер, уникальный для драйвера (часто буква).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ru-RU" dirty="0" err="1"/>
              <a:t>nr</a:t>
            </a:r>
            <a:r>
              <a:rPr lang="ru-RU" dirty="0"/>
              <a:t>: Номер команды (8 бит).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ru-RU" dirty="0" err="1"/>
              <a:t>datatype</a:t>
            </a:r>
            <a:r>
              <a:rPr lang="ru-RU" dirty="0"/>
              <a:t>: Тип данных, который передаётся (например, </a:t>
            </a:r>
            <a:r>
              <a:rPr lang="ru-RU" dirty="0" err="1"/>
              <a:t>int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4478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СОЗДАНИЕ 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IOCTL-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КОМАНД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11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722632" y="1067514"/>
            <a:ext cx="8809119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// Команды с проверкой размера данных</a:t>
            </a:r>
          </a:p>
          <a:p>
            <a:pPr>
              <a:lnSpc>
                <a:spcPct val="150000"/>
              </a:lnSpc>
            </a:pPr>
            <a:r>
              <a:rPr lang="ru-RU" dirty="0"/>
              <a:t>#</a:t>
            </a:r>
            <a:r>
              <a:rPr lang="en-US" dirty="0"/>
              <a:t>define </a:t>
            </a:r>
            <a:r>
              <a:rPr lang="en-US" b="1" dirty="0"/>
              <a:t>MY_DEV_GET_STATUS</a:t>
            </a:r>
            <a:r>
              <a:rPr lang="en-US" dirty="0"/>
              <a:t>   _IOR(MY_DEVICE_TYPE, 1, 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dev_status</a:t>
            </a:r>
            <a:r>
              <a:rPr 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en-US" dirty="0"/>
              <a:t>#define </a:t>
            </a:r>
            <a:r>
              <a:rPr lang="en-US" b="1" dirty="0"/>
              <a:t>MY_DEV_SET_CONFIG</a:t>
            </a:r>
            <a:r>
              <a:rPr lang="en-US" dirty="0"/>
              <a:t>   _IOW(MY_DEVICE_TYPE, 2, 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dev_config</a:t>
            </a:r>
            <a:r>
              <a:rPr lang="en-US" dirty="0" smtClean="0"/>
              <a:t>)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// </a:t>
            </a:r>
            <a:r>
              <a:rPr lang="ru-RU" dirty="0"/>
              <a:t>Без данных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#define </a:t>
            </a:r>
            <a:r>
              <a:rPr lang="en-US" b="1" dirty="0"/>
              <a:t>MY_DEV_RESET</a:t>
            </a:r>
            <a:r>
              <a:rPr lang="en-US" dirty="0"/>
              <a:t>        _IO(MY_DEVICE_TYPE, 3</a:t>
            </a:r>
            <a:r>
              <a:rPr lang="en-US" dirty="0" smtClean="0"/>
              <a:t>)</a:t>
            </a:r>
            <a:endParaRPr lang="ru-RU" dirty="0"/>
          </a:p>
          <a:p>
            <a:pPr>
              <a:lnSpc>
                <a:spcPct val="150000"/>
              </a:lnSpc>
            </a:pPr>
            <a:r>
              <a:rPr lang="ru-RU" dirty="0"/>
              <a:t>#</a:t>
            </a:r>
            <a:r>
              <a:rPr lang="en-US" dirty="0"/>
              <a:t>define </a:t>
            </a:r>
            <a:r>
              <a:rPr lang="en-US" b="1" dirty="0"/>
              <a:t>MY_DEV_READ_DATA</a:t>
            </a:r>
            <a:r>
              <a:rPr lang="en-US" dirty="0"/>
              <a:t>    _IOWR(MY_DEVICE_TYPE, 4, 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dev_data</a:t>
            </a:r>
            <a:r>
              <a:rPr lang="en-US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9332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СОЗДАНИЕ 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IOCTL-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КОМАНД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12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25190" y="1080661"/>
            <a:ext cx="84731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my_device_ioctl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file *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filp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unsigned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cmd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unsigned long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my_device_data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*data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filp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private_data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status,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new_baud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config_data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// </a:t>
            </a:r>
            <a:r>
              <a:rPr lang="ru-RU" sz="1400" dirty="0">
                <a:latin typeface="Courier New" pitchFamily="49" charset="0"/>
                <a:cs typeface="Courier New" pitchFamily="49" charset="0"/>
              </a:rPr>
              <a:t>Проверяем, что команда корректна для нашего устройства</a:t>
            </a:r>
          </a:p>
          <a:p>
            <a:pPr>
              <a:lnSpc>
                <a:spcPct val="150000"/>
              </a:lnSpc>
            </a:pPr>
            <a:r>
              <a:rPr lang="ru-RU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_IOC_TYPE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cmd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 != MY_DEVICE_IOC_MAGIC)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return -ENOTTY; // "Not a typewriter" - </a:t>
            </a:r>
            <a:r>
              <a:rPr lang="ru-RU" sz="1400" dirty="0">
                <a:latin typeface="Courier New" pitchFamily="49" charset="0"/>
                <a:cs typeface="Courier New" pitchFamily="49" charset="0"/>
              </a:rPr>
              <a:t>стандартная 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ошибка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if (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_IOC_NR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cmd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 &gt; MY_DEVICE_IOC_MAXNR)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return -ENOTTY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889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СОЗДАНИЕ 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IOCTL-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КОМАНД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13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25190" y="1080661"/>
            <a:ext cx="847315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switch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cmd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case MY_DEVICE_GET_STATUS: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status =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get_device_status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// </a:t>
            </a:r>
            <a:r>
              <a:rPr lang="ru-RU" sz="1400" dirty="0">
                <a:latin typeface="Courier New" pitchFamily="49" charset="0"/>
                <a:cs typeface="Courier New" pitchFamily="49" charset="0"/>
              </a:rPr>
              <a:t>Копируем результат в пользовательское пространство</a:t>
            </a:r>
          </a:p>
          <a:p>
            <a:pPr>
              <a:lnSpc>
                <a:spcPct val="150000"/>
              </a:lnSpc>
            </a:pPr>
            <a:r>
              <a:rPr lang="ru-RU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copy_to_user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__user *)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&amp;status,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(status)))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return -EFAULT;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break;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Courier New" pitchFamily="49" charset="0"/>
                <a:cs typeface="Courier New" pitchFamily="49" charset="0"/>
              </a:rPr>
              <a:t>    case MY_DEVICE_SET_BAUD: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// </a:t>
            </a:r>
            <a:r>
              <a:rPr lang="ru-RU" sz="1400" dirty="0">
                <a:latin typeface="Courier New" pitchFamily="49" charset="0"/>
                <a:cs typeface="Courier New" pitchFamily="49" charset="0"/>
              </a:rPr>
              <a:t>Копируем аргумент ИЗ пользовательского пространства</a:t>
            </a:r>
          </a:p>
          <a:p>
            <a:pPr>
              <a:lnSpc>
                <a:spcPct val="150000"/>
              </a:lnSpc>
            </a:pPr>
            <a:r>
              <a:rPr lang="ru-RU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if 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copy_from_user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new_baud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__user *)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new_baud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return -EFAULT;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set_device_baud_rate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new_baud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break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712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СОЗДАНИЕ 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</a:rPr>
              <a:t>IOCTL-</a:t>
            </a: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КОМАНД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14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67159" y="1017000"/>
            <a:ext cx="9338841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case MY_DEVICE_RESET: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reset_device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break;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b="1" dirty="0">
                <a:latin typeface="Courier New" pitchFamily="49" charset="0"/>
                <a:cs typeface="Courier New" pitchFamily="49" charset="0"/>
              </a:rPr>
              <a:t>case MY_DEVICE_READ_CONFIG: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// </a:t>
            </a:r>
            <a:r>
              <a:rPr lang="ru-RU" sz="1400" dirty="0">
                <a:latin typeface="Courier New" pitchFamily="49" charset="0"/>
                <a:cs typeface="Courier New" pitchFamily="49" charset="0"/>
              </a:rPr>
              <a:t>Чтение конфигурации в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kernel space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get_device_config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// </a:t>
            </a:r>
            <a:r>
              <a:rPr lang="ru-RU" sz="1400" dirty="0">
                <a:latin typeface="Courier New" pitchFamily="49" charset="0"/>
                <a:cs typeface="Courier New" pitchFamily="49" charset="0"/>
              </a:rPr>
              <a:t>Возврат обновлённой конфигурации в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user space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if 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copy_to_user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config_data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 __user *)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arg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config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)))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    return -EFAULT;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break;</a:t>
            </a:r>
          </a:p>
          <a:p>
            <a:pPr>
              <a:lnSpc>
                <a:spcPct val="150000"/>
              </a:lnSpc>
            </a:pP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default: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        return -ENOTTY; // </a:t>
            </a:r>
            <a:r>
              <a:rPr lang="ru-RU" sz="1400" dirty="0">
                <a:latin typeface="Courier New" pitchFamily="49" charset="0"/>
                <a:cs typeface="Courier New" pitchFamily="49" charset="0"/>
              </a:rPr>
              <a:t>Неизвестная команда</a:t>
            </a:r>
          </a:p>
          <a:p>
            <a:pPr>
              <a:lnSpc>
                <a:spcPct val="150000"/>
              </a:lnSpc>
            </a:pPr>
            <a:r>
              <a:rPr lang="ru-RU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400" dirty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150000"/>
              </a:lnSpc>
            </a:pPr>
            <a:r>
              <a:rPr lang="ru-RU" sz="14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return 0; // </a:t>
            </a:r>
            <a:r>
              <a:rPr lang="ru-RU" sz="1400" dirty="0">
                <a:latin typeface="Courier New" pitchFamily="49" charset="0"/>
                <a:cs typeface="Courier New" pitchFamily="49" charset="0"/>
              </a:rPr>
              <a:t>Успех</a:t>
            </a:r>
          </a:p>
          <a:p>
            <a:pPr>
              <a:lnSpc>
                <a:spcPct val="150000"/>
              </a:lnSpc>
            </a:pPr>
            <a:r>
              <a:rPr lang="ru-RU" sz="14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63702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TextShape 1"/>
          <p:cNvSpPr txBox="1"/>
          <p:nvPr/>
        </p:nvSpPr>
        <p:spPr>
          <a:xfrm>
            <a:off x="446760" y="441720"/>
            <a:ext cx="8950680" cy="461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2400" b="1" dirty="0" smtClean="0">
                <a:solidFill>
                  <a:schemeClr val="accent1">
                    <a:lumMod val="50000"/>
                  </a:schemeClr>
                </a:solidFill>
              </a:rPr>
              <a:t>КОДЫ ВОЗВРАТА И ОБРАБОТКА ОШИБОК</a:t>
            </a:r>
            <a:endParaRPr lang="ru-RU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08" name="TextShape 2"/>
          <p:cNvSpPr txBox="1"/>
          <p:nvPr/>
        </p:nvSpPr>
        <p:spPr>
          <a:xfrm>
            <a:off x="9163080" y="6109920"/>
            <a:ext cx="470520" cy="365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fld id="{84DF81D8-CD14-45C7-82DB-DF6FCD557083}" type="slidenum">
              <a:rPr lang="ru-RU" sz="1200" b="0" strike="noStrike" spc="-1">
                <a:solidFill>
                  <a:srgbClr val="8B8B8B">
                    <a:alpha val="40000"/>
                  </a:srgbClr>
                </a:solidFill>
                <a:latin typeface="Verdana"/>
                <a:ea typeface="Verdana"/>
              </a:rPr>
              <a:t>15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67159" y="1254281"/>
            <a:ext cx="9338841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Общее правило:</a:t>
            </a:r>
            <a:r>
              <a:rPr lang="ru-RU" dirty="0"/>
              <a:t> Возвращайте 0 при успехе, отрицательное значение при ошибке.</a:t>
            </a:r>
          </a:p>
          <a:p>
            <a:pPr>
              <a:lnSpc>
                <a:spcPct val="150000"/>
              </a:lnSpc>
            </a:pPr>
            <a:endParaRPr lang="ru-RU" b="1" dirty="0" smtClean="0"/>
          </a:p>
          <a:p>
            <a:pPr>
              <a:lnSpc>
                <a:spcPct val="150000"/>
              </a:lnSpc>
            </a:pPr>
            <a:r>
              <a:rPr lang="ru-RU" b="1" dirty="0" smtClean="0"/>
              <a:t>Стандартные </a:t>
            </a:r>
            <a:r>
              <a:rPr lang="ru-RU" b="1" dirty="0"/>
              <a:t>коды ошибок ядра ( &lt;</a:t>
            </a:r>
            <a:r>
              <a:rPr lang="ru-RU" b="1" dirty="0" err="1"/>
              <a:t>linux</a:t>
            </a:r>
            <a:r>
              <a:rPr lang="ru-RU" b="1" dirty="0"/>
              <a:t>/</a:t>
            </a:r>
            <a:r>
              <a:rPr lang="ru-RU" b="1" dirty="0" err="1"/>
              <a:t>errno.h</a:t>
            </a:r>
            <a:r>
              <a:rPr lang="ru-RU" b="1" dirty="0"/>
              <a:t>&gt;):</a:t>
            </a:r>
            <a:endParaRPr lang="ru-RU" dirty="0"/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/>
              <a:t>EINVAL</a:t>
            </a:r>
            <a:r>
              <a:rPr lang="ru-RU" dirty="0"/>
              <a:t> – Неверный аргумент.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/>
              <a:t>ENOMEM</a:t>
            </a:r>
            <a:r>
              <a:rPr lang="ru-RU" dirty="0"/>
              <a:t> – Недостаточно памяти.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/>
              <a:t>EFAULT</a:t>
            </a:r>
            <a:r>
              <a:rPr lang="ru-RU" dirty="0"/>
              <a:t> – Ошибка при доступе к пользовательскому указателю.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/>
              <a:t>ENOTTY</a:t>
            </a:r>
            <a:r>
              <a:rPr lang="ru-RU" dirty="0"/>
              <a:t> – Неверная или неподдерживаемая команда </a:t>
            </a:r>
            <a:r>
              <a:rPr lang="ru-RU" dirty="0" err="1"/>
              <a:t>ioctl</a:t>
            </a:r>
            <a:r>
              <a:rPr lang="ru-RU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/>
              <a:t>EBUSY</a:t>
            </a:r>
            <a:r>
              <a:rPr lang="ru-RU" dirty="0"/>
              <a:t> – Устройство занято.</a:t>
            </a:r>
          </a:p>
          <a:p>
            <a:pPr marL="742950" lvl="1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dirty="0" smtClean="0"/>
              <a:t>EAGAIN</a:t>
            </a:r>
            <a:r>
              <a:rPr lang="ru-RU" dirty="0"/>
              <a:t> – Операция должна быть </a:t>
            </a:r>
            <a:r>
              <a:rPr lang="ru-RU" dirty="0" smtClean="0"/>
              <a:t>повторена</a:t>
            </a:r>
          </a:p>
          <a:p>
            <a:pPr marL="0" lvl="1">
              <a:lnSpc>
                <a:spcPct val="150000"/>
              </a:lnSpc>
            </a:pPr>
            <a:endParaRPr lang="ru-RU" b="1" dirty="0" smtClean="0"/>
          </a:p>
          <a:p>
            <a:pPr marL="0" lvl="1">
              <a:lnSpc>
                <a:spcPct val="150000"/>
              </a:lnSpc>
            </a:pPr>
            <a:r>
              <a:rPr lang="ru-RU" b="1" dirty="0" smtClean="0"/>
              <a:t>Важно</a:t>
            </a:r>
            <a:r>
              <a:rPr lang="ru-RU" b="1" dirty="0"/>
              <a:t>:</a:t>
            </a:r>
            <a:r>
              <a:rPr lang="ru-RU" dirty="0"/>
              <a:t> Всегда проверяйте возвращаемые значения </a:t>
            </a:r>
            <a:r>
              <a:rPr lang="ru-RU" dirty="0" err="1"/>
              <a:t>copy_to_user</a:t>
            </a:r>
            <a:r>
              <a:rPr lang="ru-RU" dirty="0"/>
              <a:t>/</a:t>
            </a:r>
            <a:r>
              <a:rPr lang="ru-RU" dirty="0" err="1"/>
              <a:t>copy_from_user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268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88F1"/>
      </a:accent1>
      <a:accent2>
        <a:srgbClr val="FB6508"/>
      </a:accent2>
      <a:accent3>
        <a:srgbClr val="00C698"/>
      </a:accent3>
      <a:accent4>
        <a:srgbClr val="FFBF03"/>
      </a:accent4>
      <a:accent5>
        <a:srgbClr val="702F9F"/>
      </a:accent5>
      <a:accent6>
        <a:srgbClr val="00AF50"/>
      </a:accent6>
      <a:hlink>
        <a:srgbClr val="2888F1"/>
      </a:hlink>
      <a:folHlink>
        <a:srgbClr val="0070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888F1"/>
      </a:accent1>
      <a:accent2>
        <a:srgbClr val="FB6508"/>
      </a:accent2>
      <a:accent3>
        <a:srgbClr val="00C698"/>
      </a:accent3>
      <a:accent4>
        <a:srgbClr val="FFBF03"/>
      </a:accent4>
      <a:accent5>
        <a:srgbClr val="702F9F"/>
      </a:accent5>
      <a:accent6>
        <a:srgbClr val="00AF50"/>
      </a:accent6>
      <a:hlink>
        <a:srgbClr val="2888F1"/>
      </a:hlink>
      <a:folHlink>
        <a:srgbClr val="0070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1864</TotalTime>
  <Words>785</Words>
  <Application>Microsoft Office PowerPoint</Application>
  <PresentationFormat>Лист A4 (210x297 мм)</PresentationFormat>
  <Paragraphs>183</Paragraphs>
  <Slides>15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Николишин Николай Дмитриевич</dc:creator>
  <cp:lastModifiedBy>User</cp:lastModifiedBy>
  <cp:revision>819</cp:revision>
  <dcterms:created xsi:type="dcterms:W3CDTF">2017-01-09T10:54:16Z</dcterms:created>
  <dcterms:modified xsi:type="dcterms:W3CDTF">2025-11-19T06:21:03Z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16.0016</vt:lpwstr>
  </property>
  <property fmtid="{D5CDD505-2E9C-101B-9397-08002B2CF9AE}" pid="3" name="DocSecurity">
    <vt:i4>0</vt:i4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14</vt:i4>
  </property>
  <property fmtid="{D5CDD505-2E9C-101B-9397-08002B2CF9AE}" pid="9" name="PresentationFormat">
    <vt:lpwstr>Лист A4 (210x297 мм)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43</vt:i4>
  </property>
</Properties>
</file>