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62" r:id="rId3"/>
    <p:sldId id="418" r:id="rId4"/>
    <p:sldId id="377" r:id="rId5"/>
    <p:sldId id="292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3790"/>
    <a:srgbClr val="003399"/>
    <a:srgbClr val="0A4DBA"/>
    <a:srgbClr val="0C4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23" autoAdjust="0"/>
    <p:restoredTop sz="81740" autoAdjust="0"/>
  </p:normalViewPr>
  <p:slideViewPr>
    <p:cSldViewPr>
      <p:cViewPr varScale="1">
        <p:scale>
          <a:sx n="136" d="100"/>
          <a:sy n="136" d="100"/>
        </p:scale>
        <p:origin x="-1701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85BBF8-089C-4F51-814A-C81C4F11D2AE}" type="datetimeFigureOut">
              <a:rPr lang="ru-RU" smtClean="0"/>
              <a:pPr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5BFD9-3711-4CEF-BF2B-6D8625DAD4E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9329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23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 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23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aseline="0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F5BFD9-3711-4CEF-BF2B-6D8625DAD4E7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225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CBF61-6843-4622-B21A-5BF9AC36189E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11145-B2EB-461B-B0FF-A230C28601F4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7831E-7E60-46C5-9674-1D4F3F01A0C9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A51BD-F2EE-43DE-9069-5AF7C8233C95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9409B-8925-4F8E-94FF-63F361E0F567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DA2FE-CCEC-4850-B491-7638D035192D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8454B-02A6-45DC-9AC0-D7772EB5F3D0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6C8D3-0DC3-45DB-A324-9CE377790920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A2817-61F1-42DD-8969-D817CC107A7A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887B2-35C2-4EDC-A92A-9C07813D256C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64A5-A356-4260-B7C5-1B5814E5F101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A4D44-8D9F-4448-84A3-9C66227452A7}" type="datetime1">
              <a:rPr lang="ru-RU" smtClean="0"/>
              <a:pPr/>
              <a:t>15.12.2025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F253C-AC04-49AD-AC00-EE88889E70E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2702"/>
            <a:ext cx="8501122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00034" y="6286520"/>
            <a:ext cx="8143932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14348" y="1571612"/>
            <a:ext cx="7929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МОДУЛЬ 1</a:t>
            </a:r>
          </a:p>
          <a:p>
            <a:pPr algn="ctr"/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СИСТЕМНОЕ  ПРОГРАММНОЕ </a:t>
            </a:r>
          </a:p>
          <a:p>
            <a:pPr algn="ctr"/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ОБЕСПЕЧЕНИЕ</a:t>
            </a:r>
            <a:endParaRPr lang="ru-RU" sz="2000" b="1" dirty="0">
              <a:solidFill>
                <a:srgbClr val="0A379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28992" y="6286520"/>
            <a:ext cx="2571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i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Нижний Новгород, 2025г.</a:t>
            </a:r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000" b="1" dirty="0">
              <a:solidFill>
                <a:srgbClr val="0A379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470461" y="4000504"/>
            <a:ext cx="43885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ОБЛАЧНЫЕ  ТЕХНОЛОГИИ</a:t>
            </a:r>
            <a:endParaRPr lang="ru-RU" sz="2400" b="1" dirty="0">
              <a:solidFill>
                <a:srgbClr val="0A379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1600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ЦЕЛИ  И  ЗАДАЧИ  ЛЕКЦИИ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5616" y="1700808"/>
            <a:ext cx="76328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 smtClean="0"/>
              <a:t>Понять </a:t>
            </a:r>
            <a:r>
              <a:rPr lang="ru-RU" sz="2000" dirty="0"/>
              <a:t>ключевые этапы эволюции ИТ-инфраструктуры.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Определить, что такое "современные ИТ" и какие тренды их определяют.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Разобраться в различиях архитектурных стилей: монолит, </a:t>
            </a:r>
            <a:r>
              <a:rPr lang="ru-RU" sz="2000" dirty="0" err="1"/>
              <a:t>микросервисы</a:t>
            </a:r>
            <a:r>
              <a:rPr lang="ru-RU" sz="2000" dirty="0"/>
              <a:t>, </a:t>
            </a:r>
            <a:r>
              <a:rPr lang="ru-RU" sz="2000" dirty="0" err="1"/>
              <a:t>serverless</a:t>
            </a:r>
            <a:r>
              <a:rPr lang="ru-RU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2000" dirty="0"/>
              <a:t>Осознать преимущества и недостатки каждого подхода.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1600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ЦЕЛИ  И  ЗАДАЧИ  МОДУЛЯ</a:t>
            </a:r>
            <a:endParaRPr lang="ru-RU" sz="2000" b="1" u="sng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79405" y="1340768"/>
            <a:ext cx="76328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Информационные технологии (ИТ)</a:t>
            </a:r>
            <a:r>
              <a:rPr lang="ru-RU" dirty="0"/>
              <a:t> — это комплекс взаимосвязанных научных и инженерных </a:t>
            </a:r>
            <a:r>
              <a:rPr lang="ru-RU" dirty="0" smtClean="0"/>
              <a:t>средств, определяющих методы </a:t>
            </a:r>
            <a:r>
              <a:rPr lang="ru-RU" dirty="0"/>
              <a:t>создания, сбора, хранения, обработки, передачи и представления информации с использованием вычислительной техники и программного обеспечения.</a:t>
            </a: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979405" y="3573016"/>
            <a:ext cx="64807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Ключевые компоненты ИТ</a:t>
            </a:r>
            <a:r>
              <a:rPr lang="ru-RU" b="1" dirty="0" smtClean="0"/>
              <a:t>:</a:t>
            </a:r>
          </a:p>
          <a:p>
            <a:pPr marL="541338" indent="-3635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Аппаратное </a:t>
            </a:r>
            <a:r>
              <a:rPr lang="ru-RU" dirty="0"/>
              <a:t>обеспечение (</a:t>
            </a:r>
            <a:r>
              <a:rPr lang="ru-RU" dirty="0" err="1" smtClean="0"/>
              <a:t>Hardware</a:t>
            </a:r>
            <a:r>
              <a:rPr lang="ru-RU" dirty="0" smtClean="0"/>
              <a:t>)</a:t>
            </a:r>
          </a:p>
          <a:p>
            <a:pPr marL="541338" indent="-3635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Программное обеспечение</a:t>
            </a:r>
          </a:p>
          <a:p>
            <a:pPr marL="541338" indent="-3635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Сети </a:t>
            </a:r>
            <a:r>
              <a:rPr lang="ru-RU" dirty="0"/>
              <a:t>и </a:t>
            </a:r>
            <a:r>
              <a:rPr lang="ru-RU" dirty="0" smtClean="0"/>
              <a:t>телекоммуникации</a:t>
            </a:r>
            <a:endParaRPr lang="ru-RU" dirty="0"/>
          </a:p>
          <a:p>
            <a:pPr marL="541338" indent="-3635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Данные </a:t>
            </a:r>
            <a:r>
              <a:rPr lang="ru-RU" dirty="0"/>
              <a:t>и </a:t>
            </a:r>
            <a:r>
              <a:rPr lang="ru-RU" dirty="0" smtClean="0"/>
              <a:t>информация</a:t>
            </a:r>
          </a:p>
          <a:p>
            <a:pPr marL="541338" indent="-363538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 smtClean="0"/>
              <a:t>Люди </a:t>
            </a:r>
            <a:r>
              <a:rPr lang="ru-RU" dirty="0"/>
              <a:t>и </a:t>
            </a:r>
            <a:r>
              <a:rPr lang="ru-RU" dirty="0" smtClean="0"/>
              <a:t>процессы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119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2702"/>
            <a:ext cx="8501122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500034" y="6499246"/>
            <a:ext cx="8143932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6583" y="2671700"/>
            <a:ext cx="79296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CLOUD  COMPUTING: </a:t>
            </a:r>
          </a:p>
          <a:p>
            <a:pPr algn="ctr"/>
            <a:r>
              <a:rPr lang="ru-RU" sz="2000" b="1" dirty="0" smtClean="0">
                <a:solidFill>
                  <a:srgbClr val="0A3790"/>
                </a:solidFill>
                <a:latin typeface="Times New Roman" pitchFamily="18" charset="0"/>
                <a:cs typeface="Times New Roman" pitchFamily="18" charset="0"/>
              </a:rPr>
              <a:t>ДОСТУП  К  РЕСУРСАМ КАК  К  УСЛУГЕ</a:t>
            </a:r>
            <a:endParaRPr lang="ru-RU" sz="2000" b="1" dirty="0">
              <a:solidFill>
                <a:srgbClr val="0A379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1600" y="357166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CLOUD COMPUTING: ДОСТУП К РЕСУРСАМ КАК К УСЛУГЕ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827584" y="1052736"/>
            <a:ext cx="8102134" cy="254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Определение (NIST):</a:t>
            </a:r>
            <a:r>
              <a:rPr lang="ru-RU" dirty="0"/>
              <a:t> Модель для обеспечения повсеместного и удобного сетевого доступа по требованию к общему пулу конфигурируемых вычислительных ресурсов (сети, серверы, системы хранения, приложения и услуги), которые могут быть оперативно предоставлены и выпущены с минимальными эксплуатационными затратами или взаимодействием с поставщиком услуг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1600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КЛЮЧЕВЫЕ АТРИБУТЫ ОБЛАЧНОЙ МОДЕЛИ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395536" y="908720"/>
            <a:ext cx="8568952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Самообслуживание по требованию:</a:t>
            </a:r>
            <a:r>
              <a:rPr lang="ru-RU" dirty="0"/>
              <a:t> Пользователь может автоматически предоставлять себе вычислительные мощности без взаимодействия с человеком-оператором.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Универсальный доступ по сети:</a:t>
            </a:r>
            <a:r>
              <a:rPr lang="ru-RU" dirty="0"/>
              <a:t> Услуги доступны через сеть по стандартным механизмам с использованием разнородных клиентских платформ (телефон, ПК).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Объединение ресурсов в пул:</a:t>
            </a:r>
            <a:r>
              <a:rPr lang="ru-RU" dirty="0"/>
              <a:t> Поставщик услуг объединяет ресурсы для обслуживания множества потребителей по модели </a:t>
            </a:r>
            <a:r>
              <a:rPr lang="ru-RU" dirty="0" err="1"/>
              <a:t>мультитенантности</a:t>
            </a:r>
            <a:r>
              <a:rPr lang="ru-RU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Эластичность:</a:t>
            </a:r>
            <a:r>
              <a:rPr lang="ru-RU" dirty="0"/>
              <a:t> Возможности могут быть оперативно и автоматически масштабируемы (часто автоматически) для быстрого увеличения или уменьшения.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Учет потребления:</a:t>
            </a:r>
            <a:r>
              <a:rPr lang="ru-RU" dirty="0"/>
              <a:t> Автоматический контроль и оптимизация использования ресурсов с помощью инструментов учета на каком-то уровне абстракции, подходящем для типа услуги.</a:t>
            </a:r>
          </a:p>
        </p:txBody>
      </p:sp>
    </p:spTree>
    <p:extLst>
      <p:ext uri="{BB962C8B-B14F-4D97-AF65-F5344CB8AC3E}">
        <p14:creationId xmlns:p14="http://schemas.microsoft.com/office/powerpoint/2010/main" val="402568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КЛАССИЧЕСКАЯ АНАЛОГИЯ: ON-PREMISE VS. CLOUD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556792"/>
            <a:ext cx="4859306" cy="3469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4822794" y="1916832"/>
            <a:ext cx="406968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err="1"/>
              <a:t>SaaS</a:t>
            </a:r>
            <a:r>
              <a:rPr lang="ru-RU" b="1" dirty="0"/>
              <a:t>:</a:t>
            </a:r>
            <a:r>
              <a:rPr lang="ru-RU" dirty="0"/>
              <a:t> Провайдер отвечает за всё, вы — только за использование</a:t>
            </a:r>
            <a:r>
              <a:rPr lang="ru-RU" dirty="0" smtClean="0"/>
              <a:t>.</a:t>
            </a:r>
            <a:endParaRPr lang="en-US" dirty="0" smtClean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err="1"/>
              <a:t>PaaS</a:t>
            </a:r>
            <a:r>
              <a:rPr lang="ru-RU" b="1" dirty="0"/>
              <a:t>:</a:t>
            </a:r>
            <a:r>
              <a:rPr lang="ru-RU" dirty="0"/>
              <a:t> Провайдер отвечает за платформу, вы — только за приложение и данные.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err="1"/>
              <a:t>IaaS</a:t>
            </a:r>
            <a:r>
              <a:rPr lang="ru-RU" b="1" dirty="0"/>
              <a:t>:</a:t>
            </a:r>
            <a:r>
              <a:rPr lang="ru-RU" dirty="0"/>
              <a:t> Провайдер отвечает за инфраструктуру, вы — за ОС и выше</a:t>
            </a:r>
            <a:r>
              <a:rPr lang="ru-RU" dirty="0" smtClean="0"/>
              <a:t>.</a:t>
            </a:r>
            <a:endParaRPr lang="ru-RU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err="1" smtClean="0"/>
              <a:t>On-Premise</a:t>
            </a:r>
            <a:r>
              <a:rPr lang="ru-RU" b="1" dirty="0"/>
              <a:t>:</a:t>
            </a:r>
            <a:r>
              <a:rPr lang="ru-RU" dirty="0"/>
              <a:t> Вы отвечаете за всё: от физического сервера до приложения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26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СРАВНИТЕЛЬНАЯ ТАБЛИЦА: IAAS VS. PAAS VS. SAAS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12060"/>
              </p:ext>
            </p:extLst>
          </p:nvPr>
        </p:nvGraphicFramePr>
        <p:xfrm>
          <a:off x="528637" y="1340768"/>
          <a:ext cx="8229601" cy="4434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58745"/>
                <a:gridCol w="2156952"/>
                <a:gridCol w="2156952"/>
                <a:gridCol w="2156952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ru-RU" sz="1800" dirty="0">
                          <a:effectLst/>
                        </a:rPr>
                        <a:t>Критерий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IaaS</a:t>
                      </a: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PaaS</a:t>
                      </a: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effectLst/>
                        </a:rPr>
                        <a:t>SaaS</a:t>
                      </a: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Уровень контроля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Высокий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Средний</a:t>
                      </a:r>
                      <a:endParaRPr lang="ru-RU" sz="1800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Низкий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Гибкость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Максимальная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Ограничена платформой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Минимальная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Администрирование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Требуется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Не требуется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Не требуется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Time-to-Market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Средний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Быстрый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Мгновенный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  <a:tr h="1013460"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Пример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Виртуальный сервер (</a:t>
                      </a:r>
                      <a:r>
                        <a:rPr lang="en-US" sz="1800">
                          <a:effectLst/>
                        </a:rPr>
                        <a:t>EC2)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effectLst/>
                        </a:rPr>
                        <a:t>Платформа для приложения (App Engine)</a:t>
                      </a:r>
                      <a:endParaRPr lang="ru-RU" sz="1800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effectLst/>
                        </a:rPr>
                        <a:t>Почта (</a:t>
                      </a:r>
                      <a:r>
                        <a:rPr lang="en-US" sz="1800" dirty="0">
                          <a:effectLst/>
                        </a:rPr>
                        <a:t>Gmail)</a:t>
                      </a: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186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МОДЕЛИ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РАЗВЕРТЫВАНИЯ: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ПУБЛИЧНОЕ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ОБЛАКО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831016" y="1124744"/>
            <a:ext cx="809870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 smtClean="0"/>
              <a:t>Ресурсы </a:t>
            </a:r>
            <a:r>
              <a:rPr lang="ru-RU" dirty="0"/>
              <a:t>(серверы, хранилища) принадлежат и управляются сторонним провайдером и предоставляются через Интернет множеству организаций ("</a:t>
            </a:r>
            <a:r>
              <a:rPr lang="ru-RU" dirty="0" err="1"/>
              <a:t>мультитенантная</a:t>
            </a:r>
            <a:r>
              <a:rPr lang="ru-RU" dirty="0"/>
              <a:t>" архитектура</a:t>
            </a:r>
            <a:r>
              <a:rPr lang="ru-RU" dirty="0" smtClean="0"/>
              <a:t>).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/>
              <a:t>Аналогия:</a:t>
            </a:r>
            <a:r>
              <a:rPr lang="ru-RU" dirty="0"/>
              <a:t> Многоквартирный дом</a:t>
            </a:r>
            <a:r>
              <a:rPr lang="ru-RU" dirty="0" smtClean="0"/>
              <a:t>.</a:t>
            </a:r>
            <a:endParaRPr lang="ru-RU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Плюсы:</a:t>
            </a:r>
            <a:r>
              <a:rPr lang="ru-RU" dirty="0"/>
              <a:t> Экономичность, эластичность, отсутствие затрат на обслуживание.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Минусы:</a:t>
            </a:r>
            <a:r>
              <a:rPr lang="ru-RU" dirty="0"/>
              <a:t> Меньше контроля над безопасностью и соответствием требованиям.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3861048"/>
            <a:ext cx="3619500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6518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МОДЕЛИ РАЗВЕРТЫВАНИЯ: ЧАСТНОЕ ОБЛАКО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831016" y="908720"/>
            <a:ext cx="809870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 smtClean="0"/>
              <a:t>Облачная </a:t>
            </a:r>
            <a:r>
              <a:rPr lang="ru-RU" dirty="0"/>
              <a:t>инфраструктура, используемая исключительно одной организацией. Может находиться в ее собственном дата-центре или у стороннего </a:t>
            </a:r>
            <a:r>
              <a:rPr lang="ru-RU" dirty="0" err="1"/>
              <a:t>хостера</a:t>
            </a:r>
            <a:r>
              <a:rPr lang="ru-RU" dirty="0" smtClean="0"/>
              <a:t>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/>
              <a:t>Аналогия:</a:t>
            </a:r>
            <a:r>
              <a:rPr lang="ru-RU" dirty="0"/>
              <a:t> Частный дом. Вся инфраструктура принадлежит вам</a:t>
            </a:r>
            <a:r>
              <a:rPr lang="ru-RU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ru-RU" b="1" dirty="0"/>
              <a:t>Примеры:</a:t>
            </a:r>
            <a:r>
              <a:rPr lang="ru-RU" dirty="0"/>
              <a:t> </a:t>
            </a:r>
            <a:r>
              <a:rPr lang="en-US" dirty="0"/>
              <a:t>VMware </a:t>
            </a:r>
            <a:r>
              <a:rPr lang="en-US" dirty="0" err="1"/>
              <a:t>vCloud</a:t>
            </a:r>
            <a:r>
              <a:rPr lang="en-US" dirty="0"/>
              <a:t>, OpenStack</a:t>
            </a:r>
            <a:r>
              <a:rPr lang="en-US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Плюсы:</a:t>
            </a:r>
            <a:r>
              <a:rPr lang="ru-RU" dirty="0"/>
              <a:t> Максимальный контроль, безопасность, соответствие </a:t>
            </a:r>
            <a:r>
              <a:rPr lang="ru-RU" dirty="0" smtClean="0"/>
              <a:t>стандартам</a:t>
            </a:r>
            <a:r>
              <a:rPr lang="ru-RU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Минусы:</a:t>
            </a:r>
            <a:r>
              <a:rPr lang="ru-RU" dirty="0"/>
              <a:t> Высокие </a:t>
            </a:r>
            <a:r>
              <a:rPr lang="ru-RU" dirty="0" err="1"/>
              <a:t>CapEx</a:t>
            </a:r>
            <a:r>
              <a:rPr lang="ru-RU" dirty="0"/>
              <a:t> и </a:t>
            </a:r>
            <a:r>
              <a:rPr lang="ru-RU" dirty="0" err="1"/>
              <a:t>OpEx</a:t>
            </a:r>
            <a:r>
              <a:rPr lang="ru-RU" dirty="0"/>
              <a:t>, низкая эластичность.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576" y="4149080"/>
            <a:ext cx="2838450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769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МОДЕЛИ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РАЗВЕРТЫВАНИЯ: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ГИБРИДНОЕ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 МУЛЬТИОБЛАКО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831016" y="1124744"/>
            <a:ext cx="764614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/>
              <a:t>Гибридное облако:</a:t>
            </a:r>
            <a:r>
              <a:rPr lang="ru-RU" dirty="0"/>
              <a:t> Комбинация публичного и частного облаков, связанных между собой стандартными или </a:t>
            </a:r>
            <a:r>
              <a:rPr lang="ru-RU" dirty="0" err="1"/>
              <a:t>проприетарными</a:t>
            </a:r>
            <a:r>
              <a:rPr lang="ru-RU" dirty="0"/>
              <a:t> технологиями. </a:t>
            </a:r>
            <a:r>
              <a:rPr lang="ru-RU" i="1" dirty="0"/>
              <a:t>Пример: критичная БД в частном облаке, веб-серверы в публичном</a:t>
            </a:r>
            <a:r>
              <a:rPr lang="ru-RU" i="1" dirty="0" smtClean="0"/>
              <a:t>.</a:t>
            </a:r>
            <a:endParaRPr lang="en-US" i="1" dirty="0" smtClean="0"/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 err="1"/>
              <a:t>Мультиоблако</a:t>
            </a:r>
            <a:r>
              <a:rPr lang="ru-RU" b="1" dirty="0"/>
              <a:t> (</a:t>
            </a:r>
            <a:r>
              <a:rPr lang="ru-RU" b="1" dirty="0" err="1"/>
              <a:t>Multi-Cloud</a:t>
            </a:r>
            <a:r>
              <a:rPr lang="ru-RU" b="1" dirty="0"/>
              <a:t>):</a:t>
            </a:r>
            <a:r>
              <a:rPr lang="ru-RU" dirty="0"/>
              <a:t> Использование услуг двух и более публичных облачных провайдеров. </a:t>
            </a:r>
            <a:r>
              <a:rPr lang="ru-RU" i="1" dirty="0"/>
              <a:t>Пример: использование AWS для ML и </a:t>
            </a:r>
            <a:r>
              <a:rPr lang="ru-RU" i="1" dirty="0" err="1"/>
              <a:t>Azure</a:t>
            </a:r>
            <a:r>
              <a:rPr lang="ru-RU" i="1" dirty="0"/>
              <a:t> для </a:t>
            </a:r>
            <a:r>
              <a:rPr lang="ru-RU" i="1" dirty="0" err="1"/>
              <a:t>Office</a:t>
            </a:r>
            <a:r>
              <a:rPr lang="ru-RU" i="1" dirty="0"/>
              <a:t> 365</a:t>
            </a:r>
            <a:r>
              <a:rPr lang="ru-RU" i="1" dirty="0" smtClean="0"/>
              <a:t>.</a:t>
            </a:r>
            <a:endParaRPr lang="en-US" i="1" dirty="0" smtClean="0"/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Плюсы:</a:t>
            </a:r>
            <a:r>
              <a:rPr lang="ru-RU" dirty="0"/>
              <a:t> Гибкость, избегание </a:t>
            </a:r>
            <a:r>
              <a:rPr lang="ru-RU" dirty="0" err="1"/>
              <a:t>vendor</a:t>
            </a:r>
            <a:r>
              <a:rPr lang="ru-RU" dirty="0"/>
              <a:t> </a:t>
            </a:r>
            <a:r>
              <a:rPr lang="ru-RU" dirty="0" err="1"/>
              <a:t>lock-in</a:t>
            </a:r>
            <a:r>
              <a:rPr lang="ru-RU" dirty="0"/>
              <a:t>, оптимизация затрат.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Минусы:</a:t>
            </a:r>
            <a:r>
              <a:rPr lang="ru-RU" dirty="0"/>
              <a:t> Высокая сложность управления и обеспечения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183829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ЭКОНОМИЧЕСКИЕ АСПЕКТЫ: CAPEX VS. OPEX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831016" y="836712"/>
            <a:ext cx="8098702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b="1" dirty="0" err="1"/>
              <a:t>CapEx</a:t>
            </a:r>
            <a:r>
              <a:rPr lang="ru-RU" b="1" dirty="0"/>
              <a:t> (</a:t>
            </a:r>
            <a:r>
              <a:rPr lang="ru-RU" b="1" dirty="0" err="1"/>
              <a:t>Capital</a:t>
            </a:r>
            <a:r>
              <a:rPr lang="ru-RU" b="1" dirty="0"/>
              <a:t> </a:t>
            </a:r>
            <a:r>
              <a:rPr lang="ru-RU" b="1" dirty="0" err="1"/>
              <a:t>Expenditure</a:t>
            </a:r>
            <a:r>
              <a:rPr lang="ru-RU" b="1" dirty="0"/>
              <a:t>):</a:t>
            </a:r>
            <a:r>
              <a:rPr lang="ru-RU" dirty="0"/>
              <a:t> Капитальные затраты. Покупка серверов, сетевого оборудования — активы, которые амортизируются. </a:t>
            </a:r>
            <a:r>
              <a:rPr lang="ru-RU" i="1" dirty="0"/>
              <a:t>Типично для </a:t>
            </a:r>
            <a:r>
              <a:rPr lang="ru-RU" i="1" dirty="0" err="1"/>
              <a:t>On-Premise</a:t>
            </a:r>
            <a:r>
              <a:rPr lang="ru-RU" i="1" dirty="0"/>
              <a:t>.</a:t>
            </a: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b="1" dirty="0" err="1"/>
              <a:t>OpEx</a:t>
            </a:r>
            <a:r>
              <a:rPr lang="ru-RU" b="1" dirty="0"/>
              <a:t> (</a:t>
            </a:r>
            <a:r>
              <a:rPr lang="ru-RU" b="1" dirty="0" err="1"/>
              <a:t>Operational</a:t>
            </a:r>
            <a:r>
              <a:rPr lang="ru-RU" b="1" dirty="0"/>
              <a:t> </a:t>
            </a:r>
            <a:r>
              <a:rPr lang="ru-RU" b="1" dirty="0" err="1"/>
              <a:t>Expenditure</a:t>
            </a:r>
            <a:r>
              <a:rPr lang="ru-RU" b="1" dirty="0"/>
              <a:t>):</a:t>
            </a:r>
            <a:r>
              <a:rPr lang="ru-RU" dirty="0"/>
              <a:t> Операционные затраты. Аренда облачных ресурсов — текущие расходы, которые списываются сразу. </a:t>
            </a:r>
            <a:r>
              <a:rPr lang="ru-RU" i="1" dirty="0" smtClean="0"/>
              <a:t>Типично для </a:t>
            </a:r>
            <a:r>
              <a:rPr lang="ru-RU" i="1" dirty="0" err="1" smtClean="0"/>
              <a:t>Cloud</a:t>
            </a:r>
            <a:r>
              <a:rPr lang="ru-RU" i="1" dirty="0" smtClean="0"/>
              <a:t>.</a:t>
            </a:r>
            <a:endParaRPr lang="ru-RU" dirty="0"/>
          </a:p>
          <a:p>
            <a:pPr algn="just">
              <a:lnSpc>
                <a:spcPct val="150000"/>
              </a:lnSpc>
            </a:pPr>
            <a:endParaRPr lang="en-US" b="1" dirty="0" smtClean="0"/>
          </a:p>
          <a:p>
            <a:pPr algn="just">
              <a:lnSpc>
                <a:spcPct val="150000"/>
              </a:lnSpc>
            </a:pPr>
            <a:r>
              <a:rPr lang="ru-RU" b="1" dirty="0" smtClean="0"/>
              <a:t>Преимущество </a:t>
            </a:r>
            <a:r>
              <a:rPr lang="ru-RU" b="1" dirty="0" err="1"/>
              <a:t>OpEx</a:t>
            </a:r>
            <a:r>
              <a:rPr lang="ru-RU" b="1" dirty="0"/>
              <a:t>:</a:t>
            </a:r>
            <a:r>
              <a:rPr lang="ru-RU" dirty="0"/>
              <a:t> Предсказуемость бюджета, гибкость (можно быстро уменьшить или увеличить затраты), отсутствие рисков устаревания железа.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1100" y="3862536"/>
            <a:ext cx="69246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83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ИТОГИ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ПО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МОДЕЛЯМ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ОБЛАЧНЫХ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УСЛУГ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831016" y="1124744"/>
            <a:ext cx="8098702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Облако — это не место, а модель потребления ИТ-ресурсов.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err="1"/>
              <a:t>IaaS</a:t>
            </a:r>
            <a:r>
              <a:rPr lang="ru-RU" b="1" dirty="0"/>
              <a:t>, </a:t>
            </a:r>
            <a:r>
              <a:rPr lang="ru-RU" b="1" dirty="0" err="1"/>
              <a:t>PaaS</a:t>
            </a:r>
            <a:r>
              <a:rPr lang="ru-RU" b="1" dirty="0"/>
              <a:t>, </a:t>
            </a:r>
            <a:r>
              <a:rPr lang="ru-RU" b="1" dirty="0" err="1"/>
              <a:t>SaaS</a:t>
            </a:r>
            <a:r>
              <a:rPr lang="ru-RU" dirty="0"/>
              <a:t> — это уровни абстракции, определяющие вашу зону ответственности.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Выбор модели зависит от задачи: полный контроль (</a:t>
            </a:r>
            <a:r>
              <a:rPr lang="ru-RU" dirty="0" err="1"/>
              <a:t>IaaS</a:t>
            </a:r>
            <a:r>
              <a:rPr lang="ru-RU" dirty="0"/>
              <a:t>), скорость разработки (</a:t>
            </a:r>
            <a:r>
              <a:rPr lang="ru-RU" dirty="0" err="1"/>
              <a:t>PaaS</a:t>
            </a:r>
            <a:r>
              <a:rPr lang="ru-RU" dirty="0"/>
              <a:t>), готовое решение (</a:t>
            </a:r>
            <a:r>
              <a:rPr lang="ru-RU" dirty="0" err="1"/>
              <a:t>SaaS</a:t>
            </a:r>
            <a:r>
              <a:rPr lang="ru-RU" dirty="0"/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Публичное, частное, гибридное</a:t>
            </a:r>
            <a:r>
              <a:rPr lang="ru-RU" dirty="0"/>
              <a:t> — модели развертывания, определяющие, </a:t>
            </a:r>
            <a:r>
              <a:rPr lang="ru-RU" i="1" dirty="0"/>
              <a:t>где</a:t>
            </a:r>
            <a:r>
              <a:rPr lang="ru-RU" dirty="0"/>
              <a:t> и </a:t>
            </a:r>
            <a:r>
              <a:rPr lang="ru-RU" i="1" dirty="0"/>
              <a:t>как</a:t>
            </a:r>
            <a:r>
              <a:rPr lang="ru-RU" dirty="0"/>
              <a:t> размещена ваша инфраструктура.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Облако переводит ИТ-затраты из капитальных (</a:t>
            </a:r>
            <a:r>
              <a:rPr lang="ru-RU" dirty="0" err="1"/>
              <a:t>CapEx</a:t>
            </a:r>
            <a:r>
              <a:rPr lang="ru-RU" dirty="0"/>
              <a:t>) в операционные (</a:t>
            </a:r>
            <a:r>
              <a:rPr lang="ru-RU" dirty="0" err="1"/>
              <a:t>OpEx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2036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ДОЛИ  РЫНКА  И  ПОЗИЦИОНИРОВАНИЕ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1412776"/>
            <a:ext cx="838565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955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AMAZON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WEB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SERVICES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(AWS)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242496" y="1124744"/>
            <a:ext cx="6912768" cy="3373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Вычисления:</a:t>
            </a:r>
            <a:r>
              <a:rPr lang="ru-RU" dirty="0"/>
              <a:t> </a:t>
            </a:r>
            <a:r>
              <a:rPr lang="en-US" dirty="0"/>
              <a:t>EC2 (</a:t>
            </a:r>
            <a:r>
              <a:rPr lang="ru-RU" dirty="0"/>
              <a:t>виртуальные машины), </a:t>
            </a:r>
            <a:r>
              <a:rPr lang="en-US" dirty="0"/>
              <a:t>Lambda (</a:t>
            </a:r>
            <a:r>
              <a:rPr lang="en-US" dirty="0" err="1"/>
              <a:t>FaaS</a:t>
            </a:r>
            <a:r>
              <a:rPr lang="en-US" dirty="0"/>
              <a:t>), ECS/EKS (</a:t>
            </a:r>
            <a:r>
              <a:rPr lang="ru-RU" dirty="0"/>
              <a:t>контейнеры).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Хранилища:</a:t>
            </a:r>
            <a:r>
              <a:rPr lang="ru-RU" dirty="0"/>
              <a:t> </a:t>
            </a:r>
            <a:r>
              <a:rPr lang="en-US" dirty="0"/>
              <a:t>S3 (</a:t>
            </a:r>
            <a:r>
              <a:rPr lang="ru-RU" dirty="0"/>
              <a:t>объектное), </a:t>
            </a:r>
            <a:r>
              <a:rPr lang="en-US" dirty="0"/>
              <a:t>EBS (</a:t>
            </a:r>
            <a:r>
              <a:rPr lang="ru-RU" dirty="0"/>
              <a:t>блочное), </a:t>
            </a:r>
            <a:r>
              <a:rPr lang="en-US" dirty="0"/>
              <a:t>Glacier (</a:t>
            </a:r>
            <a:r>
              <a:rPr lang="ru-RU" dirty="0"/>
              <a:t>архивное).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Базы данных:</a:t>
            </a:r>
            <a:r>
              <a:rPr lang="ru-RU" dirty="0"/>
              <a:t> </a:t>
            </a:r>
            <a:r>
              <a:rPr lang="en-US" dirty="0"/>
              <a:t>RDS (</a:t>
            </a:r>
            <a:r>
              <a:rPr lang="ru-RU" dirty="0"/>
              <a:t>управляемые реляционные), </a:t>
            </a:r>
            <a:r>
              <a:rPr lang="en-US" dirty="0" err="1"/>
              <a:t>DynamoDB</a:t>
            </a:r>
            <a:r>
              <a:rPr lang="en-US" dirty="0"/>
              <a:t> (NoSQL).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Сети:</a:t>
            </a:r>
            <a:r>
              <a:rPr lang="ru-RU" dirty="0"/>
              <a:t> </a:t>
            </a:r>
            <a:r>
              <a:rPr lang="en-US" dirty="0"/>
              <a:t>VPC (</a:t>
            </a:r>
            <a:r>
              <a:rPr lang="ru-RU" dirty="0"/>
              <a:t>виртуальные частные облака), </a:t>
            </a:r>
            <a:r>
              <a:rPr lang="en-US" dirty="0" err="1"/>
              <a:t>CloudFront</a:t>
            </a:r>
            <a:r>
              <a:rPr lang="en-US" dirty="0"/>
              <a:t> (CDN).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AI/ML:</a:t>
            </a:r>
            <a:r>
              <a:rPr lang="en-US" dirty="0"/>
              <a:t> </a:t>
            </a:r>
            <a:r>
              <a:rPr lang="en-US" dirty="0" err="1"/>
              <a:t>SageMaker</a:t>
            </a:r>
            <a:r>
              <a:rPr lang="en-US" dirty="0"/>
              <a:t> (</a:t>
            </a:r>
            <a:r>
              <a:rPr lang="ru-RU" dirty="0"/>
              <a:t>полный цикл </a:t>
            </a:r>
            <a:r>
              <a:rPr lang="en-US" dirty="0"/>
              <a:t>ML), </a:t>
            </a:r>
            <a:r>
              <a:rPr lang="en-US" dirty="0" err="1"/>
              <a:t>Rekognition</a:t>
            </a:r>
            <a:r>
              <a:rPr lang="en-US" dirty="0"/>
              <a:t> (</a:t>
            </a:r>
            <a:r>
              <a:rPr lang="ru-RU" dirty="0"/>
              <a:t>компьютерное зрение).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653136"/>
            <a:ext cx="2377187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9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КЛЮЧЕВЫЕ  СЕРВИСЫ 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AZURE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827584" y="1412776"/>
            <a:ext cx="727280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Вычисления:</a:t>
            </a:r>
            <a:r>
              <a:rPr lang="ru-RU" dirty="0"/>
              <a:t> </a:t>
            </a:r>
            <a:r>
              <a:rPr lang="en-US" dirty="0"/>
              <a:t>Virtual Machines, App Service (PaaS), Azure Functions (</a:t>
            </a:r>
            <a:r>
              <a:rPr lang="en-US" dirty="0" err="1"/>
              <a:t>FaaS</a:t>
            </a:r>
            <a:r>
              <a:rPr lang="en-US" dirty="0"/>
              <a:t>), AKS (Kubernetes).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Данные и </a:t>
            </a:r>
            <a:r>
              <a:rPr lang="en-US" b="1" dirty="0"/>
              <a:t>AI:</a:t>
            </a:r>
            <a:r>
              <a:rPr lang="en-US" dirty="0"/>
              <a:t> Azure SQL Database, Cosmos DB (NoSQL), Azure Synapse Analytics (Data Warehouse), Azure </a:t>
            </a:r>
            <a:r>
              <a:rPr lang="en-US" dirty="0" err="1"/>
              <a:t>OpenAI</a:t>
            </a:r>
            <a:r>
              <a:rPr lang="en-US" dirty="0"/>
              <a:t> Service.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Интеграция:</a:t>
            </a:r>
            <a:r>
              <a:rPr lang="ru-RU" dirty="0"/>
              <a:t> </a:t>
            </a:r>
            <a:r>
              <a:rPr lang="en-US" dirty="0"/>
              <a:t>Active Directory, Azure Arc (</a:t>
            </a:r>
            <a:r>
              <a:rPr lang="ru-RU" dirty="0"/>
              <a:t>гибридное управление).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Прочее:</a:t>
            </a:r>
            <a:r>
              <a:rPr lang="ru-RU" dirty="0"/>
              <a:t> </a:t>
            </a:r>
            <a:r>
              <a:rPr lang="en-US" dirty="0"/>
              <a:t>Office 365 (SaaS), GitHub.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310" y="4437112"/>
            <a:ext cx="2304256" cy="1738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4714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CLOUD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PLATFORM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(GCP)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827584" y="1412776"/>
            <a:ext cx="7272808" cy="2542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Вычисления:</a:t>
            </a:r>
            <a:r>
              <a:rPr lang="ru-RU" dirty="0"/>
              <a:t> </a:t>
            </a:r>
            <a:r>
              <a:rPr lang="en-US" dirty="0"/>
              <a:t>Compute Engine (VMs), Google Kubernetes Engine (GKE), Cloud Functions (</a:t>
            </a:r>
            <a:r>
              <a:rPr lang="en-US" dirty="0" err="1"/>
              <a:t>FaaS</a:t>
            </a:r>
            <a:r>
              <a:rPr lang="en-US" dirty="0"/>
              <a:t>), App Engine (PaaS).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Данные и </a:t>
            </a:r>
            <a:r>
              <a:rPr lang="en-US" b="1" dirty="0"/>
              <a:t>AI:</a:t>
            </a:r>
            <a:r>
              <a:rPr lang="en-US" dirty="0"/>
              <a:t> </a:t>
            </a:r>
            <a:r>
              <a:rPr lang="en-US" dirty="0" err="1"/>
              <a:t>BigQuery</a:t>
            </a:r>
            <a:r>
              <a:rPr lang="en-US" dirty="0"/>
              <a:t> (Data Warehouse), </a:t>
            </a:r>
            <a:r>
              <a:rPr lang="en-US" dirty="0" err="1"/>
              <a:t>Bigtable</a:t>
            </a:r>
            <a:r>
              <a:rPr lang="en-US" dirty="0"/>
              <a:t> (NoSQL), </a:t>
            </a:r>
            <a:r>
              <a:rPr lang="en-US" dirty="0" err="1"/>
              <a:t>Firestore</a:t>
            </a:r>
            <a:r>
              <a:rPr lang="en-US" dirty="0"/>
              <a:t> (NoSQL </a:t>
            </a:r>
            <a:r>
              <a:rPr lang="ru-RU" dirty="0"/>
              <a:t>для мобильных и веб-приложений), </a:t>
            </a:r>
            <a:r>
              <a:rPr lang="en-US" dirty="0"/>
              <a:t>Vertex AI (ML), </a:t>
            </a:r>
            <a:r>
              <a:rPr lang="en-US" dirty="0" err="1"/>
              <a:t>TensorFlow</a:t>
            </a:r>
            <a:r>
              <a:rPr lang="en-US" dirty="0"/>
              <a:t> Enterprise.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Прочее:</a:t>
            </a:r>
            <a:r>
              <a:rPr lang="ru-RU" dirty="0"/>
              <a:t> </a:t>
            </a:r>
            <a:r>
              <a:rPr lang="en-US" dirty="0" err="1"/>
              <a:t>Apigee</a:t>
            </a:r>
            <a:r>
              <a:rPr lang="en-US" dirty="0"/>
              <a:t> (API-</a:t>
            </a:r>
            <a:r>
              <a:rPr lang="ru-RU" dirty="0"/>
              <a:t>менеджмент).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510" y="4365104"/>
            <a:ext cx="2602956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035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GOOGLE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CLOUD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PLATFORM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(GCP)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08715"/>
              </p:ext>
            </p:extLst>
          </p:nvPr>
        </p:nvGraphicFramePr>
        <p:xfrm>
          <a:off x="683568" y="1196752"/>
          <a:ext cx="8246151" cy="45259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62281"/>
                <a:gridCol w="2161290"/>
                <a:gridCol w="2161290"/>
                <a:gridCol w="2161290"/>
              </a:tblGrid>
              <a:tr h="413299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effectLst/>
                        </a:rPr>
                        <a:t>Параметр</a:t>
                      </a:r>
                      <a:endParaRPr lang="ru-RU" sz="1600" b="1" dirty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AWS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Azure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GCP</a:t>
                      </a:r>
                      <a:endParaRPr lang="en-US" sz="1600" b="1" dirty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657213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Рыночная доля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Лидер</a:t>
                      </a:r>
                      <a:endParaRPr lang="ru-RU" sz="1600" b="0" dirty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Второй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Третий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  <a:tr h="657213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Сильная сторона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Широта сервисов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effectLst/>
                        </a:rPr>
                        <a:t>Гибрид/</a:t>
                      </a:r>
                      <a:r>
                        <a:rPr lang="en-US" sz="1600" dirty="0">
                          <a:effectLst/>
                        </a:rPr>
                        <a:t>Enterprise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AI/ML, </a:t>
                      </a:r>
                      <a:r>
                        <a:rPr lang="ru-RU" sz="1600">
                          <a:effectLst/>
                        </a:rPr>
                        <a:t>Данные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  <a:tr h="657213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Глобальная сеть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Огромная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Огромная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Лучшая в мире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  <a:tr h="657213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Ключевая БД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DynamoDB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Cosmos DB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Bigtable / Firestore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  <a:tr h="413299"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Kubernetes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EKS/ECS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AKS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GKE (</a:t>
                      </a:r>
                      <a:r>
                        <a:rPr lang="ru-RU" sz="1600">
                          <a:effectLst/>
                        </a:rPr>
                        <a:t>создатель)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  <a:tr h="657213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Бессерверные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Lambda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Functions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Cloud Functions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  <a:tr h="413299">
                <a:tc>
                  <a:txBody>
                    <a:bodyPr/>
                    <a:lstStyle/>
                    <a:p>
                      <a:r>
                        <a:rPr lang="ru-RU" sz="1600">
                          <a:effectLst/>
                        </a:rPr>
                        <a:t>Аналитика</a:t>
                      </a:r>
                      <a:endParaRPr lang="ru-RU" sz="1600" b="0">
                        <a:effectLst/>
                        <a:latin typeface="quote-cjk-patch"/>
                      </a:endParaRPr>
                    </a:p>
                  </a:txBody>
                  <a:tcPr marL="81305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Redshift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effectLst/>
                        </a:rPr>
                        <a:t>Synapse</a:t>
                      </a:r>
                      <a:endParaRPr lang="en-US" sz="1600" b="0">
                        <a:effectLst/>
                        <a:latin typeface="quote-cjk-patch"/>
                      </a:endParaRPr>
                    </a:p>
                  </a:txBody>
                  <a:tcPr marL="135508" marR="135508" marT="84692" marB="84692"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effectLst/>
                        </a:rPr>
                        <a:t>BigQuery</a:t>
                      </a:r>
                      <a:endParaRPr lang="en-US" sz="1600" b="0" dirty="0">
                        <a:effectLst/>
                        <a:latin typeface="quote-cjk-patch"/>
                      </a:endParaRPr>
                    </a:p>
                  </a:txBody>
                  <a:tcPr marL="135508" marR="81305" marT="84692" marB="84692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2947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ВЫБОР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ПРОВАЙДЕРА: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КРИТЕРИИ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050257" y="1268760"/>
            <a:ext cx="7488832" cy="4619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 smtClean="0"/>
              <a:t>C</a:t>
            </a:r>
            <a:r>
              <a:rPr lang="ru-RU" b="1" dirty="0" err="1" smtClean="0"/>
              <a:t>уществующий</a:t>
            </a:r>
            <a:r>
              <a:rPr lang="ru-RU" b="1" dirty="0" smtClean="0"/>
              <a:t> </a:t>
            </a:r>
            <a:r>
              <a:rPr lang="ru-RU" b="1" dirty="0"/>
              <a:t>стек технологий:</a:t>
            </a:r>
            <a:r>
              <a:rPr lang="ru-RU" dirty="0"/>
              <a:t> Если вся инфраструктура на Windows/.NET — </a:t>
            </a:r>
            <a:r>
              <a:rPr lang="ru-RU" dirty="0" err="1"/>
              <a:t>Azure</a:t>
            </a:r>
            <a:r>
              <a:rPr lang="ru-RU" dirty="0"/>
              <a:t>. Если на </a:t>
            </a:r>
            <a:r>
              <a:rPr lang="ru-RU" dirty="0" err="1"/>
              <a:t>Linux</a:t>
            </a:r>
            <a:r>
              <a:rPr lang="ru-RU" dirty="0"/>
              <a:t> и OSS — AWS/GCP.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Технические требования:</a:t>
            </a:r>
            <a:r>
              <a:rPr lang="ru-RU" dirty="0"/>
              <a:t> Если нужен лучший AI/ML — GCP. Если самая большая экосистема — AWS. Если гибрид — </a:t>
            </a:r>
            <a:r>
              <a:rPr lang="ru-RU" dirty="0" err="1"/>
              <a:t>Azure</a:t>
            </a:r>
            <a:r>
              <a:rPr lang="ru-RU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Бюджет и ценообразование:</a:t>
            </a:r>
            <a:r>
              <a:rPr lang="ru-RU" dirty="0"/>
              <a:t> Сравнение TCO (</a:t>
            </a:r>
            <a:r>
              <a:rPr lang="ru-RU" dirty="0" err="1"/>
              <a:t>Total</a:t>
            </a:r>
            <a:r>
              <a:rPr lang="ru-RU" dirty="0"/>
              <a:t> </a:t>
            </a:r>
            <a:r>
              <a:rPr lang="ru-RU" dirty="0" err="1"/>
              <a:t>Cost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Ownership</a:t>
            </a:r>
            <a:r>
              <a:rPr lang="ru-RU" dirty="0"/>
              <a:t>) через калькуляторы.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Соответствие требованиям (</a:t>
            </a:r>
            <a:r>
              <a:rPr lang="ru-RU" b="1" dirty="0" err="1"/>
              <a:t>Compliance</a:t>
            </a:r>
            <a:r>
              <a:rPr lang="ru-RU" b="1" dirty="0"/>
              <a:t>):</a:t>
            </a:r>
            <a:r>
              <a:rPr lang="ru-RU" dirty="0"/>
              <a:t> Наличие нужных сертификатов (GDPR, HIPAA, </a:t>
            </a:r>
            <a:r>
              <a:rPr lang="ru-RU" dirty="0" err="1"/>
              <a:t>etc</a:t>
            </a:r>
            <a:r>
              <a:rPr lang="ru-RU" dirty="0"/>
              <a:t>.).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Навыки команды:</a:t>
            </a:r>
            <a:r>
              <a:rPr lang="ru-RU" dirty="0"/>
              <a:t> Наличие сертифицированных специалистов.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Стратегия:</a:t>
            </a:r>
            <a:r>
              <a:rPr lang="ru-RU" dirty="0"/>
              <a:t> Ставка на одного </a:t>
            </a:r>
            <a:r>
              <a:rPr lang="ru-RU" dirty="0" err="1"/>
              <a:t>вендора</a:t>
            </a:r>
            <a:r>
              <a:rPr lang="ru-RU" dirty="0"/>
              <a:t> (для простоты) или </a:t>
            </a:r>
            <a:r>
              <a:rPr lang="ru-RU" dirty="0" err="1"/>
              <a:t>мультиоблако</a:t>
            </a:r>
            <a:r>
              <a:rPr lang="ru-RU" dirty="0"/>
              <a:t> (для </a:t>
            </a:r>
            <a:r>
              <a:rPr lang="ru-RU" dirty="0" err="1"/>
              <a:t>избежания</a:t>
            </a:r>
            <a:r>
              <a:rPr lang="ru-RU" dirty="0"/>
              <a:t> рисков).</a:t>
            </a:r>
          </a:p>
        </p:txBody>
      </p:sp>
    </p:spTree>
    <p:extLst>
      <p:ext uri="{BB962C8B-B14F-4D97-AF65-F5344CB8AC3E}">
        <p14:creationId xmlns:p14="http://schemas.microsoft.com/office/powerpoint/2010/main" val="299909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ТРЕНДЫ: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MULTI-CLOUD 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HYBRID-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СТРАТЕГИИ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050257" y="1268760"/>
            <a:ext cx="74888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err="1"/>
              <a:t>Vendor</a:t>
            </a:r>
            <a:r>
              <a:rPr lang="ru-RU" b="1" dirty="0"/>
              <a:t> </a:t>
            </a:r>
            <a:r>
              <a:rPr lang="ru-RU" b="1" dirty="0" err="1"/>
              <a:t>Lock-in</a:t>
            </a:r>
            <a:r>
              <a:rPr lang="ru-RU" b="1" dirty="0"/>
              <a:t> (Привязка к </a:t>
            </a:r>
            <a:r>
              <a:rPr lang="ru-RU" b="1" dirty="0" err="1"/>
              <a:t>вендору</a:t>
            </a:r>
            <a:r>
              <a:rPr lang="ru-RU" b="1" dirty="0"/>
              <a:t>)</a:t>
            </a:r>
            <a:r>
              <a:rPr lang="ru-RU" dirty="0"/>
              <a:t> — главный риск при использовании одного </a:t>
            </a:r>
            <a:r>
              <a:rPr lang="ru-RU" dirty="0" smtClean="0"/>
              <a:t>провайдера</a:t>
            </a:r>
            <a:endParaRPr lang="en-US" dirty="0" smtClean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 err="1"/>
              <a:t>Multi-Cloud</a:t>
            </a:r>
            <a:r>
              <a:rPr lang="ru-RU" dirty="0"/>
              <a:t> позволяет: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Выбирать лучший сервис от каждого провайдера (например, AI от GCP, корпоративные приложения в </a:t>
            </a:r>
            <a:r>
              <a:rPr lang="ru-RU" dirty="0" err="1"/>
              <a:t>Azure</a:t>
            </a:r>
            <a:r>
              <a:rPr lang="ru-RU" dirty="0"/>
              <a:t>, стартовую инфраструктуру на AWS).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Повышать отказоустойчивость.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Усиливать позиции на переговорах о ценах</a:t>
            </a:r>
            <a:r>
              <a:rPr lang="ru-RU" dirty="0" smtClean="0"/>
              <a:t>.</a:t>
            </a:r>
            <a:endParaRPr lang="en-US" dirty="0" smtClean="0"/>
          </a:p>
          <a:p>
            <a:pPr lvl="1"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Сложность:</a:t>
            </a:r>
            <a:r>
              <a:rPr lang="ru-RU" dirty="0"/>
              <a:t> Требует экспертизы по нескольким платформам одновременно, сложности с управлением и безопасностью.</a:t>
            </a:r>
          </a:p>
        </p:txBody>
      </p:sp>
    </p:spTree>
    <p:extLst>
      <p:ext uri="{BB962C8B-B14F-4D97-AF65-F5344CB8AC3E}">
        <p14:creationId xmlns:p14="http://schemas.microsoft.com/office/powerpoint/2010/main" val="328181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ПРАКТИЧЕСКИЙ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СТАРТАП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050257" y="1268760"/>
            <a:ext cx="7488832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Задача:</a:t>
            </a:r>
            <a:r>
              <a:rPr lang="ru-RU" dirty="0"/>
              <a:t> Быстро разработать и масштабировать мобильное приложение с использованием AI для рекомендаций.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Рассмотрение:</a:t>
            </a:r>
            <a:endParaRPr lang="ru-RU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AWS:</a:t>
            </a:r>
            <a:r>
              <a:rPr lang="ru-RU" dirty="0"/>
              <a:t> Надежный выбор, много готовых решений, но может быть дороговат на старте.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 err="1"/>
              <a:t>Azure</a:t>
            </a:r>
            <a:r>
              <a:rPr lang="ru-RU" b="1" dirty="0"/>
              <a:t>:</a:t>
            </a:r>
            <a:r>
              <a:rPr lang="ru-RU" dirty="0"/>
              <a:t> Хорош, если команда работает с .NET.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b="1" dirty="0"/>
              <a:t>GCP:</a:t>
            </a:r>
            <a:r>
              <a:rPr lang="ru-RU" dirty="0"/>
              <a:t> Может быть лучшим выбором из-за щедрого </a:t>
            </a:r>
            <a:r>
              <a:rPr lang="ru-RU" dirty="0" err="1"/>
              <a:t>free</a:t>
            </a:r>
            <a:r>
              <a:rPr lang="ru-RU" dirty="0"/>
              <a:t> </a:t>
            </a:r>
            <a:r>
              <a:rPr lang="ru-RU" dirty="0" err="1"/>
              <a:t>tier</a:t>
            </a:r>
            <a:r>
              <a:rPr lang="ru-RU" dirty="0"/>
              <a:t>, мощного </a:t>
            </a:r>
            <a:r>
              <a:rPr lang="ru-RU" dirty="0" err="1"/>
              <a:t>Firebase</a:t>
            </a:r>
            <a:r>
              <a:rPr lang="ru-RU" dirty="0"/>
              <a:t> (для мобильных </a:t>
            </a:r>
            <a:r>
              <a:rPr lang="ru-RU" dirty="0" err="1"/>
              <a:t>бэкендов</a:t>
            </a:r>
            <a:r>
              <a:rPr lang="ru-RU" dirty="0"/>
              <a:t>) и сильных AI-сервисов (</a:t>
            </a:r>
            <a:r>
              <a:rPr lang="ru-RU" dirty="0" err="1"/>
              <a:t>Vertex</a:t>
            </a:r>
            <a:r>
              <a:rPr lang="ru-RU" dirty="0"/>
              <a:t> AI).</a:t>
            </a:r>
          </a:p>
          <a:p>
            <a:pPr>
              <a:lnSpc>
                <a:spcPct val="150000"/>
              </a:lnSpc>
            </a:pPr>
            <a:r>
              <a:rPr lang="ru-RU" b="1" dirty="0"/>
              <a:t>Возможное решение:</a:t>
            </a:r>
            <a:r>
              <a:rPr lang="ru-RU" dirty="0"/>
              <a:t> GCP для скорости выхода на рынок и доступа к передовому AI.</a:t>
            </a:r>
          </a:p>
        </p:txBody>
      </p:sp>
    </p:spTree>
    <p:extLst>
      <p:ext uri="{BB962C8B-B14F-4D97-AF65-F5344CB8AC3E}">
        <p14:creationId xmlns:p14="http://schemas.microsoft.com/office/powerpoint/2010/main" val="178487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357158" y="214290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 rot="5400000">
            <a:off x="107919" y="463529"/>
            <a:ext cx="500066" cy="1588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15616" y="357166"/>
            <a:ext cx="7358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ПРАКТИЧЕСКИЙ </a:t>
            </a:r>
            <a:r>
              <a:rPr lang="en-US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2000" b="1" dirty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solidFill>
                  <a:srgbClr val="003399"/>
                </a:solidFill>
                <a:latin typeface="Times New Roman" pitchFamily="18" charset="0"/>
                <a:cs typeface="Times New Roman" pitchFamily="18" charset="0"/>
              </a:rPr>
              <a:t>КРУПНЫЙ  БАНК</a:t>
            </a:r>
            <a:endParaRPr lang="ru-RU" sz="2000" b="1" dirty="0">
              <a:solidFill>
                <a:srgbClr val="0033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7158" y="6597352"/>
            <a:ext cx="8572560" cy="1588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рямоугольник 1"/>
          <p:cNvSpPr/>
          <p:nvPr/>
        </p:nvSpPr>
        <p:spPr>
          <a:xfrm>
            <a:off x="1050257" y="1124744"/>
            <a:ext cx="748883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Задача:</a:t>
            </a:r>
            <a:r>
              <a:rPr lang="ru-RU" dirty="0"/>
              <a:t> Перенести часть устаревших систем в облако с соблюдением строгих требований безопасности и гибридным подключением к собственному дата-центру</a:t>
            </a:r>
            <a:r>
              <a:rPr lang="ru-RU" dirty="0" smtClean="0"/>
              <a:t>.</a:t>
            </a:r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Рассмотрение:</a:t>
            </a:r>
            <a:endParaRPr lang="ru-RU" dirty="0"/>
          </a:p>
          <a:p>
            <a:pPr lvl="1">
              <a:lnSpc>
                <a:spcPct val="150000"/>
              </a:lnSpc>
            </a:pPr>
            <a:r>
              <a:rPr lang="ru-RU" b="1" dirty="0"/>
              <a:t>AWS:</a:t>
            </a:r>
            <a:r>
              <a:rPr lang="ru-RU" dirty="0"/>
              <a:t> Мощно, но изначально не заточен под гибрид.</a:t>
            </a:r>
          </a:p>
          <a:p>
            <a:pPr lvl="1">
              <a:lnSpc>
                <a:spcPct val="150000"/>
              </a:lnSpc>
            </a:pPr>
            <a:r>
              <a:rPr lang="ru-RU" b="1" dirty="0"/>
              <a:t>GCP:</a:t>
            </a:r>
            <a:r>
              <a:rPr lang="ru-RU" dirty="0"/>
              <a:t> Силен в AI, но менее представлен в финансовом секторе.</a:t>
            </a:r>
          </a:p>
          <a:p>
            <a:pPr lvl="1">
              <a:lnSpc>
                <a:spcPct val="150000"/>
              </a:lnSpc>
            </a:pPr>
            <a:r>
              <a:rPr lang="ru-RU" b="1" dirty="0" err="1"/>
              <a:t>Azure</a:t>
            </a:r>
            <a:r>
              <a:rPr lang="ru-RU" b="1" dirty="0"/>
              <a:t>:</a:t>
            </a:r>
            <a:r>
              <a:rPr lang="ru-RU" dirty="0"/>
              <a:t> Идеален благодаря глубокой интеграции с </a:t>
            </a:r>
            <a:r>
              <a:rPr lang="ru-RU" dirty="0" err="1"/>
              <a:t>Active</a:t>
            </a:r>
            <a:r>
              <a:rPr lang="ru-RU" dirty="0"/>
              <a:t> </a:t>
            </a:r>
            <a:r>
              <a:rPr lang="ru-RU" dirty="0" err="1"/>
              <a:t>Directory</a:t>
            </a:r>
            <a:r>
              <a:rPr lang="ru-RU" dirty="0"/>
              <a:t>, мощным гибридным решениям (</a:t>
            </a:r>
            <a:r>
              <a:rPr lang="ru-RU" dirty="0" err="1"/>
              <a:t>Azure</a:t>
            </a:r>
            <a:r>
              <a:rPr lang="ru-RU" dirty="0"/>
              <a:t> </a:t>
            </a:r>
            <a:r>
              <a:rPr lang="ru-RU" dirty="0" err="1"/>
              <a:t>Arc</a:t>
            </a:r>
            <a:r>
              <a:rPr lang="ru-RU" dirty="0"/>
              <a:t>, </a:t>
            </a:r>
            <a:r>
              <a:rPr lang="ru-RU" dirty="0" err="1"/>
              <a:t>Azure</a:t>
            </a:r>
            <a:r>
              <a:rPr lang="ru-RU" dirty="0"/>
              <a:t> </a:t>
            </a:r>
            <a:r>
              <a:rPr lang="ru-RU" dirty="0" err="1"/>
              <a:t>Stack</a:t>
            </a:r>
            <a:r>
              <a:rPr lang="ru-RU" dirty="0"/>
              <a:t>) и сильному позиционированию для </a:t>
            </a:r>
            <a:r>
              <a:rPr lang="ru-RU" dirty="0" err="1"/>
              <a:t>enterprise</a:t>
            </a:r>
            <a:r>
              <a:rPr lang="ru-RU" dirty="0" smtClean="0"/>
              <a:t>.</a:t>
            </a:r>
          </a:p>
          <a:p>
            <a:pPr lvl="1"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Возможное решение:</a:t>
            </a:r>
            <a:r>
              <a:rPr lang="ru-RU" dirty="0"/>
              <a:t> </a:t>
            </a:r>
            <a:r>
              <a:rPr lang="ru-RU" dirty="0" err="1"/>
              <a:t>Azure</a:t>
            </a:r>
            <a:r>
              <a:rPr lang="ru-RU" dirty="0"/>
              <a:t> как основной стратегический партнер.</a:t>
            </a:r>
          </a:p>
        </p:txBody>
      </p:sp>
    </p:spTree>
    <p:extLst>
      <p:ext uri="{BB962C8B-B14F-4D97-AF65-F5344CB8AC3E}">
        <p14:creationId xmlns:p14="http://schemas.microsoft.com/office/powerpoint/2010/main" val="142179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46628</TotalTime>
  <Words>412</Words>
  <Application>Microsoft Office PowerPoint</Application>
  <PresentationFormat>Экран (4:3)</PresentationFormat>
  <Paragraphs>193</Paragraphs>
  <Slides>22</Slides>
  <Notes>22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Virger</dc:creator>
  <cp:lastModifiedBy>User</cp:lastModifiedBy>
  <cp:revision>1517</cp:revision>
  <cp:lastPrinted>2013-02-18T09:19:23Z</cp:lastPrinted>
  <dcterms:created xsi:type="dcterms:W3CDTF">2012-04-19T06:27:22Z</dcterms:created>
  <dcterms:modified xsi:type="dcterms:W3CDTF">2025-12-14T21:04:24Z</dcterms:modified>
</cp:coreProperties>
</file>