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0" r:id="rId22"/>
  </p:sldIdLst>
  <p:sldSz cx="9144000" cy="6858000" type="screen4x3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FE2C1-465A-416B-8CC2-AF50E799C5B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0BFA2-AC21-45A4-8018-BB6FBBF60B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89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10BFA2-AC21-45A4-8018-BB6FBBF60BB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106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50BA1-A064-41EB-B991-5FE21431D026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66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5509-D43E-4643-A248-0FC54652A0E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15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35BD8-7739-4C0B-AC6B-E0CF439E874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0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27154-E28B-4569-9E2B-F91E10DDC509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27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3325-19D7-416A-AF25-11C92DC219D6}" type="datetime1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69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5B3AC-7A2A-4B07-B2E1-E98C8DC7156E}" type="datetime1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77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DB50E-FF90-4C7B-9B8C-91F0482F9C6F}" type="datetime1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3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68D0-DB75-4F39-968F-0CD028DC7DA5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272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7AFEF-D3FE-4F78-A1FC-05DAF3E83608}" type="datetime1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50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2876-6591-4546-AA49-CB0D209598F7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200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E190-0086-41D1-A6CD-924A36A952BC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F4423-2A8F-4B25-B323-2A8B5B4E9CB0}" type="datetime1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3A469-5E23-4218-AB08-12B9D064E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28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132856"/>
            <a:ext cx="73580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СИСТЕМНОЕ  ПРОГРАММНОЕ  ОБЕСПЕЧЕНИЕ</a:t>
            </a:r>
          </a:p>
          <a:p>
            <a:pPr algn="ctr"/>
            <a:endParaRPr lang="ru-RU" sz="2000" b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БЛОК 2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227503" y="4437112"/>
            <a:ext cx="267177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ru-RU" sz="2000" b="1" dirty="0" err="1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Ляхманов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Д.А.</a:t>
            </a:r>
          </a:p>
          <a:p>
            <a:r>
              <a:rPr lang="ru-RU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к.т.н., </a:t>
            </a:r>
            <a:r>
              <a:rPr lang="ru-RU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доцент</a:t>
            </a:r>
            <a:endParaRPr lang="ru-RU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707904" y="6309320"/>
            <a:ext cx="26717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ru-RU" sz="2000" i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71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701369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СТРУКТУРА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84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РЕАЛИЗАЦИЯ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-ДЕРЕВА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616929" y="780961"/>
            <a:ext cx="78488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b="1" dirty="0" smtClean="0"/>
              <a:t>Причины использования технологии </a:t>
            </a:r>
            <a:r>
              <a:rPr lang="en-US" b="1" dirty="0" smtClean="0"/>
              <a:t>COM:</a:t>
            </a:r>
            <a:endParaRPr lang="ru-RU" b="1" dirty="0" smtClean="0"/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многие </a:t>
            </a:r>
            <a:r>
              <a:rPr lang="ru-RU" dirty="0"/>
              <a:t>программисты уже знакомы с этой технологией;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интерфейсы </a:t>
            </a:r>
            <a:r>
              <a:rPr lang="ru-RU" dirty="0"/>
              <a:t>COM позволяют логическое группирование функций, что способствует </a:t>
            </a:r>
            <a:r>
              <a:rPr lang="ru-RU" dirty="0" smtClean="0"/>
              <a:t>пониманию </a:t>
            </a:r>
            <a:r>
              <a:rPr lang="ru-RU" dirty="0"/>
              <a:t>и передвижению по интерфейсу DDI с легкостью;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существуют </a:t>
            </a:r>
            <a:r>
              <a:rPr lang="ru-RU" dirty="0"/>
              <a:t>многочисленные инструменты, включая библиотеку </a:t>
            </a:r>
            <a:r>
              <a:rPr lang="ru-RU" dirty="0" smtClean="0"/>
              <a:t>ATL, </a:t>
            </a:r>
            <a:r>
              <a:rPr lang="ru-RU" dirty="0"/>
              <a:t>поддерживающие приложения и объекты </a:t>
            </a:r>
            <a:r>
              <a:rPr lang="ru-RU" dirty="0" smtClean="0"/>
              <a:t>на основе </a:t>
            </a:r>
            <a:r>
              <a:rPr lang="en-US" dirty="0" smtClean="0"/>
              <a:t>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37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ИНФРАСТРУКТУРА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-ДРАЙВЕРА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4" descr="C:\Users\Virger\Pictures\I_O Request Flow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052736"/>
            <a:ext cx="4978524" cy="511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ИНФРАСТРУКТУРА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-ДРАЙВЕРА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22772" y="692696"/>
            <a:ext cx="81977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ru-RU" b="1" dirty="0" smtClean="0"/>
              <a:t>Хост-процесс </a:t>
            </a:r>
            <a:r>
              <a:rPr lang="ru-RU" dirty="0"/>
              <a:t>—</a:t>
            </a:r>
            <a:r>
              <a:rPr lang="en-US" b="1" dirty="0" smtClean="0"/>
              <a:t> </a:t>
            </a:r>
            <a:r>
              <a:rPr lang="ru-RU" dirty="0"/>
              <a:t>содержит компоненты, </a:t>
            </a:r>
            <a:r>
              <a:rPr lang="ru-RU" dirty="0" smtClean="0"/>
              <a:t>составляющие </a:t>
            </a:r>
            <a:r>
              <a:rPr lang="ru-RU" dirty="0"/>
              <a:t>часть стека устройства, исполняющегося в пользовательском режиме, и служит </a:t>
            </a:r>
            <a:r>
              <a:rPr lang="ru-RU" dirty="0" smtClean="0"/>
              <a:t>посредником </a:t>
            </a:r>
            <a:r>
              <a:rPr lang="ru-RU" dirty="0"/>
              <a:t>во взаимодействии между этими компонентами и </a:t>
            </a:r>
            <a:r>
              <a:rPr lang="ru-RU" dirty="0" smtClean="0"/>
              <a:t>отражателем.</a:t>
            </a:r>
            <a:r>
              <a:rPr lang="en-US" dirty="0" smtClean="0"/>
              <a:t> </a:t>
            </a:r>
            <a:r>
              <a:rPr lang="ru-RU" dirty="0" smtClean="0"/>
              <a:t>Каждый стек</a:t>
            </a:r>
            <a:r>
              <a:rPr lang="en-US" dirty="0" smtClean="0"/>
              <a:t> UMDF </a:t>
            </a:r>
            <a:r>
              <a:rPr lang="ru-RU" dirty="0"/>
              <a:t>имеет собственный </a:t>
            </a:r>
            <a:r>
              <a:rPr lang="ru-RU" dirty="0" smtClean="0"/>
              <a:t>хост-процесс</a:t>
            </a:r>
            <a:endParaRPr lang="ru-RU" dirty="0"/>
          </a:p>
          <a:p>
            <a:pPr marL="285750" indent="-285750" algn="just">
              <a:buFont typeface="Arial" pitchFamily="34" charset="0"/>
              <a:buChar char="•"/>
            </a:pPr>
            <a:endParaRPr lang="ru-RU" b="1" dirty="0" smtClean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dirty="0" smtClean="0"/>
              <a:t>Reflector</a:t>
            </a:r>
            <a:r>
              <a:rPr lang="en-US" dirty="0" smtClean="0"/>
              <a:t> </a:t>
            </a:r>
            <a:r>
              <a:rPr lang="ru-RU" dirty="0"/>
              <a:t>—</a:t>
            </a:r>
            <a:r>
              <a:rPr lang="ru-RU" dirty="0" smtClean="0"/>
              <a:t> </a:t>
            </a:r>
            <a:r>
              <a:rPr lang="ru-RU" dirty="0"/>
              <a:t>это драйвер режима ядра, который </a:t>
            </a:r>
            <a:r>
              <a:rPr lang="ru-RU" dirty="0" smtClean="0"/>
              <a:t>поддерживает все </a:t>
            </a:r>
            <a:r>
              <a:rPr lang="ru-RU" dirty="0"/>
              <a:t>драйверы UMDF в системе. Он управляет взаимодействием </a:t>
            </a:r>
            <a:r>
              <a:rPr lang="ru-RU" dirty="0" smtClean="0"/>
              <a:t>между компонентами режима </a:t>
            </a:r>
            <a:r>
              <a:rPr lang="ru-RU" dirty="0"/>
              <a:t>ядра, такими как стеки устройств режима ядра, и хост-процессами </a:t>
            </a:r>
            <a:r>
              <a:rPr lang="ru-RU" dirty="0" smtClean="0"/>
              <a:t>UMDF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ru-RU" b="1" dirty="0" smtClean="0"/>
              <a:t>Менеджер </a:t>
            </a:r>
            <a:r>
              <a:rPr lang="ru-RU" b="1" dirty="0"/>
              <a:t>драйверов (</a:t>
            </a:r>
            <a:r>
              <a:rPr lang="ru-RU" b="1" dirty="0" err="1"/>
              <a:t>Driver</a:t>
            </a:r>
            <a:r>
              <a:rPr lang="ru-RU" b="1" dirty="0"/>
              <a:t> </a:t>
            </a:r>
            <a:r>
              <a:rPr lang="ru-RU" b="1" dirty="0" err="1"/>
              <a:t>Manager</a:t>
            </a:r>
            <a:r>
              <a:rPr lang="ru-RU" b="1" dirty="0" smtClean="0"/>
              <a:t>)</a:t>
            </a:r>
            <a:r>
              <a:rPr lang="ru-RU" dirty="0" smtClean="0"/>
              <a:t> </a:t>
            </a:r>
            <a:r>
              <a:rPr lang="ru-RU" dirty="0"/>
              <a:t>— это сервис </a:t>
            </a:r>
            <a:r>
              <a:rPr lang="ru-RU" dirty="0" err="1"/>
              <a:t>Windows</a:t>
            </a:r>
            <a:r>
              <a:rPr lang="ru-RU" dirty="0"/>
              <a:t>, </a:t>
            </a:r>
            <a:r>
              <a:rPr lang="ru-RU" dirty="0" smtClean="0"/>
              <a:t>который </a:t>
            </a:r>
            <a:r>
              <a:rPr lang="ru-RU" dirty="0"/>
              <a:t>управляется всеми хост-процессами UMDF в системе. Он создает хост-процесс, </a:t>
            </a:r>
            <a:r>
              <a:rPr lang="ru-RU" dirty="0" smtClean="0"/>
              <a:t>отслеживает </a:t>
            </a:r>
            <a:r>
              <a:rPr lang="ru-RU" dirty="0"/>
              <a:t>состояние во время исполнения </a:t>
            </a:r>
            <a:r>
              <a:rPr lang="ru-RU" dirty="0" smtClean="0"/>
              <a:t>хост-процессов </a:t>
            </a:r>
            <a:r>
              <a:rPr lang="ru-RU" dirty="0"/>
              <a:t>и останавливает </a:t>
            </a:r>
            <a:r>
              <a:rPr lang="ru-RU" dirty="0" smtClean="0"/>
              <a:t>хост-процессы, когда </a:t>
            </a:r>
            <a:r>
              <a:rPr lang="ru-RU" dirty="0"/>
              <a:t>они больше не </a:t>
            </a:r>
            <a:r>
              <a:rPr lang="ru-RU" dirty="0" smtClean="0"/>
              <a:t>нужны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ru-RU" b="1" dirty="0" smtClean="0"/>
              <a:t>Объект </a:t>
            </a:r>
            <a:r>
              <a:rPr lang="ru-RU" b="1" dirty="0"/>
              <a:t>устройства </a:t>
            </a:r>
            <a:r>
              <a:rPr lang="ru-RU" b="1" dirty="0" err="1"/>
              <a:t>Up</a:t>
            </a:r>
            <a:r>
              <a:rPr lang="ru-RU" b="1" dirty="0"/>
              <a:t> (</a:t>
            </a:r>
            <a:r>
              <a:rPr lang="ru-RU" b="1" dirty="0" err="1"/>
              <a:t>Up</a:t>
            </a:r>
            <a:r>
              <a:rPr lang="ru-RU" b="1" dirty="0"/>
              <a:t> </a:t>
            </a:r>
            <a:r>
              <a:rPr lang="ru-RU" b="1" dirty="0" err="1"/>
              <a:t>Device</a:t>
            </a:r>
            <a:r>
              <a:rPr lang="ru-RU" b="1" dirty="0"/>
              <a:t> </a:t>
            </a:r>
            <a:r>
              <a:rPr lang="ru-RU" b="1" dirty="0" err="1" smtClean="0"/>
              <a:t>Object</a:t>
            </a:r>
            <a:r>
              <a:rPr lang="ru-RU" b="1" dirty="0" smtClean="0"/>
              <a:t>)</a:t>
            </a:r>
            <a:r>
              <a:rPr lang="ru-RU" dirty="0"/>
              <a:t> — </a:t>
            </a:r>
            <a:r>
              <a:rPr lang="ru-RU" dirty="0" smtClean="0"/>
              <a:t>объект, который устанавливается </a:t>
            </a:r>
            <a:r>
              <a:rPr lang="ru-RU" dirty="0"/>
              <a:t>вверху </a:t>
            </a:r>
            <a:r>
              <a:rPr lang="ru-RU" dirty="0" smtClean="0"/>
              <a:t>стека устройства </a:t>
            </a:r>
            <a:r>
              <a:rPr lang="ru-RU" dirty="0"/>
              <a:t>режима ядра для устройства. Он принимает запросы от менеджера </a:t>
            </a:r>
            <a:r>
              <a:rPr lang="ru-RU" dirty="0" smtClean="0"/>
              <a:t>ввода/вывода</a:t>
            </a:r>
            <a:r>
              <a:rPr lang="ru-RU" dirty="0"/>
              <a:t>, передает их хост-процессу UMDF для обработки и после их завершения </a:t>
            </a:r>
            <a:r>
              <a:rPr lang="ru-RU" dirty="0" smtClean="0"/>
              <a:t>возвращает </a:t>
            </a:r>
            <a:r>
              <a:rPr lang="ru-RU" dirty="0"/>
              <a:t>менеджеру </a:t>
            </a:r>
            <a:r>
              <a:rPr lang="ru-RU" dirty="0" smtClean="0"/>
              <a:t>ввода/вывода</a:t>
            </a:r>
          </a:p>
        </p:txBody>
      </p:sp>
    </p:spTree>
    <p:extLst>
      <p:ext uri="{BB962C8B-B14F-4D97-AF65-F5344CB8AC3E}">
        <p14:creationId xmlns:p14="http://schemas.microsoft.com/office/powerpoint/2010/main" val="47306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ИНФРАСТРУКТУРА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-ДРАЙВЕРА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22772" y="692696"/>
            <a:ext cx="8197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ru-RU" b="1" dirty="0" smtClean="0"/>
              <a:t>Объект </a:t>
            </a:r>
            <a:r>
              <a:rPr lang="ru-RU" b="1" dirty="0"/>
              <a:t>устройства </a:t>
            </a:r>
            <a:r>
              <a:rPr lang="ru-RU" b="1" dirty="0" err="1"/>
              <a:t>Down</a:t>
            </a:r>
            <a:r>
              <a:rPr lang="ru-RU" b="1" dirty="0"/>
              <a:t> (</a:t>
            </a:r>
            <a:r>
              <a:rPr lang="ru-RU" b="1" dirty="0" err="1"/>
              <a:t>Down</a:t>
            </a:r>
            <a:r>
              <a:rPr lang="ru-RU" b="1" dirty="0"/>
              <a:t> </a:t>
            </a:r>
            <a:r>
              <a:rPr lang="ru-RU" b="1" dirty="0" err="1"/>
              <a:t>Device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b="1" dirty="0" smtClean="0"/>
              <a:t>)</a:t>
            </a:r>
            <a:r>
              <a:rPr lang="ru-RU" dirty="0"/>
              <a:t> </a:t>
            </a:r>
            <a:r>
              <a:rPr lang="ru-RU" dirty="0" smtClean="0"/>
              <a:t>— объект</a:t>
            </a:r>
            <a:r>
              <a:rPr lang="ru-RU" dirty="0"/>
              <a:t>, </a:t>
            </a:r>
            <a:r>
              <a:rPr lang="ru-RU" dirty="0" smtClean="0"/>
              <a:t>который не </a:t>
            </a:r>
            <a:r>
              <a:rPr lang="ru-RU" dirty="0"/>
              <a:t>установлен в стеке устройства режима </a:t>
            </a:r>
            <a:r>
              <a:rPr lang="ru-RU" dirty="0" smtClean="0"/>
              <a:t>ядра. Он принимает запросы </a:t>
            </a:r>
            <a:r>
              <a:rPr lang="ru-RU" dirty="0"/>
              <a:t>ввода/вывода от хост-процесса UMDF после их обработки </a:t>
            </a:r>
            <a:r>
              <a:rPr lang="ru-RU" dirty="0" smtClean="0"/>
              <a:t>драйвером и передает </a:t>
            </a:r>
            <a:r>
              <a:rPr lang="ru-RU" dirty="0"/>
              <a:t>эти запросы нижележащему стеку устройства, который осуществляет </a:t>
            </a:r>
            <a:r>
              <a:rPr lang="ru-RU" dirty="0" smtClean="0"/>
              <a:t>взаимодействие с </a:t>
            </a:r>
            <a:r>
              <a:rPr lang="ru-RU" dirty="0"/>
              <a:t>устройством.</a:t>
            </a:r>
          </a:p>
        </p:txBody>
      </p:sp>
    </p:spTree>
    <p:extLst>
      <p:ext uri="{BB962C8B-B14F-4D97-AF65-F5344CB8AC3E}">
        <p14:creationId xmlns:p14="http://schemas.microsoft.com/office/powerpoint/2010/main" val="176822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ПОРЯДОК  ОБРАБОТКИ  ЗАПРОСОВ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55576" y="1456830"/>
            <a:ext cx="14478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Приложение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99592" y="2456239"/>
            <a:ext cx="116089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Win32 API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89947" y="3783741"/>
            <a:ext cx="138018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I/O Manager</a:t>
            </a:r>
            <a:endParaRPr lang="ru-RU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251520" y="3284984"/>
            <a:ext cx="878497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9014" y="2842503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UserMode</a:t>
            </a:r>
            <a:endParaRPr lang="ru-RU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3821" y="3279685"/>
            <a:ext cx="1363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</a:rPr>
              <a:t>KernelMode</a:t>
            </a:r>
            <a:endParaRPr lang="ru-RU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>
            <a:stCxn id="2" idx="2"/>
            <a:endCxn id="8" idx="0"/>
          </p:cNvCxnSpPr>
          <p:nvPr/>
        </p:nvCxnSpPr>
        <p:spPr>
          <a:xfrm>
            <a:off x="1479492" y="1826162"/>
            <a:ext cx="548" cy="630077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2"/>
            <a:endCxn id="9" idx="0"/>
          </p:cNvCxnSpPr>
          <p:nvPr/>
        </p:nvCxnSpPr>
        <p:spPr>
          <a:xfrm>
            <a:off x="1480040" y="2825571"/>
            <a:ext cx="0" cy="95817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87824" y="3789833"/>
            <a:ext cx="113409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Up Device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3793033"/>
            <a:ext cx="1415324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Down Device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4643438" y="4585121"/>
            <a:ext cx="152721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Stack Device 1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4644008" y="5377209"/>
            <a:ext cx="155927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Stack Device N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4883239" y="6203959"/>
            <a:ext cx="110408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Hardware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843808" y="3464351"/>
            <a:ext cx="4392488" cy="976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6170651" y="4077072"/>
            <a:ext cx="104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Reflector</a:t>
            </a:r>
            <a:endParaRPr lang="ru-RU" b="1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>
            <a:off x="5040052" y="4162365"/>
            <a:ext cx="0" cy="4227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5040052" y="4954453"/>
            <a:ext cx="0" cy="4227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5040052" y="5746541"/>
            <a:ext cx="0" cy="45741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V="1">
            <a:off x="5724128" y="5746541"/>
            <a:ext cx="0" cy="45741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 flipV="1">
            <a:off x="5724128" y="4954453"/>
            <a:ext cx="0" cy="4227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V="1">
            <a:off x="5724128" y="4162365"/>
            <a:ext cx="0" cy="42275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4121917" y="3865041"/>
            <a:ext cx="419448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 flipH="1" flipV="1">
            <a:off x="4121917" y="4077865"/>
            <a:ext cx="450083" cy="32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4481164" y="1044352"/>
            <a:ext cx="1285127" cy="1944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3707904" y="608311"/>
            <a:ext cx="2240633" cy="246064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/>
          <p:cNvSpPr txBox="1"/>
          <p:nvPr/>
        </p:nvSpPr>
        <p:spPr>
          <a:xfrm>
            <a:off x="4634483" y="2558684"/>
            <a:ext cx="92781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Driver 1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4593335" y="1469684"/>
            <a:ext cx="9598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Driver N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4427984" y="980728"/>
            <a:ext cx="136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UMDF-Stack</a:t>
            </a:r>
            <a:endParaRPr lang="ru-RU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4449771" y="548680"/>
            <a:ext cx="1395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Host process</a:t>
            </a:r>
            <a:endParaRPr lang="ru-RU" b="1" dirty="0"/>
          </a:p>
        </p:txBody>
      </p:sp>
      <p:grpSp>
        <p:nvGrpSpPr>
          <p:cNvPr id="48" name="Группа 47"/>
          <p:cNvGrpSpPr/>
          <p:nvPr/>
        </p:nvGrpSpPr>
        <p:grpSpPr>
          <a:xfrm>
            <a:off x="971600" y="1948882"/>
            <a:ext cx="359661" cy="369332"/>
            <a:chOff x="862334" y="616695"/>
            <a:chExt cx="359661" cy="369332"/>
          </a:xfrm>
        </p:grpSpPr>
        <p:sp>
          <p:nvSpPr>
            <p:cNvPr id="46" name="Овал 45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ru-RU" dirty="0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971600" y="3005837"/>
            <a:ext cx="359661" cy="369332"/>
            <a:chOff x="862334" y="616695"/>
            <a:chExt cx="359661" cy="369332"/>
          </a:xfrm>
        </p:grpSpPr>
        <p:sp>
          <p:nvSpPr>
            <p:cNvPr id="62" name="Овал 61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  <a:endParaRPr lang="ru-RU" dirty="0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2196115" y="3429000"/>
            <a:ext cx="359661" cy="369332"/>
            <a:chOff x="862334" y="616695"/>
            <a:chExt cx="359661" cy="369332"/>
          </a:xfrm>
        </p:grpSpPr>
        <p:sp>
          <p:nvSpPr>
            <p:cNvPr id="65" name="Овал 64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67" name="Прямая соединительная линия 66"/>
          <p:cNvCxnSpPr/>
          <p:nvPr/>
        </p:nvCxnSpPr>
        <p:spPr>
          <a:xfrm flipV="1">
            <a:off x="3203848" y="2771636"/>
            <a:ext cx="0" cy="10121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/>
          <p:nvPr/>
        </p:nvCxnSpPr>
        <p:spPr>
          <a:xfrm>
            <a:off x="3203848" y="2771636"/>
            <a:ext cx="504056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Группа 69"/>
          <p:cNvGrpSpPr/>
          <p:nvPr/>
        </p:nvGrpSpPr>
        <p:grpSpPr>
          <a:xfrm>
            <a:off x="3204227" y="2339588"/>
            <a:ext cx="359661" cy="369332"/>
            <a:chOff x="862334" y="616695"/>
            <a:chExt cx="359661" cy="369332"/>
          </a:xfrm>
        </p:grpSpPr>
        <p:sp>
          <p:nvSpPr>
            <p:cNvPr id="71" name="Овал 70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4</a:t>
              </a:r>
              <a:endParaRPr lang="ru-RU" dirty="0"/>
            </a:p>
          </p:txBody>
        </p:sp>
      </p:grpSp>
      <p:cxnSp>
        <p:nvCxnSpPr>
          <p:cNvPr id="74" name="Прямая со стрелкой 73"/>
          <p:cNvCxnSpPr/>
          <p:nvPr/>
        </p:nvCxnSpPr>
        <p:spPr>
          <a:xfrm>
            <a:off x="3707904" y="2771636"/>
            <a:ext cx="936104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Группа 75"/>
          <p:cNvGrpSpPr/>
          <p:nvPr/>
        </p:nvGrpSpPr>
        <p:grpSpPr>
          <a:xfrm>
            <a:off x="3942086" y="2339588"/>
            <a:ext cx="359661" cy="369332"/>
            <a:chOff x="862334" y="616695"/>
            <a:chExt cx="359661" cy="369332"/>
          </a:xfrm>
        </p:grpSpPr>
        <p:sp>
          <p:nvSpPr>
            <p:cNvPr id="77" name="Овал 76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</a:t>
              </a:r>
              <a:endParaRPr lang="ru-RU" dirty="0"/>
            </a:p>
          </p:txBody>
        </p:sp>
      </p:grpSp>
      <p:cxnSp>
        <p:nvCxnSpPr>
          <p:cNvPr id="80" name="Прямая со стрелкой 79"/>
          <p:cNvCxnSpPr/>
          <p:nvPr/>
        </p:nvCxnSpPr>
        <p:spPr>
          <a:xfrm flipV="1">
            <a:off x="5076056" y="1841292"/>
            <a:ext cx="0" cy="71966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Группа 80"/>
          <p:cNvGrpSpPr/>
          <p:nvPr/>
        </p:nvGrpSpPr>
        <p:grpSpPr>
          <a:xfrm>
            <a:off x="5148443" y="2016460"/>
            <a:ext cx="359661" cy="369332"/>
            <a:chOff x="862334" y="616695"/>
            <a:chExt cx="359661" cy="369332"/>
          </a:xfrm>
        </p:grpSpPr>
        <p:sp>
          <p:nvSpPr>
            <p:cNvPr id="82" name="Овал 81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7</a:t>
              </a:r>
              <a:endParaRPr lang="ru-RU" dirty="0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4151810" y="3429000"/>
            <a:ext cx="359661" cy="369332"/>
            <a:chOff x="862334" y="616695"/>
            <a:chExt cx="359661" cy="369332"/>
          </a:xfrm>
        </p:grpSpPr>
        <p:sp>
          <p:nvSpPr>
            <p:cNvPr id="85" name="Овал 84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8</a:t>
              </a:r>
              <a:endParaRPr lang="ru-RU" dirty="0"/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5193552" y="4176798"/>
            <a:ext cx="359661" cy="369332"/>
            <a:chOff x="862334" y="616695"/>
            <a:chExt cx="359661" cy="369332"/>
          </a:xfrm>
        </p:grpSpPr>
        <p:sp>
          <p:nvSpPr>
            <p:cNvPr id="88" name="Овал 87"/>
            <p:cNvSpPr/>
            <p:nvPr/>
          </p:nvSpPr>
          <p:spPr>
            <a:xfrm>
              <a:off x="862334" y="616695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85938" y="6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9</a:t>
              </a:r>
              <a:endParaRPr lang="ru-RU" dirty="0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4577640" y="5790584"/>
            <a:ext cx="418704" cy="369332"/>
            <a:chOff x="4067944" y="4769787"/>
            <a:chExt cx="418704" cy="369332"/>
          </a:xfrm>
        </p:grpSpPr>
        <p:sp>
          <p:nvSpPr>
            <p:cNvPr id="91" name="Овал 90"/>
            <p:cNvSpPr/>
            <p:nvPr/>
          </p:nvSpPr>
          <p:spPr>
            <a:xfrm>
              <a:off x="4087545" y="4769787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4067944" y="476978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10</a:t>
              </a:r>
              <a:endParaRPr lang="ru-RU" dirty="0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5364088" y="3347700"/>
            <a:ext cx="418704" cy="369332"/>
            <a:chOff x="4067944" y="4769787"/>
            <a:chExt cx="418704" cy="369332"/>
          </a:xfrm>
        </p:grpSpPr>
        <p:sp>
          <p:nvSpPr>
            <p:cNvPr id="95" name="Овал 94"/>
            <p:cNvSpPr/>
            <p:nvPr/>
          </p:nvSpPr>
          <p:spPr>
            <a:xfrm>
              <a:off x="4087545" y="4769787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067944" y="476978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11</a:t>
              </a:r>
              <a:endParaRPr lang="ru-RU" dirty="0"/>
            </a:p>
          </p:txBody>
        </p:sp>
      </p:grpSp>
      <p:cxnSp>
        <p:nvCxnSpPr>
          <p:cNvPr id="98" name="Прямая со стрелкой 97"/>
          <p:cNvCxnSpPr>
            <a:stCxn id="20" idx="0"/>
          </p:cNvCxnSpPr>
          <p:nvPr/>
        </p:nvCxnSpPr>
        <p:spPr>
          <a:xfrm flipH="1" flipV="1">
            <a:off x="5272839" y="3068960"/>
            <a:ext cx="6823" cy="72407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Группа 98"/>
          <p:cNvGrpSpPr/>
          <p:nvPr/>
        </p:nvGrpSpPr>
        <p:grpSpPr>
          <a:xfrm>
            <a:off x="4153296" y="4149080"/>
            <a:ext cx="418704" cy="369332"/>
            <a:chOff x="4067944" y="4769787"/>
            <a:chExt cx="418704" cy="369332"/>
          </a:xfrm>
        </p:grpSpPr>
        <p:sp>
          <p:nvSpPr>
            <p:cNvPr id="100" name="Овал 99"/>
            <p:cNvSpPr/>
            <p:nvPr/>
          </p:nvSpPr>
          <p:spPr>
            <a:xfrm>
              <a:off x="4087545" y="4769787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67944" y="476978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12</a:t>
              </a:r>
              <a:endParaRPr lang="ru-RU" dirty="0"/>
            </a:p>
          </p:txBody>
        </p:sp>
      </p:grpSp>
      <p:cxnSp>
        <p:nvCxnSpPr>
          <p:cNvPr id="103" name="Прямая со стрелкой 102"/>
          <p:cNvCxnSpPr/>
          <p:nvPr/>
        </p:nvCxnSpPr>
        <p:spPr>
          <a:xfrm>
            <a:off x="2170133" y="3865041"/>
            <a:ext cx="817691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 flipH="1">
            <a:off x="2170134" y="4081065"/>
            <a:ext cx="81769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Группа 110"/>
          <p:cNvGrpSpPr/>
          <p:nvPr/>
        </p:nvGrpSpPr>
        <p:grpSpPr>
          <a:xfrm>
            <a:off x="2195736" y="4149080"/>
            <a:ext cx="418704" cy="369332"/>
            <a:chOff x="4067944" y="4769787"/>
            <a:chExt cx="418704" cy="369332"/>
          </a:xfrm>
        </p:grpSpPr>
        <p:sp>
          <p:nvSpPr>
            <p:cNvPr id="112" name="Овал 111"/>
            <p:cNvSpPr/>
            <p:nvPr/>
          </p:nvSpPr>
          <p:spPr>
            <a:xfrm>
              <a:off x="4087545" y="4769787"/>
              <a:ext cx="359661" cy="3609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067944" y="476978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/>
                <a:t>13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84586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1"/>
          <p:cNvSpPr txBox="1"/>
          <p:nvPr/>
        </p:nvSpPr>
        <p:spPr>
          <a:xfrm>
            <a:off x="862334" y="162968"/>
            <a:ext cx="73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ПОРЯДОК  ОБРАБОТКИ  ЗАПРОСОВ</a:t>
            </a:r>
            <a:endParaRPr sz="2000" b="1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1" name="Google Shape;3091;p1"/>
          <p:cNvCxnSpPr/>
          <p:nvPr/>
        </p:nvCxnSpPr>
        <p:spPr>
          <a:xfrm>
            <a:off x="247972" y="116633"/>
            <a:ext cx="8788500" cy="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2" name="Google Shape;3092;p1"/>
          <p:cNvCxnSpPr/>
          <p:nvPr/>
        </p:nvCxnSpPr>
        <p:spPr>
          <a:xfrm rot="5400000">
            <a:off x="-1241" y="365933"/>
            <a:ext cx="500100" cy="1500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3" name="Google Shape;3093;p1"/>
          <p:cNvCxnSpPr/>
          <p:nvPr/>
        </p:nvCxnSpPr>
        <p:spPr>
          <a:xfrm>
            <a:off x="357188" y="6667772"/>
            <a:ext cx="8572500" cy="150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4" name="Google Shape;3094;p1"/>
          <p:cNvSpPr/>
          <p:nvPr/>
        </p:nvSpPr>
        <p:spPr>
          <a:xfrm>
            <a:off x="946297" y="609413"/>
            <a:ext cx="8197800" cy="60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Приложение вызывает функцию Windows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 вызывает соответствующую процедуру ввода/вывода режима ядра, которая передает запрос менеджеру ввода/вывода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Менеджер ввода/вывода создает пакет IRP и посылает его объекту устройства Up рефлектора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Up-устройство посылает запрос хост-процессу драйвера. Хост-процесс создает пакет IRP пользовательского режима для представления пакета IRP в части пользовательского режима стека устройства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Хост-процесс передает пакет IRP пользовательского режима верхнему экземпляру инфраструктуры в стеке устройства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Инфраструктура использует данные с пакета IRP пользовательского режима для создания IPC-запроса и передает его соответствующему объекту обратного вызова драйвера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Драйвер обрабатывает запрос ввода/вывода и посылает его следующему драйверу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Хост-процесс посылает обработанный IRP-пакет объекту устройства Down рефлектора, который создает второй пакет IRP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7" name="Google Shape;3077;p1"/>
          <p:cNvCxnSpPr/>
          <p:nvPr/>
        </p:nvCxnSpPr>
        <p:spPr>
          <a:xfrm>
            <a:off x="247972" y="116633"/>
            <a:ext cx="8788500" cy="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8" name="Google Shape;3078;p1"/>
          <p:cNvCxnSpPr/>
          <p:nvPr/>
        </p:nvCxnSpPr>
        <p:spPr>
          <a:xfrm rot="5400000">
            <a:off x="-1241" y="365933"/>
            <a:ext cx="500100" cy="1500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9" name="Google Shape;3079;p1"/>
          <p:cNvCxnSpPr/>
          <p:nvPr/>
        </p:nvCxnSpPr>
        <p:spPr>
          <a:xfrm>
            <a:off x="357188" y="6667772"/>
            <a:ext cx="8572500" cy="150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0" name="Google Shape;3080;p1"/>
          <p:cNvSpPr/>
          <p:nvPr/>
        </p:nvSpPr>
        <p:spPr>
          <a:xfrm>
            <a:off x="622772" y="898262"/>
            <a:ext cx="8197800" cy="3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9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 устройства Down передает запрос нижнему стеку устройства, который обрабатывает запрос и осуществляет необходимое взаимодействие с устройством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9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Драйвер в нижнем стеке устройства завершает второй пакет IRP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9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 устройства Down возвращает выполненный запрос ввода/вывода хост-процессу драйвера и осуществляет обратный вызов для завершения запроса</a:t>
            </a:r>
            <a:endParaRPr/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9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Инфраструктура передает завершенный запрос ввода/вывода объекту устройства Up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9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Объект устройства Up передает запрос обратно менеджеру ввода/вывода, который возвращает результаты исполнения запроса приложению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"/>
          <p:cNvSpPr txBox="1"/>
          <p:nvPr/>
        </p:nvSpPr>
        <p:spPr>
          <a:xfrm>
            <a:off x="862334" y="162968"/>
            <a:ext cx="73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ПОРЯДОК  ОБРАБОТКИ  ЗАПРОСОВ</a:t>
            </a:r>
            <a:endParaRPr sz="2000" b="1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p2"/>
          <p:cNvSpPr txBox="1"/>
          <p:nvPr/>
        </p:nvSpPr>
        <p:spPr>
          <a:xfrm>
            <a:off x="862334" y="162968"/>
            <a:ext cx="73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КОМПОНЕНТЫ  ХОСТ-ПРОЦЕССА</a:t>
            </a:r>
            <a:endParaRPr sz="2000" b="1">
              <a:solidFill>
                <a:srgbClr val="0033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84" name="Google Shape;3084;p2"/>
          <p:cNvCxnSpPr/>
          <p:nvPr/>
        </p:nvCxnSpPr>
        <p:spPr>
          <a:xfrm>
            <a:off x="247972" y="116633"/>
            <a:ext cx="8788500" cy="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5" name="Google Shape;3085;p2"/>
          <p:cNvCxnSpPr/>
          <p:nvPr/>
        </p:nvCxnSpPr>
        <p:spPr>
          <a:xfrm rot="5400000">
            <a:off x="-1241" y="365933"/>
            <a:ext cx="500100" cy="1500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6" name="Google Shape;3086;p2"/>
          <p:cNvCxnSpPr/>
          <p:nvPr/>
        </p:nvCxnSpPr>
        <p:spPr>
          <a:xfrm>
            <a:off x="357188" y="6667772"/>
            <a:ext cx="8572500" cy="1500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87" name="Google Shape;3087;p2"/>
          <p:cNvSpPr/>
          <p:nvPr/>
        </p:nvSpPr>
        <p:spPr>
          <a:xfrm>
            <a:off x="539552" y="780961"/>
            <a:ext cx="8208900" cy="48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Стек UMDF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Состоит из одного или нескольких функциональных драйверов или драйверов фильтра</a:t>
            </a:r>
            <a:endParaRPr/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Имеет свои объекты устройств и пакеты IRP, связанные с лежащими ниже структурами данных</a:t>
            </a:r>
            <a:endParaRPr/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Обрабатывает запросы ввода/вывода ( аналогично стеку режима ядра)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Один или несколько экземпляров инфраструктуры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Один экземпляр  для каждого драйвера UMDF в стеке</a:t>
            </a:r>
            <a:endParaRPr/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Представляет собой библиотеку, которая поддерживает объектную модель UMDF</a:t>
            </a:r>
            <a:endParaRPr/>
          </a:p>
          <a:p>
            <a:pPr marL="742950" marR="0" lvl="1" indent="-2857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―"/>
            </a:pPr>
            <a:r>
              <a:rPr lang="ru-RU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Служит посредником во взаимодействии между драйверами и хост-процессом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ПРЕИМУЩЕСТВА  И  НЕДОСТАТКИ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/>
          <p:cNvSpPr/>
          <p:nvPr/>
        </p:nvSpPr>
        <p:spPr>
          <a:xfrm>
            <a:off x="1331640" y="908720"/>
            <a:ext cx="734481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b="1" dirty="0" smtClean="0"/>
              <a:t>Преимущества: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Повышенная </a:t>
            </a:r>
            <a:r>
              <a:rPr lang="ru-RU" dirty="0"/>
              <a:t>стабильность системы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Пониженная угроза безопасности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Возможность использования </a:t>
            </a:r>
            <a:r>
              <a:rPr lang="ru-RU" dirty="0" err="1"/>
              <a:t>Windows</a:t>
            </a:r>
            <a:r>
              <a:rPr lang="ru-RU" dirty="0"/>
              <a:t> API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Упрощенная отладка в пользовательском режиме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Использование возможностей С++ или С</a:t>
            </a:r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Производительность на уровне драйверов режима </a:t>
            </a:r>
            <a:r>
              <a:rPr lang="ru-RU" dirty="0" smtClean="0"/>
              <a:t>ядра</a:t>
            </a:r>
          </a:p>
          <a:p>
            <a:pPr algn="just">
              <a:spcBef>
                <a:spcPts val="1200"/>
              </a:spcBef>
            </a:pPr>
            <a:endParaRPr lang="ru-RU" dirty="0" smtClean="0"/>
          </a:p>
          <a:p>
            <a:pPr algn="just">
              <a:spcBef>
                <a:spcPts val="1200"/>
              </a:spcBef>
            </a:pPr>
            <a:r>
              <a:rPr lang="ru-RU" b="1" dirty="0" smtClean="0"/>
              <a:t>Недостатк</a:t>
            </a:r>
            <a:r>
              <a:rPr lang="ru-RU" dirty="0" smtClean="0"/>
              <a:t>и:</a:t>
            </a:r>
            <a:endParaRPr lang="ru-RU" dirty="0"/>
          </a:p>
          <a:p>
            <a:pPr marL="285750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невозможность прямого доступа </a:t>
            </a:r>
            <a:r>
              <a:rPr lang="ru-RU" dirty="0"/>
              <a:t>к аппаратной части, включая </a:t>
            </a:r>
            <a:r>
              <a:rPr lang="ru-RU" dirty="0" smtClean="0"/>
              <a:t>обработку прерываний</a:t>
            </a:r>
            <a:endParaRPr lang="ru-RU" dirty="0"/>
          </a:p>
          <a:p>
            <a:pPr marL="285750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нельзя реализовать бесперебойные временные циклы</a:t>
            </a:r>
            <a:endParaRPr lang="ru-RU" dirty="0"/>
          </a:p>
          <a:p>
            <a:pPr marL="285750" indent="-285750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отсутствует прямой доступ </a:t>
            </a:r>
            <a:r>
              <a:rPr lang="ru-RU" dirty="0"/>
              <a:t>к структурам данных или памяти </a:t>
            </a:r>
            <a:r>
              <a:rPr lang="ru-RU" dirty="0" smtClean="0"/>
              <a:t>ядра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51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СОСТАВ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/>
          <p:cNvSpPr/>
          <p:nvPr/>
        </p:nvSpPr>
        <p:spPr>
          <a:xfrm>
            <a:off x="1115616" y="980728"/>
            <a:ext cx="7344816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/>
              <a:t>реализовать функцию </a:t>
            </a:r>
            <a:r>
              <a:rPr lang="ru-RU" dirty="0" err="1"/>
              <a:t>DllMain</a:t>
            </a:r>
            <a:r>
              <a:rPr lang="ru-RU" dirty="0"/>
              <a:t> в качестве точки входа </a:t>
            </a:r>
            <a:r>
              <a:rPr lang="ru-RU" dirty="0" smtClean="0"/>
              <a:t>драйвера</a:t>
            </a:r>
            <a:endParaRPr lang="ru-RU" dirty="0"/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реализовать </a:t>
            </a:r>
            <a:r>
              <a:rPr lang="ru-RU" dirty="0"/>
              <a:t>и экспортировать по имени функцию </a:t>
            </a:r>
            <a:r>
              <a:rPr lang="ru-RU" dirty="0" err="1" smtClean="0"/>
              <a:t>DllGetClassObject</a:t>
            </a:r>
            <a:endParaRPr lang="ru-RU" dirty="0"/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реализовать </a:t>
            </a:r>
            <a:r>
              <a:rPr lang="ru-RU" dirty="0"/>
              <a:t>интерфейс </a:t>
            </a:r>
            <a:r>
              <a:rPr lang="ru-RU" dirty="0" err="1"/>
              <a:t>IClassFactory</a:t>
            </a:r>
            <a:r>
              <a:rPr lang="ru-RU" dirty="0"/>
              <a:t> для создания объекта </a:t>
            </a:r>
            <a:r>
              <a:rPr lang="ru-RU" dirty="0" smtClean="0"/>
              <a:t>драйвера</a:t>
            </a:r>
            <a:endParaRPr lang="ru-RU" dirty="0"/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реализовать </a:t>
            </a:r>
            <a:r>
              <a:rPr lang="ru-RU" dirty="0"/>
              <a:t>объект обратного вызова драйвера, предоставляющий </a:t>
            </a:r>
            <a:r>
              <a:rPr lang="ru-RU" dirty="0" smtClean="0"/>
              <a:t>интерфейс </a:t>
            </a:r>
            <a:r>
              <a:rPr lang="en-US" dirty="0" err="1" smtClean="0"/>
              <a:t>IDriverEntry</a:t>
            </a:r>
            <a:endParaRPr lang="en-US" dirty="0"/>
          </a:p>
          <a:p>
            <a:pPr marL="285750" indent="-28575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реализовать </a:t>
            </a:r>
            <a:r>
              <a:rPr lang="ru-RU" dirty="0"/>
              <a:t>объект обратного вызова драйвера, предоставляющий интерфейсы </a:t>
            </a:r>
            <a:r>
              <a:rPr lang="ru-RU" dirty="0" smtClean="0"/>
              <a:t>обратного </a:t>
            </a:r>
            <a:r>
              <a:rPr lang="ru-RU" dirty="0"/>
              <a:t>вызова для объекта </a:t>
            </a:r>
            <a:r>
              <a:rPr lang="ru-RU" dirty="0" smtClean="0"/>
              <a:t>устройства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18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ПОСЛЕДОВАТЕЛЬНОСТЬ  ИНИЦИАЛИЗАЦИИ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004760"/>
            <a:ext cx="6248425" cy="5592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142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1315845"/>
            <a:ext cx="6192687" cy="3049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ПОСЛЕДОВАТЕЛЬНОСТЬ  ИНИЦИАЛИЗАЦИИ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07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72435" y="2701369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СТРУКТУРА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UMDF-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ДРАЙВЕРА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3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ОБЯЗАТЕЛЬНЫЕ  ФУНКЦИИ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1732892"/>
            <a:ext cx="68540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BOOL WINAPI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DllMain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In_ HINSTANCE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hinstDLL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_ DWORD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fdwReason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In_ LPVOID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lpvReserved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{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... }</a:t>
            </a:r>
            <a:endParaRPr lang="ru-RU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660883"/>
            <a:ext cx="7128842" cy="1675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Функция завершения драйвера вызывается, когда драйвер выгружается из оперативной памяти (напр. при отключении устройства):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2334" y="3966950"/>
            <a:ext cx="78128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6100" indent="-546100" algn="just">
              <a:spcBef>
                <a:spcPts val="1200"/>
              </a:spcBef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hinstDLL</a:t>
            </a:r>
            <a:r>
              <a:rPr lang="ru-RU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описатель </a:t>
            </a:r>
            <a:r>
              <a:rPr lang="en-US" dirty="0" err="1" smtClean="0">
                <a:cs typeface="Courier New" pitchFamily="49" charset="0"/>
              </a:rPr>
              <a:t>dll</a:t>
            </a:r>
            <a:endParaRPr lang="ru-RU" dirty="0" smtClean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fdwReason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флаг вызова функции (</a:t>
            </a:r>
            <a:r>
              <a:rPr lang="en-US" dirty="0" smtClean="0"/>
              <a:t>DLL_PROCESS_ATTACH</a:t>
            </a:r>
            <a:r>
              <a:rPr lang="ru-RU" dirty="0" smtClean="0"/>
              <a:t>, </a:t>
            </a:r>
            <a:r>
              <a:rPr lang="en-US" dirty="0" smtClean="0"/>
              <a:t>DLL_PROCESS_DETACH</a:t>
            </a:r>
            <a:r>
              <a:rPr lang="ru-RU" dirty="0" smtClean="0"/>
              <a:t>, </a:t>
            </a:r>
            <a:r>
              <a:rPr lang="en-US" dirty="0" smtClean="0"/>
              <a:t>DLL_THREAD_ATTACH</a:t>
            </a:r>
            <a:r>
              <a:rPr lang="ru-RU" dirty="0" smtClean="0"/>
              <a:t>, </a:t>
            </a:r>
            <a:r>
              <a:rPr lang="en-US" dirty="0"/>
              <a:t>DLL_THREAD_DETACH</a:t>
            </a:r>
            <a:r>
              <a:rPr lang="ru-RU" dirty="0" smtClean="0">
                <a:cs typeface="Courier New" pitchFamily="49" charset="0"/>
              </a:rPr>
              <a:t>)</a:t>
            </a:r>
            <a:endParaRPr lang="ru-RU" dirty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lpvReserved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ru-RU" dirty="0">
                <a:cs typeface="Courier New" pitchFamily="49" charset="0"/>
              </a:rPr>
              <a:t>зарегистрированный</a:t>
            </a:r>
            <a:r>
              <a:rPr lang="ru-RU" i="1" dirty="0">
                <a:cs typeface="Courier New" pitchFamily="49" charset="0"/>
              </a:rPr>
              <a:t> </a:t>
            </a:r>
            <a:r>
              <a:rPr lang="ru-RU" dirty="0" smtClean="0">
                <a:cs typeface="Courier New" pitchFamily="49" charset="0"/>
              </a:rPr>
              <a:t>параметр</a:t>
            </a:r>
          </a:p>
        </p:txBody>
      </p:sp>
    </p:spTree>
    <p:extLst>
      <p:ext uri="{BB962C8B-B14F-4D97-AF65-F5344CB8AC3E}">
        <p14:creationId xmlns:p14="http://schemas.microsoft.com/office/powerpoint/2010/main" val="423823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ОБЯЗАТЕЛЬНЫЕ  ФУНКЦИИ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1588514"/>
            <a:ext cx="68540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DllGetClassObject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REFCLSID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rclsid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REFIID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riid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dirty="0" smtClean="0">
                <a:latin typeface="Courier New" pitchFamily="49" charset="0"/>
                <a:cs typeface="Courier New" pitchFamily="49" charset="0"/>
              </a:rPr>
              <a:t>LPVOID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pPr marL="449263"/>
            <a:r>
              <a:rPr lang="en-US" i="1" dirty="0" smtClean="0">
                <a:latin typeface="Courier New" pitchFamily="49" charset="0"/>
                <a:cs typeface="Courier New" pitchFamily="49" charset="0"/>
              </a:rPr>
              <a:t>{...}</a:t>
            </a:r>
            <a:endParaRPr lang="ru-RU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532547"/>
            <a:ext cx="7128842" cy="16758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Функция, возвращающая указатель реализацию интерфейса </a:t>
            </a:r>
            <a:r>
              <a:rPr lang="en-US" dirty="0" err="1" smtClean="0"/>
              <a:t>IClassFactory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862334" y="3774446"/>
            <a:ext cx="78128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rclsid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CLSID </a:t>
            </a:r>
            <a:r>
              <a:rPr lang="ru-RU" dirty="0" smtClean="0">
                <a:cs typeface="Courier New" pitchFamily="49" charset="0"/>
              </a:rPr>
              <a:t>реализующего класса</a:t>
            </a: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riid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en-US" dirty="0" smtClean="0">
                <a:cs typeface="Courier New" pitchFamily="49" charset="0"/>
              </a:rPr>
              <a:t> IID </a:t>
            </a:r>
            <a:r>
              <a:rPr lang="ru-RU" dirty="0" smtClean="0">
                <a:cs typeface="Courier New" pitchFamily="49" charset="0"/>
              </a:rPr>
              <a:t>запрашиваемого интерфейса (</a:t>
            </a:r>
            <a:r>
              <a:rPr lang="en-US" dirty="0" smtClean="0">
                <a:cs typeface="Courier New" pitchFamily="49" charset="0"/>
              </a:rPr>
              <a:t>IID </a:t>
            </a:r>
            <a:r>
              <a:rPr lang="ru-RU" dirty="0" smtClean="0">
                <a:cs typeface="Courier New" pitchFamily="49" charset="0"/>
              </a:rPr>
              <a:t>интерфейса </a:t>
            </a:r>
            <a:r>
              <a:rPr lang="en-US" dirty="0" err="1"/>
              <a:t>IClassFactory</a:t>
            </a:r>
            <a:r>
              <a:rPr lang="ru-RU" dirty="0" smtClean="0">
                <a:cs typeface="Courier New" pitchFamily="49" charset="0"/>
              </a:rPr>
              <a:t>)</a:t>
            </a:r>
            <a:endParaRPr lang="ru-RU" dirty="0">
              <a:cs typeface="Courier New" pitchFamily="49" charset="0"/>
            </a:endParaRPr>
          </a:p>
          <a:p>
            <a:pPr marL="546100" indent="-546100" algn="just">
              <a:spcBef>
                <a:spcPts val="12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ppv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i="1" dirty="0" smtClean="0">
                <a:cs typeface="Courier New" pitchFamily="49" charset="0"/>
              </a:rPr>
              <a:t>– </a:t>
            </a:r>
            <a:r>
              <a:rPr lang="ru-RU" dirty="0" smtClean="0">
                <a:cs typeface="Courier New" pitchFamily="49" charset="0"/>
              </a:rPr>
              <a:t>указатель на объект, реализующий интерфейс </a:t>
            </a:r>
            <a:r>
              <a:rPr lang="en-US" dirty="0" err="1"/>
              <a:t>IClassFactory</a:t>
            </a:r>
            <a:endParaRPr lang="ru-RU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458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БАЗОВЫЙ  ИНТЕРФЕЙС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2021648"/>
            <a:ext cx="68540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IDriverEntry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OnDeinitialize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OnDeviceAdd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pWdfDriver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IWDFDeviceInitialize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pWdfDeviceInit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933597"/>
            <a:ext cx="7128842" cy="33442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Интерфейс, реализующий базовый функционал </a:t>
            </a:r>
            <a:r>
              <a:rPr lang="en-US" dirty="0" smtClean="0"/>
              <a:t>UMDF</a:t>
            </a:r>
            <a:r>
              <a:rPr lang="ru-RU" dirty="0" smtClean="0"/>
              <a:t>-драйвера (инициализацию, обработку добавления устройства, удаление драйвера из стека):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400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ИНТЕРФЕЙС  ОБЪЕКТА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46384" y="2021648"/>
            <a:ext cx="685400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IWDFDriver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endParaRPr lang="ru-RU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CreateDevice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IWDFDeviceInitialize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pDeviceInit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44767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IWDFDevice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ppDevice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CreatePreallocatedWdfMemory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546100"/>
            <a:r>
              <a:rPr lang="en-US" dirty="0" smtClean="0">
                <a:latin typeface="Courier New" pitchFamily="49" charset="0"/>
                <a:cs typeface="Courier New" pitchFamily="49" charset="0"/>
              </a:rPr>
              <a:t>BYTE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pBuff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smtClean="0">
                <a:latin typeface="Courier New" pitchFamily="49" charset="0"/>
                <a:cs typeface="Courier New" pitchFamily="49" charset="0"/>
              </a:rPr>
              <a:t>SIZE_T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BufferSize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546100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ppWdfMemory</a:t>
            </a:r>
            <a:r>
              <a:rPr lang="en-US" dirty="0" smtClean="0"/>
              <a:t>);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15566" y="1933597"/>
            <a:ext cx="7128842" cy="43869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719548" y="83671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Интерфейс, реализующий базовый функционал </a:t>
            </a:r>
            <a:r>
              <a:rPr lang="en-US" dirty="0" smtClean="0"/>
              <a:t>UMDF</a:t>
            </a:r>
            <a:r>
              <a:rPr lang="ru-RU" dirty="0" smtClean="0"/>
              <a:t>-драйвера (инициализацию, обработку добавления устройства, удаление драйвера из стека):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20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862334" y="162968"/>
            <a:ext cx="7358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ИНТЕРФЕЙС  ОБЪЕКТА  ДРАЙВЕРА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247972" y="116632"/>
            <a:ext cx="8788524" cy="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rot="5400000">
            <a:off x="-1265" y="36587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222373" y="914742"/>
            <a:ext cx="68540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CreateWdfMemory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SIZE_T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BufferSize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ppWdfMemory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CreateWdfObject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IUnknown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pCallbackInterface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pParentObject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52425"/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**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ppWdfObject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52425"/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IsVersionAvailable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UMDF_VERSION_DATA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pMinimumVersion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HRESULT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RetrieveVersionString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PWSTR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marL="352425"/>
            <a:r>
              <a:rPr lang="en-US" dirty="0" smtClean="0">
                <a:latin typeface="Courier New" pitchFamily="49" charset="0"/>
                <a:cs typeface="Courier New" pitchFamily="49" charset="0"/>
              </a:rPr>
              <a:t>DWORD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pdwVersionLength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91555" y="826690"/>
            <a:ext cx="7128842" cy="53013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65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357188" y="214313"/>
            <a:ext cx="8572500" cy="158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 rot="5400000">
            <a:off x="107951" y="463550"/>
            <a:ext cx="500062" cy="1587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1102369" y="2996952"/>
            <a:ext cx="7358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sz="24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СПАСИБО  ЗА  ВНИМАНИЕ</a:t>
            </a:r>
            <a:endParaRPr lang="ru-RU" sz="24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357188" y="6667772"/>
            <a:ext cx="857250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3A469-5E23-4218-AB08-12B9D064EBE9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48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Экран (4:3)</PresentationFormat>
  <Paragraphs>188</Paragraphs>
  <Slides>21</Slides>
  <Notes>17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Virger</cp:lastModifiedBy>
  <cp:revision>2</cp:revision>
  <dcterms:modified xsi:type="dcterms:W3CDTF">2025-10-06T05:23:23Z</dcterms:modified>
</cp:coreProperties>
</file>