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8" r:id="rId3"/>
    <p:sldId id="261" r:id="rId4"/>
    <p:sldId id="279" r:id="rId5"/>
    <p:sldId id="282" r:id="rId6"/>
    <p:sldId id="280" r:id="rId7"/>
    <p:sldId id="281" r:id="rId8"/>
    <p:sldId id="284" r:id="rId9"/>
    <p:sldId id="283" r:id="rId10"/>
    <p:sldId id="285" r:id="rId11"/>
    <p:sldId id="286" r:id="rId12"/>
    <p:sldId id="287" r:id="rId13"/>
    <p:sldId id="288" r:id="rId14"/>
    <p:sldId id="289" r:id="rId15"/>
    <p:sldId id="291" r:id="rId16"/>
    <p:sldId id="292" r:id="rId17"/>
    <p:sldId id="290" r:id="rId18"/>
    <p:sldId id="277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50" autoAdjust="0"/>
  </p:normalViewPr>
  <p:slideViewPr>
    <p:cSldViewPr>
      <p:cViewPr varScale="1">
        <p:scale>
          <a:sx n="83" d="100"/>
          <a:sy n="83" d="100"/>
        </p:scale>
        <p:origin x="-232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FE2C1-465A-416B-8CC2-AF50E799C5B8}" type="datetimeFigureOut">
              <a:rPr lang="ru-RU" smtClean="0"/>
              <a:t>11.11.2018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0BFA2-AC21-45A4-8018-BB6FBBF60B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89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 smtClean="0"/>
              <a:t>Дерево </a:t>
            </a:r>
            <a:r>
              <a:rPr lang="en-US" dirty="0" smtClean="0"/>
              <a:t>PnP</a:t>
            </a:r>
            <a:r>
              <a:rPr lang="ru-RU" dirty="0" smtClean="0"/>
              <a:t>-устройств имеет корневое устройство</a:t>
            </a:r>
          </a:p>
          <a:p>
            <a:pPr marL="228600" indent="-228600">
              <a:buAutoNum type="arabicPeriod"/>
            </a:pPr>
            <a:r>
              <a:rPr lang="ru-RU" dirty="0" smtClean="0"/>
              <a:t>Каждая функция устройства или его часть представлена</a:t>
            </a:r>
            <a:r>
              <a:rPr lang="ru-RU" baseline="0" dirty="0" smtClean="0"/>
              <a:t> в дереве </a:t>
            </a:r>
            <a:r>
              <a:rPr lang="ru-RU" baseline="0" dirty="0" err="1" smtClean="0"/>
              <a:t>нодой</a:t>
            </a:r>
            <a:r>
              <a:rPr lang="ru-RU" baseline="0" dirty="0" smtClean="0"/>
              <a:t> устройства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Некоторые </a:t>
            </a:r>
            <a:r>
              <a:rPr lang="ru-RU" baseline="0" dirty="0" err="1" smtClean="0"/>
              <a:t>ноды</a:t>
            </a:r>
            <a:r>
              <a:rPr lang="ru-RU" baseline="0" dirty="0" smtClean="0"/>
              <a:t> не ассоциированы с устройствами и используются только приложениями для доступа к элементам ядра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За каждой </a:t>
            </a:r>
            <a:r>
              <a:rPr lang="ru-RU" baseline="0" dirty="0" err="1" smtClean="0"/>
              <a:t>нодой</a:t>
            </a:r>
            <a:r>
              <a:rPr lang="ru-RU" baseline="0" dirty="0" smtClean="0"/>
              <a:t> устройства закреплен стек устройств (</a:t>
            </a:r>
            <a:r>
              <a:rPr lang="en-US" baseline="0" dirty="0" smtClean="0"/>
              <a:t>device stack</a:t>
            </a:r>
            <a:r>
              <a:rPr lang="ru-RU" baseline="0" dirty="0" smtClean="0"/>
              <a:t>), стек состоит из объектов устройств (</a:t>
            </a:r>
            <a:r>
              <a:rPr lang="en-US" baseline="0" dirty="0" smtClean="0"/>
              <a:t>device object</a:t>
            </a:r>
            <a:r>
              <a:rPr lang="ru-RU" baseline="0" dirty="0" smtClean="0"/>
              <a:t>), каждому объекту устройства ассоциирован драйвер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Устройства могут быть присоединены как к корневому устройству, так и к шине передачи данных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Устройства, подключенные к шине (напр. </a:t>
            </a:r>
            <a:r>
              <a:rPr lang="en-US" baseline="0" dirty="0" smtClean="0"/>
              <a:t>PCI</a:t>
            </a:r>
            <a:r>
              <a:rPr lang="ru-RU" baseline="0" dirty="0" smtClean="0"/>
              <a:t>), так же могут быть подчиненными шинами (напр. </a:t>
            </a:r>
            <a:r>
              <a:rPr lang="en-US" baseline="0" dirty="0" smtClean="0"/>
              <a:t>USB</a:t>
            </a:r>
            <a:r>
              <a:rPr lang="ru-RU" baseline="0" dirty="0" smtClean="0"/>
              <a:t>)</a:t>
            </a:r>
            <a:endParaRPr lang="en-US" baseline="0" dirty="0" smtClean="0"/>
          </a:p>
          <a:p>
            <a:pPr marL="228600" indent="-228600">
              <a:buAutoNum type="arabicPeriod"/>
            </a:pPr>
            <a:r>
              <a:rPr lang="ru-RU" baseline="0" dirty="0" smtClean="0"/>
              <a:t>При построении дерева каждая шина опрашивается на наличие подключенных к ней устройств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51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 smtClean="0"/>
              <a:t>Каждая</a:t>
            </a:r>
            <a:r>
              <a:rPr lang="ru-RU" baseline="0" dirty="0" smtClean="0"/>
              <a:t> </a:t>
            </a:r>
            <a:r>
              <a:rPr lang="ru-RU" baseline="0" dirty="0" err="1" smtClean="0"/>
              <a:t>нода</a:t>
            </a:r>
            <a:r>
              <a:rPr lang="ru-RU" baseline="0" dirty="0" smtClean="0"/>
              <a:t> устройства из </a:t>
            </a:r>
            <a:r>
              <a:rPr lang="en-US" baseline="0" dirty="0" smtClean="0"/>
              <a:t>PnP</a:t>
            </a:r>
            <a:r>
              <a:rPr lang="ru-RU" baseline="0" dirty="0" smtClean="0"/>
              <a:t>-дерева имеет структурированный список из объектов устройств, называемый стеком устройств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Каждому объекту устройства соответствует драйвер; такое сочетание драйвера и объекта устройства называется парой устройства (</a:t>
            </a:r>
            <a:r>
              <a:rPr lang="en-US" baseline="0" dirty="0" smtClean="0"/>
              <a:t>device pair</a:t>
            </a:r>
            <a:r>
              <a:rPr lang="ru-RU" baseline="0" dirty="0" smtClean="0"/>
              <a:t>)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Стек устройств, согласно принятым правилам, имеет в самом низу первое устройство, вверху последнее (в таком же порядке стек и конструируется)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Устройство </a:t>
            </a:r>
            <a:r>
              <a:rPr lang="en-US" baseline="0" dirty="0" err="1" smtClean="0"/>
              <a:t>Proseware</a:t>
            </a:r>
            <a:r>
              <a:rPr lang="en-US" baseline="0" dirty="0" smtClean="0"/>
              <a:t> Gizmo </a:t>
            </a:r>
            <a:r>
              <a:rPr lang="ru-RU" baseline="0" dirty="0" smtClean="0"/>
              <a:t>на слайде имеет три пары, нижняя из которых является драйвером шины </a:t>
            </a:r>
            <a:r>
              <a:rPr lang="en-US" baseline="0" dirty="0" smtClean="0"/>
              <a:t>PCI</a:t>
            </a:r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 smtClean="0"/>
              <a:t>При</a:t>
            </a:r>
            <a:r>
              <a:rPr lang="ru-RU" baseline="0" dirty="0" smtClean="0"/>
              <a:t> построении </a:t>
            </a:r>
            <a:r>
              <a:rPr lang="en-US" baseline="0" dirty="0" smtClean="0"/>
              <a:t>PnP</a:t>
            </a:r>
            <a:r>
              <a:rPr lang="ru-RU" baseline="0" dirty="0" smtClean="0"/>
              <a:t>-дерева каждая шина опрашивается на наличие присоединенных к ней устройств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Для каждого дочернего устройства шина создает пару </a:t>
            </a:r>
            <a:r>
              <a:rPr lang="en-US" baseline="0" dirty="0" smtClean="0"/>
              <a:t>PDO (</a:t>
            </a:r>
            <a:r>
              <a:rPr lang="en-US" baseline="0" dirty="0" err="1" smtClean="0"/>
              <a:t>Phisical</a:t>
            </a:r>
            <a:r>
              <a:rPr lang="en-US" baseline="0" dirty="0" smtClean="0"/>
              <a:t> Device Object)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PDO</a:t>
            </a:r>
            <a:r>
              <a:rPr lang="ru-RU" baseline="0" dirty="0" smtClean="0"/>
              <a:t> соответствует интерфейсный драйвер шины (</a:t>
            </a:r>
            <a:r>
              <a:rPr lang="en-US" baseline="0" dirty="0" smtClean="0"/>
              <a:t>Pci.sys</a:t>
            </a:r>
            <a:r>
              <a:rPr lang="ru-RU" baseline="0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just">
              <a:lnSpc>
                <a:spcPct val="114000"/>
              </a:lnSpc>
              <a:buFont typeface="+mj-lt"/>
              <a:buAutoNum type="arabicPeriod"/>
              <a:tabLst>
                <a:tab pos="4125913" algn="l"/>
                <a:tab pos="4754563" algn="l"/>
              </a:tabLst>
            </a:pPr>
            <a:r>
              <a:rPr lang="ru-RU" dirty="0" smtClean="0"/>
              <a:t>Для каждого </a:t>
            </a:r>
            <a:r>
              <a:rPr lang="en-US" dirty="0" smtClean="0"/>
              <a:t>PDO </a:t>
            </a:r>
            <a:r>
              <a:rPr lang="ru-RU" dirty="0" smtClean="0"/>
              <a:t>создается </a:t>
            </a:r>
            <a:r>
              <a:rPr lang="en-US" dirty="0" smtClean="0"/>
              <a:t>PnP-</a:t>
            </a:r>
            <a:r>
              <a:rPr lang="ru-RU" dirty="0" err="1" smtClean="0"/>
              <a:t>нода</a:t>
            </a:r>
            <a:r>
              <a:rPr lang="ru-RU" dirty="0" smtClean="0"/>
              <a:t> и стек устройств</a:t>
            </a:r>
          </a:p>
          <a:p>
            <a:pPr marL="228600" indent="-228600" algn="just">
              <a:lnSpc>
                <a:spcPct val="114000"/>
              </a:lnSpc>
              <a:buFont typeface="+mj-lt"/>
              <a:buAutoNum type="arabicPeriod"/>
              <a:tabLst>
                <a:tab pos="4125913" algn="l"/>
                <a:tab pos="4754563" algn="l"/>
              </a:tabLst>
            </a:pPr>
            <a:r>
              <a:rPr lang="ru-RU" dirty="0" smtClean="0"/>
              <a:t>Используя реестр ОС находит функциональный драйвер и создает для него объект устройства (</a:t>
            </a:r>
            <a:r>
              <a:rPr lang="en-US" b="1" dirty="0" smtClean="0"/>
              <a:t>FDO</a:t>
            </a:r>
            <a:r>
              <a:rPr lang="ru-RU" dirty="0" smtClean="0"/>
              <a:t>)</a:t>
            </a:r>
          </a:p>
          <a:p>
            <a:pPr marL="228600" indent="-228600" algn="just">
              <a:lnSpc>
                <a:spcPct val="114000"/>
              </a:lnSpc>
              <a:buFont typeface="+mj-lt"/>
              <a:buAutoNum type="arabicPeriod"/>
              <a:tabLst>
                <a:tab pos="4125913" algn="l"/>
                <a:tab pos="4754563" algn="l"/>
              </a:tabLst>
            </a:pPr>
            <a:r>
              <a:rPr lang="ru-RU" dirty="0" smtClean="0"/>
              <a:t>Находятся все фильтр-драйверы, для каждого из них создаются объекты </a:t>
            </a:r>
            <a:r>
              <a:rPr lang="en-US" dirty="0" smtClean="0"/>
              <a:t>(</a:t>
            </a:r>
            <a:r>
              <a:rPr lang="en-US" b="1" dirty="0" smtClean="0"/>
              <a:t>Filter D</a:t>
            </a:r>
            <a:r>
              <a:rPr lang="en-US" dirty="0" smtClean="0"/>
              <a:t>O) </a:t>
            </a:r>
            <a:r>
              <a:rPr lang="ru-RU" dirty="0" smtClean="0"/>
              <a:t>и добавляются к стеку</a:t>
            </a:r>
          </a:p>
          <a:p>
            <a:pPr marL="228600" indent="-228600" algn="just">
              <a:lnSpc>
                <a:spcPct val="114000"/>
              </a:lnSpc>
              <a:buFont typeface="+mj-lt"/>
              <a:buAutoNum type="arabicPeriod"/>
              <a:tabLst>
                <a:tab pos="4125913" algn="l"/>
                <a:tab pos="4754563" algn="l"/>
              </a:tabLst>
            </a:pPr>
            <a:r>
              <a:rPr lang="ru-RU" dirty="0" smtClean="0"/>
              <a:t>Функциональный драйвер и </a:t>
            </a:r>
            <a:r>
              <a:rPr lang="en-US" dirty="0" smtClean="0"/>
              <a:t>FDO</a:t>
            </a:r>
            <a:r>
              <a:rPr lang="ru-RU" dirty="0" smtClean="0"/>
              <a:t> всегда один в стеке</a:t>
            </a:r>
          </a:p>
          <a:p>
            <a:pPr marL="228600" indent="-228600" algn="just">
              <a:lnSpc>
                <a:spcPct val="114000"/>
              </a:lnSpc>
              <a:buFont typeface="+mj-lt"/>
              <a:buAutoNum type="arabicPeriod"/>
              <a:tabLst>
                <a:tab pos="4125913" algn="l"/>
                <a:tab pos="4754563" algn="l"/>
              </a:tabLst>
            </a:pPr>
            <a:r>
              <a:rPr lang="ru-RU" dirty="0" smtClean="0"/>
              <a:t>Функциональный драйвер осуществляет прямое взаимодействие с устройством и управление им</a:t>
            </a:r>
          </a:p>
          <a:p>
            <a:pPr marL="228600" indent="-228600" algn="just">
              <a:lnSpc>
                <a:spcPct val="114000"/>
              </a:lnSpc>
              <a:buFont typeface="+mj-lt"/>
              <a:buAutoNum type="arabicPeriod"/>
              <a:tabLst>
                <a:tab pos="4125913" algn="l"/>
                <a:tab pos="4754563" algn="l"/>
              </a:tabLst>
            </a:pPr>
            <a:r>
              <a:rPr lang="en-US" dirty="0" smtClean="0"/>
              <a:t>PDO </a:t>
            </a:r>
            <a:r>
              <a:rPr lang="ru-RU" dirty="0" smtClean="0"/>
              <a:t>всегда размещается внизу драйверного стека, т.к. с него начинается формирование стека</a:t>
            </a:r>
            <a:r>
              <a:rPr lang="ru-RU" baseline="0" dirty="0" smtClean="0"/>
              <a:t> устройств; драйвер шины выполняет две функции: он как функциональный драйвер шины (</a:t>
            </a:r>
            <a:r>
              <a:rPr lang="en-US" baseline="0" dirty="0" smtClean="0"/>
              <a:t>PCI FDO</a:t>
            </a:r>
            <a:r>
              <a:rPr lang="ru-RU" baseline="0" dirty="0" smtClean="0"/>
              <a:t>)</a:t>
            </a:r>
            <a:r>
              <a:rPr lang="en-US" baseline="0" dirty="0" smtClean="0"/>
              <a:t> </a:t>
            </a:r>
            <a:r>
              <a:rPr lang="ru-RU" baseline="0" dirty="0" smtClean="0"/>
              <a:t>и как драйвер, обслуживающий дочернее устройство (</a:t>
            </a:r>
            <a:r>
              <a:rPr lang="en-US" baseline="0" dirty="0" smtClean="0"/>
              <a:t>PDO</a:t>
            </a:r>
            <a:r>
              <a:rPr lang="ru-RU" baseline="0" dirty="0" smtClean="0"/>
              <a:t>)</a:t>
            </a:r>
            <a:endParaRPr lang="ru-RU" dirty="0" smtClean="0"/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 smtClean="0"/>
              <a:t>Если представить процесс передачи </a:t>
            </a:r>
            <a:r>
              <a:rPr lang="en-US" baseline="0" dirty="0" smtClean="0"/>
              <a:t>IRP</a:t>
            </a:r>
            <a:r>
              <a:rPr lang="ru-RU" baseline="0" dirty="0" smtClean="0"/>
              <a:t>, как последовательность обработки драйверами устройств, то диаграмма на предыдущем слайде может быть представлена в следующем виде</a:t>
            </a:r>
          </a:p>
          <a:p>
            <a:pPr marL="228600" indent="-228600">
              <a:buAutoNum type="arabicPeriod"/>
            </a:pPr>
            <a:r>
              <a:rPr lang="ru-RU" baseline="0" dirty="0" smtClean="0"/>
              <a:t>Каждый драйвер может выполнять две функции и иметь доступ к объектам </a:t>
            </a:r>
            <a:r>
              <a:rPr lang="en-US" baseline="0" dirty="0" smtClean="0"/>
              <a:t>FDO </a:t>
            </a:r>
            <a:r>
              <a:rPr lang="ru-RU" baseline="0" dirty="0" smtClean="0"/>
              <a:t>и </a:t>
            </a:r>
            <a:r>
              <a:rPr lang="en-US" baseline="0" dirty="0" smtClean="0"/>
              <a:t>PDO </a:t>
            </a:r>
            <a:r>
              <a:rPr lang="ru-RU" baseline="0" dirty="0" smtClean="0"/>
              <a:t>одновременно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66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15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0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27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69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77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3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27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50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20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9EB3E-9947-4A80-94DC-628EE4E137D1}" type="datetimeFigureOut">
              <a:rPr lang="ru-RU" smtClean="0"/>
              <a:pPr/>
              <a:t>11.11.2018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28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132856"/>
            <a:ext cx="73580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СИСТЕМНОЕ  ПРОГРАММНОЕ  ОБЕСПЕЧЕНИЕ</a:t>
            </a:r>
          </a:p>
          <a:p>
            <a:pPr algn="ctr"/>
            <a:endParaRPr lang="ru-RU" sz="2000" b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БЛОК 2</a:t>
            </a:r>
            <a:endParaRPr lang="ru-RU" sz="2000" b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227503" y="4437112"/>
            <a:ext cx="267177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ru-RU" sz="2000" b="1" dirty="0" err="1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Ляхманов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Д.А.</a:t>
            </a:r>
          </a:p>
          <a:p>
            <a:r>
              <a:rPr lang="ru-RU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к.т.н., доцент каф. ИСУ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707904" y="6309320"/>
            <a:ext cx="26717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2018г.</a:t>
            </a:r>
            <a:endParaRPr lang="ru-RU" i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10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701369"/>
            <a:ext cx="73580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ПРОГРАММИРОВАНИЕ УРОВНЯ ЯДРА </a:t>
            </a:r>
          </a:p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WINDOWS</a:t>
            </a:r>
            <a:endParaRPr lang="ru-RU" sz="2000" b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84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СТРУКТУРА  ЯДРА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WINDOWS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6" y="836712"/>
            <a:ext cx="8882668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Прямоугольник 26"/>
          <p:cNvSpPr/>
          <p:nvPr/>
        </p:nvSpPr>
        <p:spPr>
          <a:xfrm>
            <a:off x="611560" y="4149080"/>
            <a:ext cx="3168352" cy="1296144"/>
          </a:xfrm>
          <a:prstGeom prst="rect">
            <a:avLst/>
          </a:prstGeom>
          <a:noFill/>
          <a:ln w="444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83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ТИПЫ  ДРАЙВЕРОВ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71600" y="692696"/>
            <a:ext cx="7848922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 smtClean="0"/>
              <a:t>порт-драйверы</a:t>
            </a:r>
            <a:r>
              <a:rPr lang="ru-RU" sz="2000" dirty="0" smtClean="0"/>
              <a:t> (</a:t>
            </a:r>
            <a:r>
              <a:rPr lang="en-US" sz="2000" dirty="0" smtClean="0"/>
              <a:t>port-driver</a:t>
            </a:r>
            <a:r>
              <a:rPr lang="ru-RU" sz="2000" dirty="0" smtClean="0"/>
              <a:t>)</a:t>
            </a:r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определяет абстрактный специфичный интерфейс устройства</a:t>
            </a:r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обеспечивает доступ к функциям </a:t>
            </a:r>
            <a:r>
              <a:rPr lang="ru-RU" sz="1600" dirty="0" err="1" smtClean="0"/>
              <a:t>минипорт</a:t>
            </a:r>
            <a:r>
              <a:rPr lang="ru-RU" sz="1600" dirty="0" smtClean="0"/>
              <a:t>-драйвера</a:t>
            </a:r>
          </a:p>
          <a:p>
            <a:pPr algn="just">
              <a:lnSpc>
                <a:spcPct val="150000"/>
              </a:lnSpc>
            </a:pPr>
            <a:r>
              <a:rPr lang="ru-RU" sz="2000" b="1" dirty="0" err="1" smtClean="0"/>
              <a:t>минипорт</a:t>
            </a:r>
            <a:r>
              <a:rPr lang="ru-RU" sz="2000" b="1" dirty="0" smtClean="0"/>
              <a:t>-драйверы</a:t>
            </a:r>
            <a:r>
              <a:rPr lang="en-US" sz="2000" dirty="0" smtClean="0"/>
              <a:t> (miniport-driver)</a:t>
            </a:r>
            <a:endParaRPr lang="ru-RU" sz="2000" dirty="0" smtClean="0"/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реализуют специфичный интерфейс физического устройства</a:t>
            </a:r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инкапсулируют логику работы устройства</a:t>
            </a:r>
          </a:p>
          <a:p>
            <a:pPr algn="just">
              <a:lnSpc>
                <a:spcPct val="150000"/>
              </a:lnSpc>
            </a:pPr>
            <a:r>
              <a:rPr lang="ru-RU" sz="2000" b="1" dirty="0" smtClean="0"/>
              <a:t>класс-драйверы</a:t>
            </a:r>
            <a:r>
              <a:rPr lang="en-US" sz="2000" dirty="0" smtClean="0"/>
              <a:t> (class-driver)</a:t>
            </a:r>
            <a:endParaRPr lang="ru-RU" sz="2000" dirty="0" smtClean="0"/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определяют абстрактный системный интерфейс</a:t>
            </a:r>
          </a:p>
          <a:p>
            <a:pPr algn="just">
              <a:lnSpc>
                <a:spcPct val="150000"/>
              </a:lnSpc>
            </a:pPr>
            <a:r>
              <a:rPr lang="ru-RU" sz="2000" b="1" dirty="0" smtClean="0"/>
              <a:t>драйверы шин </a:t>
            </a:r>
            <a:r>
              <a:rPr lang="ru-RU" sz="2000" dirty="0" smtClean="0"/>
              <a:t>(</a:t>
            </a:r>
            <a:r>
              <a:rPr lang="en-US" sz="2000" dirty="0" smtClean="0"/>
              <a:t>bus-driver</a:t>
            </a:r>
            <a:r>
              <a:rPr lang="ru-RU" sz="2000" dirty="0" smtClean="0"/>
              <a:t>)</a:t>
            </a:r>
            <a:endParaRPr lang="en-US" sz="2000" dirty="0" smtClean="0"/>
          </a:p>
          <a:p>
            <a:pPr algn="just">
              <a:lnSpc>
                <a:spcPct val="150000"/>
              </a:lnSpc>
            </a:pPr>
            <a:r>
              <a:rPr lang="ru-RU" sz="2000" b="1" dirty="0" smtClean="0"/>
              <a:t>фильтр-драйверы</a:t>
            </a:r>
            <a:r>
              <a:rPr lang="ru-RU" sz="2000" dirty="0" smtClean="0"/>
              <a:t> </a:t>
            </a:r>
            <a:r>
              <a:rPr lang="en-US" sz="2000" dirty="0" smtClean="0"/>
              <a:t>(filter-driver)</a:t>
            </a:r>
            <a:endParaRPr lang="ru-RU" sz="2000" dirty="0" smtClean="0"/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осуществляют обработку данных от устройств или драйверов приложений</a:t>
            </a:r>
          </a:p>
          <a:p>
            <a:pPr algn="just">
              <a:lnSpc>
                <a:spcPct val="150000"/>
              </a:lnSpc>
            </a:pPr>
            <a:r>
              <a:rPr lang="ru-RU" sz="2000" b="1" dirty="0" smtClean="0"/>
              <a:t>драйверы приложений </a:t>
            </a:r>
            <a:r>
              <a:rPr lang="ru-RU" sz="2000" dirty="0" smtClean="0"/>
              <a:t>(</a:t>
            </a:r>
            <a:r>
              <a:rPr lang="en-US" sz="2000" dirty="0" smtClean="0"/>
              <a:t>software-driver</a:t>
            </a:r>
            <a:r>
              <a:rPr lang="ru-RU" sz="2000" dirty="0" smtClean="0"/>
              <a:t>)</a:t>
            </a:r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не ассоциированы с физическими устройствами</a:t>
            </a:r>
          </a:p>
          <a:p>
            <a:pPr marL="742950" lvl="1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используются для доступа к закрытым данным ядра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7894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ТЕХНОЛОГИИ РЕАЛИЗАЦИИ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00511" y="3356992"/>
            <a:ext cx="7403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8038" indent="-808038" algn="just"/>
            <a:r>
              <a:rPr lang="en-US" b="1" u="sng" dirty="0" smtClean="0"/>
              <a:t>WDF</a:t>
            </a:r>
            <a:r>
              <a:rPr lang="en-US" dirty="0" smtClean="0"/>
              <a:t> (Windows Driver Framework)</a:t>
            </a:r>
            <a:r>
              <a:rPr lang="ru-RU" dirty="0" smtClean="0"/>
              <a:t> – </a:t>
            </a:r>
            <a:r>
              <a:rPr lang="ru-RU" dirty="0" err="1" smtClean="0"/>
              <a:t>фреймворк</a:t>
            </a:r>
            <a:r>
              <a:rPr lang="ru-RU" dirty="0" smtClean="0"/>
              <a:t>, реализующий упрощенную модель программирования драйвера, является надстройкой на </a:t>
            </a:r>
            <a:r>
              <a:rPr lang="en-US" dirty="0" smtClean="0"/>
              <a:t>WDM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996191" y="4656618"/>
            <a:ext cx="6608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 smtClean="0"/>
              <a:t>KMDF</a:t>
            </a:r>
            <a:r>
              <a:rPr lang="en-US" dirty="0" smtClean="0"/>
              <a:t> (Kernel-Mode Driver Framework)</a:t>
            </a:r>
            <a:r>
              <a:rPr lang="ru-RU" dirty="0" smtClean="0"/>
              <a:t> – </a:t>
            </a:r>
            <a:r>
              <a:rPr lang="ru-RU" dirty="0" err="1" smtClean="0"/>
              <a:t>фреймворк</a:t>
            </a:r>
            <a:r>
              <a:rPr lang="ru-RU" dirty="0" smtClean="0"/>
              <a:t> для разработки драйверов режима ядра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014077" y="5734997"/>
            <a:ext cx="6590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U</a:t>
            </a:r>
            <a:r>
              <a:rPr lang="en-US" b="1" u="sng" dirty="0" smtClean="0"/>
              <a:t>MD</a:t>
            </a:r>
            <a:r>
              <a:rPr lang="en-US" b="1" dirty="0" smtClean="0"/>
              <a:t>F</a:t>
            </a:r>
            <a:r>
              <a:rPr lang="en-US" dirty="0" smtClean="0"/>
              <a:t> (User-Mode Driver Framework)</a:t>
            </a:r>
            <a:r>
              <a:rPr lang="ru-RU" dirty="0"/>
              <a:t> – </a:t>
            </a:r>
            <a:r>
              <a:rPr lang="ru-RU" dirty="0" err="1"/>
              <a:t>фреймворк</a:t>
            </a:r>
            <a:r>
              <a:rPr lang="ru-RU" dirty="0"/>
              <a:t> для разработки драйверов </a:t>
            </a:r>
            <a:r>
              <a:rPr lang="ru-RU" dirty="0" smtClean="0"/>
              <a:t>пользовательского режима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187624" y="764704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 smtClean="0"/>
              <a:t>WDM</a:t>
            </a:r>
            <a:r>
              <a:rPr lang="en-US" dirty="0" smtClean="0"/>
              <a:t> (Windows Driver Model) – </a:t>
            </a:r>
            <a:r>
              <a:rPr lang="ru-RU" dirty="0" err="1" smtClean="0"/>
              <a:t>фреймворк</a:t>
            </a:r>
            <a:r>
              <a:rPr lang="ru-RU" dirty="0" smtClean="0"/>
              <a:t>, определяющий унифицированную модель драйвера, введен для </a:t>
            </a:r>
            <a:r>
              <a:rPr lang="en-US" dirty="0" smtClean="0"/>
              <a:t>Windows </a:t>
            </a:r>
            <a:r>
              <a:rPr lang="ru-RU" dirty="0" smtClean="0"/>
              <a:t>98</a:t>
            </a:r>
            <a:r>
              <a:rPr lang="en-US" dirty="0" smtClean="0"/>
              <a:t> </a:t>
            </a:r>
            <a:r>
              <a:rPr lang="ru-RU" dirty="0" smtClean="0"/>
              <a:t>и старше</a:t>
            </a:r>
            <a:endParaRPr lang="ru-RU" dirty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611560" y="660758"/>
            <a:ext cx="0" cy="28809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611560" y="3541658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11560" y="908720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35696" y="1484784"/>
            <a:ext cx="6624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слишком сложен для освоения</a:t>
            </a:r>
          </a:p>
          <a:p>
            <a:pPr marL="285750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требует знания технических особенностей устройства</a:t>
            </a:r>
          </a:p>
          <a:p>
            <a:pPr marL="285750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требуется большое количество сопровождающего кода</a:t>
            </a:r>
          </a:p>
          <a:p>
            <a:pPr marL="285750" indent="-285750" algn="just">
              <a:lnSpc>
                <a:spcPct val="150000"/>
              </a:lnSpc>
              <a:buFont typeface="Calibri" pitchFamily="34" charset="0"/>
              <a:buChar char="―"/>
            </a:pPr>
            <a:r>
              <a:rPr lang="ru-RU" sz="1600" dirty="0" smtClean="0"/>
              <a:t>не поддерживает создание </a:t>
            </a:r>
            <a:r>
              <a:rPr lang="en-US" sz="1600" dirty="0" err="1" smtClean="0"/>
              <a:t>UserMode</a:t>
            </a:r>
            <a:r>
              <a:rPr lang="en-US" sz="1600" dirty="0" smtClean="0"/>
              <a:t>-</a:t>
            </a:r>
            <a:r>
              <a:rPr lang="ru-RU" sz="1600" dirty="0" smtClean="0"/>
              <a:t>драйверов</a:t>
            </a:r>
            <a:endParaRPr lang="ru-RU" sz="1600" dirty="0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1403648" y="3726324"/>
            <a:ext cx="0" cy="222469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1403648" y="5951021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1403648" y="4870901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21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РАЗМЕЩЕНИЕ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KMDF-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9" name="Picture 3" descr="C:\Users\Virger\Pictures\httpatomoreillycomsourcemspimages72969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181" y="714375"/>
            <a:ext cx="5900514" cy="564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02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РАЗМЕЩЕНИЕ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:\Users\Virger\Pictures\I_O Request Flow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756" y="974679"/>
            <a:ext cx="4978524" cy="511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70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СТРУКТУРИРОВАНИЕ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-УСТРОЙСТВ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Virger\Pictures\devicetree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000844"/>
            <a:ext cx="6337529" cy="538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1558533"/>
            <a:ext cx="1745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Подчиненная </a:t>
            </a:r>
          </a:p>
          <a:p>
            <a:pPr algn="ctr"/>
            <a:r>
              <a:rPr lang="ru-RU" dirty="0" smtClean="0"/>
              <a:t>шина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5508104" y="6165304"/>
            <a:ext cx="100811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4208" y="5951021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Корневое системное устройство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1547664" y="1988840"/>
            <a:ext cx="864096" cy="57606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авая фигурная скобка 12"/>
          <p:cNvSpPr/>
          <p:nvPr/>
        </p:nvSpPr>
        <p:spPr>
          <a:xfrm>
            <a:off x="5745106" y="1196752"/>
            <a:ext cx="288032" cy="122413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5922802" y="1484784"/>
            <a:ext cx="1457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Составное устройство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729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СТЕК  УСТРОЙСТВ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:\Users\Virger\Pictures\prosewaredevicenode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05830"/>
            <a:ext cx="4981575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5305103" y="1120676"/>
            <a:ext cx="373139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</a:pPr>
            <a:r>
              <a:rPr lang="ru-RU" dirty="0"/>
              <a:t>Каждая </a:t>
            </a:r>
            <a:r>
              <a:rPr lang="ru-RU" dirty="0" err="1"/>
              <a:t>нода</a:t>
            </a:r>
            <a:r>
              <a:rPr lang="ru-RU" dirty="0"/>
              <a:t> устройства из </a:t>
            </a:r>
            <a:r>
              <a:rPr lang="en-US" dirty="0"/>
              <a:t>PnP</a:t>
            </a:r>
            <a:r>
              <a:rPr lang="ru-RU" dirty="0"/>
              <a:t>-дерева имеет структурированный список из объектов устройств, называемый </a:t>
            </a:r>
            <a:r>
              <a:rPr lang="ru-RU" b="1" dirty="0"/>
              <a:t>стеком </a:t>
            </a:r>
            <a:r>
              <a:rPr lang="ru-RU" b="1" dirty="0" smtClean="0"/>
              <a:t>устройств</a:t>
            </a:r>
            <a:r>
              <a:rPr lang="en-US" b="1" dirty="0" smtClean="0"/>
              <a:t> </a:t>
            </a:r>
            <a:r>
              <a:rPr lang="en-US" dirty="0" smtClean="0"/>
              <a:t>(device stack)</a:t>
            </a:r>
          </a:p>
          <a:p>
            <a:pPr marL="228600" indent="-228600" algn="just">
              <a:buAutoNum type="arabicPeriod"/>
            </a:pPr>
            <a:endParaRPr lang="ru-RU" dirty="0"/>
          </a:p>
          <a:p>
            <a:pPr marL="228600" indent="-228600" algn="just">
              <a:buAutoNum type="arabicPeriod"/>
            </a:pPr>
            <a:r>
              <a:rPr lang="ru-RU" dirty="0"/>
              <a:t>Каждому объекту устройства соответствует </a:t>
            </a:r>
            <a:r>
              <a:rPr lang="ru-RU" dirty="0" smtClean="0"/>
              <a:t>драйвер</a:t>
            </a:r>
            <a:endParaRPr lang="en-US" dirty="0" smtClean="0"/>
          </a:p>
          <a:p>
            <a:pPr marL="228600" indent="-228600" algn="just">
              <a:buAutoNum type="arabicPeriod"/>
            </a:pPr>
            <a:endParaRPr lang="en-US" dirty="0"/>
          </a:p>
          <a:p>
            <a:pPr marL="228600" indent="-228600" algn="just">
              <a:buAutoNum type="arabicPeriod"/>
            </a:pPr>
            <a:r>
              <a:rPr lang="ru-RU" dirty="0" smtClean="0"/>
              <a:t>сочетание </a:t>
            </a:r>
            <a:r>
              <a:rPr lang="ru-RU" dirty="0"/>
              <a:t>драйвера и объекта устройства называется </a:t>
            </a:r>
            <a:r>
              <a:rPr lang="ru-RU" b="1" dirty="0"/>
              <a:t>парой устройства</a:t>
            </a:r>
            <a:r>
              <a:rPr lang="ru-RU" dirty="0"/>
              <a:t> (</a:t>
            </a:r>
            <a:r>
              <a:rPr lang="en-US" dirty="0"/>
              <a:t>device pair</a:t>
            </a:r>
            <a:r>
              <a:rPr lang="ru-RU" dirty="0" smtClean="0"/>
              <a:t>)</a:t>
            </a:r>
            <a:endParaRPr lang="en-US" dirty="0" smtClean="0"/>
          </a:p>
          <a:p>
            <a:pPr marL="228600" indent="-228600" algn="just">
              <a:buAutoNum type="arabicPeriod"/>
            </a:pPr>
            <a:endParaRPr lang="en-US" dirty="0"/>
          </a:p>
          <a:p>
            <a:pPr marL="228600" indent="-228600" algn="just">
              <a:buAutoNum type="arabicPeriod"/>
            </a:pPr>
            <a:r>
              <a:rPr lang="ru-RU" dirty="0" smtClean="0"/>
              <a:t>Устройства, присоединенные к шине могут иметь в составе своего стека функциональный драйвер шины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544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ФОРМИРОВАНИЕ  СТЕКА  УСТРОЙСТВ (1)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C:\Users\Virger\Pictures\prosewaredevicenode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296" y="996732"/>
            <a:ext cx="6228184" cy="411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79511" y="2488828"/>
            <a:ext cx="4392489" cy="3566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ru-RU" dirty="0" smtClean="0"/>
              <a:t>Последовательность действий при </a:t>
            </a:r>
            <a:r>
              <a:rPr lang="ru-RU" dirty="0"/>
              <a:t>построении </a:t>
            </a:r>
            <a:r>
              <a:rPr lang="en-US" dirty="0"/>
              <a:t>PnP</a:t>
            </a:r>
            <a:r>
              <a:rPr lang="ru-RU" dirty="0" smtClean="0"/>
              <a:t>-дерева:</a:t>
            </a:r>
            <a:endParaRPr lang="en-US" dirty="0" smtClean="0"/>
          </a:p>
          <a:p>
            <a:pPr algn="just">
              <a:lnSpc>
                <a:spcPct val="114000"/>
              </a:lnSpc>
            </a:pPr>
            <a:endParaRPr lang="en-US" dirty="0" smtClean="0"/>
          </a:p>
          <a:p>
            <a:pPr marL="228600" indent="-228600" algn="just">
              <a:lnSpc>
                <a:spcPct val="114000"/>
              </a:lnSpc>
              <a:buAutoNum type="arabicPeriod"/>
            </a:pPr>
            <a:r>
              <a:rPr lang="ru-RU" dirty="0"/>
              <a:t>К</a:t>
            </a:r>
            <a:r>
              <a:rPr lang="ru-RU" dirty="0" smtClean="0"/>
              <a:t>аждая </a:t>
            </a:r>
            <a:r>
              <a:rPr lang="ru-RU" dirty="0"/>
              <a:t>шина опрашивается на наличие присоединенных к ней </a:t>
            </a:r>
            <a:r>
              <a:rPr lang="ru-RU" dirty="0" smtClean="0"/>
              <a:t>устройств</a:t>
            </a:r>
            <a:endParaRPr lang="en-US" dirty="0" smtClean="0"/>
          </a:p>
          <a:p>
            <a:pPr marL="228600" indent="-228600" algn="just">
              <a:lnSpc>
                <a:spcPct val="114000"/>
              </a:lnSpc>
              <a:buAutoNum type="arabicPeriod"/>
            </a:pPr>
            <a:endParaRPr lang="ru-RU" dirty="0"/>
          </a:p>
          <a:p>
            <a:pPr marL="228600" indent="-228600" algn="just">
              <a:lnSpc>
                <a:spcPct val="114000"/>
              </a:lnSpc>
              <a:buAutoNum type="arabicPeriod"/>
            </a:pPr>
            <a:r>
              <a:rPr lang="ru-RU" dirty="0"/>
              <a:t>Для каждого дочернего устройства </a:t>
            </a:r>
            <a:r>
              <a:rPr lang="ru-RU" dirty="0" smtClean="0"/>
              <a:t>создается </a:t>
            </a:r>
            <a:r>
              <a:rPr lang="en-US" b="1" dirty="0" smtClean="0"/>
              <a:t>PDO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smtClean="0"/>
              <a:t>Ph</a:t>
            </a:r>
            <a:r>
              <a:rPr lang="en-US" dirty="0"/>
              <a:t>y</a:t>
            </a:r>
            <a:r>
              <a:rPr lang="en-US" dirty="0" smtClean="0"/>
              <a:t>sical </a:t>
            </a:r>
            <a:r>
              <a:rPr lang="en-US" dirty="0"/>
              <a:t>Device Object</a:t>
            </a:r>
            <a:r>
              <a:rPr lang="en-US" dirty="0" smtClean="0"/>
              <a:t>)</a:t>
            </a:r>
          </a:p>
          <a:p>
            <a:pPr marL="228600" indent="-228600" algn="just">
              <a:lnSpc>
                <a:spcPct val="114000"/>
              </a:lnSpc>
              <a:buAutoNum type="arabicPeriod"/>
            </a:pPr>
            <a:endParaRPr lang="en-US" dirty="0"/>
          </a:p>
          <a:p>
            <a:pPr marL="228600" indent="-228600" algn="just">
              <a:lnSpc>
                <a:spcPct val="114000"/>
              </a:lnSpc>
              <a:buAutoNum type="arabicPeriod"/>
            </a:pPr>
            <a:r>
              <a:rPr lang="ru-RU" dirty="0" smtClean="0"/>
              <a:t>Каждому </a:t>
            </a:r>
            <a:r>
              <a:rPr lang="en-US" dirty="0" smtClean="0"/>
              <a:t>PDO</a:t>
            </a:r>
            <a:r>
              <a:rPr lang="ru-RU" dirty="0" smtClean="0"/>
              <a:t> </a:t>
            </a:r>
            <a:r>
              <a:rPr lang="ru-RU" dirty="0"/>
              <a:t>соответствует интерфейсный драйвер шины (</a:t>
            </a:r>
            <a:r>
              <a:rPr lang="en-US" dirty="0"/>
              <a:t>Pci.sys</a:t>
            </a:r>
            <a:r>
              <a:rPr lang="ru-RU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620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ФОРМИРОВАНИЕ  СТЕКА  УСТРОЙСТВ (2)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 descr="C:\Users\Virger\Pictures\prosewaredevicenode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335" y="1189871"/>
            <a:ext cx="4628137" cy="439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58093" y="1196752"/>
            <a:ext cx="3521820" cy="3881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4000"/>
              </a:lnSpc>
              <a:buFont typeface="+mj-lt"/>
              <a:buAutoNum type="arabicPeriod" startAt="4"/>
              <a:tabLst>
                <a:tab pos="4125913" algn="l"/>
                <a:tab pos="4754563" algn="l"/>
              </a:tabLst>
            </a:pPr>
            <a:r>
              <a:rPr lang="ru-RU" dirty="0" smtClean="0"/>
              <a:t>Для каждого </a:t>
            </a:r>
            <a:r>
              <a:rPr lang="en-US" dirty="0" smtClean="0"/>
              <a:t>PDO </a:t>
            </a:r>
            <a:r>
              <a:rPr lang="ru-RU" dirty="0" smtClean="0"/>
              <a:t>создается </a:t>
            </a:r>
            <a:r>
              <a:rPr lang="en-US" dirty="0" smtClean="0"/>
              <a:t>PnP-</a:t>
            </a:r>
            <a:r>
              <a:rPr lang="ru-RU" dirty="0" err="1" smtClean="0"/>
              <a:t>нода</a:t>
            </a:r>
            <a:r>
              <a:rPr lang="ru-RU" dirty="0" smtClean="0"/>
              <a:t> и стек устройств</a:t>
            </a:r>
            <a:endParaRPr lang="en-US" dirty="0" smtClean="0"/>
          </a:p>
          <a:p>
            <a:pPr marL="228600" indent="-228600" algn="just">
              <a:lnSpc>
                <a:spcPct val="114000"/>
              </a:lnSpc>
              <a:buAutoNum type="arabicPeriod" startAt="4"/>
              <a:tabLst>
                <a:tab pos="4125913" algn="l"/>
                <a:tab pos="4754563" algn="l"/>
              </a:tabLst>
            </a:pPr>
            <a:endParaRPr lang="ru-RU" dirty="0"/>
          </a:p>
          <a:p>
            <a:pPr marL="228600" indent="-228600" algn="just">
              <a:lnSpc>
                <a:spcPct val="114000"/>
              </a:lnSpc>
              <a:buAutoNum type="arabicPeriod" startAt="4"/>
              <a:tabLst>
                <a:tab pos="4125913" algn="l"/>
                <a:tab pos="4754563" algn="l"/>
              </a:tabLst>
            </a:pPr>
            <a:r>
              <a:rPr lang="ru-RU" dirty="0" smtClean="0"/>
              <a:t>Используя реестр ОС находит функциональный драйвер и создает для него объект устройства (</a:t>
            </a:r>
            <a:r>
              <a:rPr lang="en-US" b="1" dirty="0" smtClean="0"/>
              <a:t>FDO</a:t>
            </a:r>
            <a:r>
              <a:rPr lang="ru-RU" dirty="0" smtClean="0"/>
              <a:t>); </a:t>
            </a:r>
            <a:endParaRPr lang="en-US" dirty="0" smtClean="0"/>
          </a:p>
          <a:p>
            <a:pPr marL="228600" indent="-228600" algn="just">
              <a:lnSpc>
                <a:spcPct val="114000"/>
              </a:lnSpc>
              <a:buAutoNum type="arabicPeriod" startAt="4"/>
            </a:pPr>
            <a:endParaRPr lang="en-US" dirty="0"/>
          </a:p>
          <a:p>
            <a:pPr marL="228600" indent="-228600" algn="just">
              <a:lnSpc>
                <a:spcPct val="114000"/>
              </a:lnSpc>
              <a:buAutoNum type="arabicPeriod" startAt="4"/>
            </a:pPr>
            <a:r>
              <a:rPr lang="ru-RU" dirty="0" smtClean="0"/>
              <a:t>Находятся все фильтр-драйверы, для каждого из них создаются объекты </a:t>
            </a:r>
            <a:r>
              <a:rPr lang="en-US" dirty="0" smtClean="0"/>
              <a:t>(</a:t>
            </a:r>
            <a:r>
              <a:rPr lang="en-US" b="1" dirty="0" smtClean="0"/>
              <a:t>Filter D</a:t>
            </a:r>
            <a:r>
              <a:rPr lang="en-US" dirty="0" smtClean="0"/>
              <a:t>O) </a:t>
            </a:r>
            <a:r>
              <a:rPr lang="ru-RU" dirty="0" smtClean="0"/>
              <a:t>и добавляются к стеку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170960" y="5879013"/>
            <a:ext cx="7361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Только функциональный драйвер осуществляет прямое управление устройством; </a:t>
            </a:r>
            <a:r>
              <a:rPr lang="en-US" dirty="0" smtClean="0"/>
              <a:t>FDO </a:t>
            </a:r>
            <a:r>
              <a:rPr lang="ru-RU" dirty="0" smtClean="0"/>
              <a:t>всегда один в стеке</a:t>
            </a:r>
            <a:endParaRPr lang="ru-RU" dirty="0"/>
          </a:p>
        </p:txBody>
      </p:sp>
      <p:pic>
        <p:nvPicPr>
          <p:cNvPr id="10" name="Picture 2" descr="C:\Users\Александр\Desktop\warning-icon-14544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904756"/>
            <a:ext cx="595802" cy="62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13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ВЗАИМОДЕЙСТВИЕ  МЕЖДУ  ДРАЙВЕРАМИ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739780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 descr="C:\Users\Virger\Pictures\F02wi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508" y="1340768"/>
            <a:ext cx="468898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258093" y="1196752"/>
            <a:ext cx="352182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4125913" algn="l"/>
                <a:tab pos="4754563" algn="l"/>
              </a:tabLst>
            </a:pPr>
            <a:r>
              <a:rPr lang="en-US" b="1" dirty="0" smtClean="0"/>
              <a:t>IRP (Interrupt Request Package) </a:t>
            </a:r>
            <a:r>
              <a:rPr lang="en-US" dirty="0" smtClean="0"/>
              <a:t>– </a:t>
            </a:r>
            <a:r>
              <a:rPr lang="ru-RU" dirty="0" smtClean="0"/>
              <a:t>информационная структура для передачи и последовательной обработки данных между физическими устройствами и программной средой компьютера.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78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ОБРАБОТКА  ЗАПРОСОВ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IRP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739780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C:\Users\Virger\Pictures\chain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43433"/>
            <a:ext cx="3484380" cy="602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883304" y="1052736"/>
            <a:ext cx="5046384" cy="5144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tabLst>
                <a:tab pos="4125913" algn="l"/>
                <a:tab pos="4754563" algn="l"/>
              </a:tabLst>
            </a:pPr>
            <a:r>
              <a:rPr lang="ru-RU" dirty="0" smtClean="0"/>
              <a:t>Пример обработки </a:t>
            </a:r>
            <a:r>
              <a:rPr lang="en-US" dirty="0" smtClean="0"/>
              <a:t>IRP-</a:t>
            </a:r>
            <a:r>
              <a:rPr lang="ru-RU" dirty="0" smtClean="0"/>
              <a:t>запроса </a:t>
            </a:r>
            <a:r>
              <a:rPr lang="en-US" dirty="0" smtClean="0"/>
              <a:t>USB-</a:t>
            </a:r>
            <a:r>
              <a:rPr lang="ru-RU" dirty="0" smtClean="0"/>
              <a:t>устройством:</a:t>
            </a:r>
          </a:p>
          <a:p>
            <a:pPr algn="just">
              <a:lnSpc>
                <a:spcPct val="114000"/>
              </a:lnSpc>
              <a:tabLst>
                <a:tab pos="4125913" algn="l"/>
                <a:tab pos="4754563" algn="l"/>
              </a:tabLst>
            </a:pPr>
            <a:endParaRPr lang="ru-RU" dirty="0" smtClean="0"/>
          </a:p>
          <a:p>
            <a:pPr marL="536575" indent="-444500" algn="just">
              <a:lnSpc>
                <a:spcPct val="114000"/>
              </a:lnSpc>
              <a:buAutoNum type="arabicPeriod"/>
              <a:tabLst>
                <a:tab pos="4125913" algn="l"/>
                <a:tab pos="4754563" algn="l"/>
              </a:tabLst>
            </a:pPr>
            <a:r>
              <a:rPr lang="en-US" dirty="0" smtClean="0"/>
              <a:t>IRP</a:t>
            </a:r>
            <a:r>
              <a:rPr lang="ru-RU" dirty="0" smtClean="0"/>
              <a:t>-запрос формируется функциональным драйвером (</a:t>
            </a:r>
            <a:r>
              <a:rPr lang="en-US" dirty="0" smtClean="0"/>
              <a:t>Disk.sys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smtClean="0"/>
              <a:t>устройства</a:t>
            </a:r>
            <a:endParaRPr lang="en-US" dirty="0" smtClean="0"/>
          </a:p>
          <a:p>
            <a:pPr marL="536575" indent="-444500" algn="just">
              <a:lnSpc>
                <a:spcPct val="114000"/>
              </a:lnSpc>
              <a:buAutoNum type="arabicPeriod"/>
              <a:tabLst>
                <a:tab pos="4125913" algn="l"/>
                <a:tab pos="4754563" algn="l"/>
              </a:tabLst>
            </a:pPr>
            <a:endParaRPr lang="en-US" dirty="0" smtClean="0"/>
          </a:p>
          <a:p>
            <a:pPr marL="536575" indent="-444500" algn="just">
              <a:lnSpc>
                <a:spcPct val="114000"/>
              </a:lnSpc>
              <a:buAutoNum type="arabicPeriod"/>
              <a:tabLst>
                <a:tab pos="4125913" algn="l"/>
                <a:tab pos="4754563" algn="l"/>
              </a:tabLst>
            </a:pPr>
            <a:r>
              <a:rPr lang="en-US" dirty="0" smtClean="0"/>
              <a:t>IRP</a:t>
            </a:r>
            <a:r>
              <a:rPr lang="en-US" dirty="0"/>
              <a:t> </a:t>
            </a:r>
            <a:r>
              <a:rPr lang="ru-RU" dirty="0" smtClean="0"/>
              <a:t>передается </a:t>
            </a:r>
            <a:r>
              <a:rPr lang="en-US" dirty="0" smtClean="0"/>
              <a:t>Usbstor.sys </a:t>
            </a:r>
            <a:r>
              <a:rPr lang="ru-RU" dirty="0" smtClean="0"/>
              <a:t>и одновременно обрабатывается </a:t>
            </a:r>
            <a:r>
              <a:rPr lang="en-US" dirty="0" smtClean="0"/>
              <a:t>PDO </a:t>
            </a:r>
            <a:r>
              <a:rPr lang="ru-RU" dirty="0" smtClean="0"/>
              <a:t>устройства и </a:t>
            </a:r>
            <a:r>
              <a:rPr lang="en-US" dirty="0" smtClean="0"/>
              <a:t>FDO</a:t>
            </a:r>
            <a:r>
              <a:rPr lang="ru-RU" dirty="0" smtClean="0"/>
              <a:t> шины.</a:t>
            </a:r>
            <a:endParaRPr lang="en-US" dirty="0" smtClean="0"/>
          </a:p>
          <a:p>
            <a:pPr marL="536575" indent="-444500" algn="just">
              <a:lnSpc>
                <a:spcPct val="114000"/>
              </a:lnSpc>
              <a:buAutoNum type="arabicPeriod"/>
              <a:tabLst>
                <a:tab pos="4125913" algn="l"/>
                <a:tab pos="4754563" algn="l"/>
              </a:tabLst>
            </a:pPr>
            <a:endParaRPr lang="ru-RU" dirty="0" smtClean="0"/>
          </a:p>
          <a:p>
            <a:pPr marL="536575" indent="-444500" algn="just">
              <a:lnSpc>
                <a:spcPct val="114000"/>
              </a:lnSpc>
              <a:buFontTx/>
              <a:buAutoNum type="arabicPeriod"/>
              <a:tabLst>
                <a:tab pos="4125913" algn="l"/>
                <a:tab pos="4754563" algn="l"/>
              </a:tabLst>
            </a:pPr>
            <a:r>
              <a:rPr lang="en-US" dirty="0"/>
              <a:t>IRP </a:t>
            </a:r>
            <a:r>
              <a:rPr lang="ru-RU" dirty="0" smtClean="0"/>
              <a:t>передается</a:t>
            </a:r>
            <a:r>
              <a:rPr lang="en-US" dirty="0" smtClean="0"/>
              <a:t> </a:t>
            </a:r>
            <a:r>
              <a:rPr lang="ru-RU" dirty="0" smtClean="0"/>
              <a:t>драйверу концентратора (</a:t>
            </a:r>
            <a:r>
              <a:rPr lang="en-US" dirty="0" smtClean="0"/>
              <a:t>Usbhub.sys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/>
              <a:t>и одновременно обрабатывается </a:t>
            </a:r>
            <a:r>
              <a:rPr lang="en-US" dirty="0"/>
              <a:t>PDO </a:t>
            </a:r>
            <a:r>
              <a:rPr lang="ru-RU" dirty="0"/>
              <a:t>устройства и </a:t>
            </a:r>
            <a:r>
              <a:rPr lang="en-US" dirty="0"/>
              <a:t>FDO</a:t>
            </a:r>
            <a:r>
              <a:rPr lang="ru-RU" dirty="0"/>
              <a:t> шины</a:t>
            </a:r>
            <a:r>
              <a:rPr lang="ru-RU" dirty="0" smtClean="0"/>
              <a:t>.</a:t>
            </a:r>
            <a:endParaRPr lang="en-US" dirty="0" smtClean="0"/>
          </a:p>
          <a:p>
            <a:pPr marL="536575" indent="-444500" algn="just">
              <a:lnSpc>
                <a:spcPct val="114000"/>
              </a:lnSpc>
              <a:buFontTx/>
              <a:buAutoNum type="arabicPeriod"/>
              <a:tabLst>
                <a:tab pos="4125913" algn="l"/>
                <a:tab pos="4754563" algn="l"/>
              </a:tabLst>
            </a:pPr>
            <a:endParaRPr lang="ru-RU" dirty="0"/>
          </a:p>
          <a:p>
            <a:pPr marL="536575" indent="-444500" algn="just">
              <a:lnSpc>
                <a:spcPct val="114000"/>
              </a:lnSpc>
              <a:buAutoNum type="arabicPeriod"/>
              <a:tabLst>
                <a:tab pos="4125913" algn="l"/>
                <a:tab pos="4754563" algn="l"/>
              </a:tabLst>
            </a:pPr>
            <a:r>
              <a:rPr lang="en-US" dirty="0" smtClean="0"/>
              <a:t>IRP </a:t>
            </a:r>
            <a:r>
              <a:rPr lang="ru-RU" dirty="0" smtClean="0"/>
              <a:t>обрабатывается драйверами хост-контроллера </a:t>
            </a:r>
            <a:r>
              <a:rPr lang="en-US" dirty="0" smtClean="0"/>
              <a:t>USB</a:t>
            </a:r>
            <a:r>
              <a:rPr lang="ru-RU" dirty="0" smtClean="0"/>
              <a:t> (</a:t>
            </a:r>
            <a:r>
              <a:rPr lang="en-US" dirty="0" smtClean="0"/>
              <a:t>Usbuhci.sys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619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ЭКВИВАЛЕНТНОЕ  ИЗОБРАЖЕНИЕ  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739780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:\Users\Virger\Pictures\driverstack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84784"/>
            <a:ext cx="3055197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Virger\Pictures\chain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47046"/>
            <a:ext cx="3484380" cy="602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1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СТРУКТУРА 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ОБЪЕКТА  УСТРОЙСТВА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1246385" y="980728"/>
            <a:ext cx="735806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i="1" dirty="0" smtClean="0">
                <a:latin typeface="Courier New" pitchFamily="49" charset="0"/>
                <a:cs typeface="Courier New" pitchFamily="49" charset="0"/>
              </a:rPr>
              <a:t>DRIVER_OBJECT</a:t>
            </a:r>
            <a:endParaRPr lang="ru-RU" b="1" i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{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CSHORT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Type;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CSHORT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Size;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PDEVICE_OBJECT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DeviceObject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ULONG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Flags;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PVOID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DriverStart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ULONG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DriverSize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PVOID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DriverSection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PDRIVER_EXTENSION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DriverExtension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UNICODE_STRING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DriverName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PUNICODE_STRING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HardwareDatabase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PFAST_IO_DISPATCH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FastIoDispatch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PDRIVER_INITIALIZE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DriverInit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PDRIVER_STARTIO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DriverStartIo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PDRIVER_UNLOAD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DriverUnload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i="1" dirty="0" smtClean="0">
              <a:latin typeface="Courier New" pitchFamily="49" charset="0"/>
              <a:cs typeface="Courier New" pitchFamily="49" charset="0"/>
            </a:endParaRPr>
          </a:p>
          <a:p>
            <a:pPr marL="446088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PDRIVER_DISPATCH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MajorFunction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[IRP_MJ_MAXIMUM_FUNCTION + 1]; </a:t>
            </a:r>
            <a:endParaRPr lang="ru-RU" b="1" i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} ;</a:t>
            </a:r>
            <a:endParaRPr lang="ru-RU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115567" y="908720"/>
            <a:ext cx="7128842" cy="554461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82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ТАБЛИЦА  ВЕКТОРОВ  ОБЪЕКТА  УСТРОЙСТВА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46" y="922362"/>
            <a:ext cx="7467600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022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971550" y="26064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PORT-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MINIPORT-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ДРАЙВЕРЫ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739780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C:\Users\Virger\Pictures\driverstack02 (1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04143"/>
            <a:ext cx="2370614" cy="301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Virger\Pictures\technologystack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004" y="2959966"/>
            <a:ext cx="4324018" cy="270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Прямая соединительная линия 2"/>
          <p:cNvCxnSpPr>
            <a:stCxn id="7170" idx="3"/>
          </p:cNvCxnSpPr>
          <p:nvPr/>
        </p:nvCxnSpPr>
        <p:spPr>
          <a:xfrm flipV="1">
            <a:off x="2910166" y="3004143"/>
            <a:ext cx="1501144" cy="1508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2910166" y="5662000"/>
            <a:ext cx="1501144" cy="314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58776" y="764704"/>
            <a:ext cx="8527579" cy="1671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tabLst>
                <a:tab pos="4125913" algn="l"/>
                <a:tab pos="4754563" algn="l"/>
              </a:tabLst>
            </a:pPr>
            <a:r>
              <a:rPr lang="en-US" b="1" dirty="0" smtClean="0"/>
              <a:t>Port-</a:t>
            </a:r>
            <a:r>
              <a:rPr lang="ru-RU" b="1" dirty="0" smtClean="0"/>
              <a:t>драйвер </a:t>
            </a:r>
            <a:r>
              <a:rPr lang="ru-RU" dirty="0" smtClean="0"/>
              <a:t>– разновидность драйвера, реализующая абстрактный интерфейс для работы с физическим устройством (напр. </a:t>
            </a:r>
            <a:r>
              <a:rPr lang="en-US" dirty="0" smtClean="0"/>
              <a:t>Usbport.sys </a:t>
            </a:r>
            <a:r>
              <a:rPr lang="ru-RU" dirty="0" smtClean="0"/>
              <a:t>для шины </a:t>
            </a:r>
            <a:r>
              <a:rPr lang="en-US" dirty="0" smtClean="0"/>
              <a:t>USB</a:t>
            </a:r>
            <a:r>
              <a:rPr lang="ru-RU" dirty="0" smtClean="0"/>
              <a:t>)</a:t>
            </a:r>
          </a:p>
          <a:p>
            <a:pPr algn="just">
              <a:lnSpc>
                <a:spcPct val="114000"/>
              </a:lnSpc>
              <a:tabLst>
                <a:tab pos="4125913" algn="l"/>
                <a:tab pos="4754563" algn="l"/>
              </a:tabLst>
            </a:pPr>
            <a:r>
              <a:rPr lang="en-US" b="1" dirty="0" smtClean="0"/>
              <a:t>Miniport-</a:t>
            </a:r>
            <a:r>
              <a:rPr lang="ru-RU" b="1" dirty="0" smtClean="0"/>
              <a:t>драйвер </a:t>
            </a:r>
            <a:r>
              <a:rPr lang="ru-RU" dirty="0" smtClean="0"/>
              <a:t>– драйвер, использующийся как дополнение к </a:t>
            </a:r>
            <a:r>
              <a:rPr lang="en-US" dirty="0" smtClean="0"/>
              <a:t>port-</a:t>
            </a:r>
            <a:r>
              <a:rPr lang="ru-RU" dirty="0" smtClean="0"/>
              <a:t>драйверу и реализующий уточненный интерфейс для работы с устройством </a:t>
            </a:r>
            <a:r>
              <a:rPr lang="ru-RU" dirty="0"/>
              <a:t>(напр. </a:t>
            </a:r>
            <a:r>
              <a:rPr lang="en-US" dirty="0" smtClean="0"/>
              <a:t>Usbuhci.sys </a:t>
            </a:r>
            <a:r>
              <a:rPr lang="ru-RU" dirty="0" smtClean="0"/>
              <a:t>для </a:t>
            </a:r>
            <a:r>
              <a:rPr lang="en-US" dirty="0" smtClean="0"/>
              <a:t>USB</a:t>
            </a:r>
            <a:r>
              <a:rPr lang="ru-RU" dirty="0" smtClean="0"/>
              <a:t> 2.0)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04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02369" y="2996952"/>
            <a:ext cx="7358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4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СПАСИБО  ЗА  ВНИМАНИЕ</a:t>
            </a:r>
            <a:endParaRPr lang="ru-RU" sz="24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48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</TotalTime>
  <Words>917</Words>
  <Application>Microsoft Office PowerPoint</Application>
  <PresentationFormat>Экран (4:3)</PresentationFormat>
  <Paragraphs>132</Paragraphs>
  <Slides>18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Virger</dc:creator>
  <cp:lastModifiedBy>Virger</cp:lastModifiedBy>
  <cp:revision>268</cp:revision>
  <dcterms:created xsi:type="dcterms:W3CDTF">2018-02-26T09:45:28Z</dcterms:created>
  <dcterms:modified xsi:type="dcterms:W3CDTF">2018-11-11T16:49:27Z</dcterms:modified>
</cp:coreProperties>
</file>